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720072" y="-457200"/>
            <a:ext cx="2377440" cy="2377440"/>
          </a:xfrm>
          <a:prstGeom prst="ellipse">
            <a:avLst/>
          </a:prstGeom>
          <a:ln w="25400">
            <a:solidFill>
              <a:srgbClr val="F2A93B">
                <a:alpha val="70000"/>
              </a:srgbClr>
            </a:solidFill>
            <a:prstDash val="solid"/>
          </a:ln>
        </p:spPr>
      </p:sp>
      <p:sp>
        <p:nvSpPr>
          <p:cNvPr id="3" name="Shape 1"/>
          <p:cNvSpPr/>
          <p:nvPr/>
        </p:nvSpPr>
        <p:spPr>
          <a:xfrm>
            <a:off x="10040112" y="-137160"/>
            <a:ext cx="1737360" cy="1737360"/>
          </a:xfrm>
          <a:prstGeom prst="ellipse">
            <a:avLst/>
          </a:prstGeom>
          <a:ln w="25400">
            <a:solidFill>
              <a:srgbClr val="F2A93B">
                <a:alpha val="55000"/>
              </a:srgbClr>
            </a:solidFill>
            <a:prstDash val="solid"/>
          </a:ln>
        </p:spPr>
      </p:sp>
      <p:sp>
        <p:nvSpPr>
          <p:cNvPr id="4" name="Shape 2"/>
          <p:cNvSpPr/>
          <p:nvPr/>
        </p:nvSpPr>
        <p:spPr>
          <a:xfrm>
            <a:off x="10360152" y="182880"/>
            <a:ext cx="1097280" cy="1097280"/>
          </a:xfrm>
          <a:prstGeom prst="ellipse">
            <a:avLst/>
          </a:prstGeom>
          <a:ln w="25400">
            <a:solidFill>
              <a:srgbClr val="F2A93B">
                <a:alpha val="40000"/>
              </a:srgbClr>
            </a:solidFill>
            <a:prstDash val="solid"/>
          </a:ln>
        </p:spPr>
      </p:sp>
      <p:sp>
        <p:nvSpPr>
          <p:cNvPr id="5" name="Text 3"/>
          <p:cNvSpPr txBox="1"/>
          <p:nvPr/>
        </p:nvSpPr>
        <p:spPr>
          <a:xfrm>
            <a:off x="822960" y="228600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Yu Gothic" pitchFamily="34" charset="0"/>
                <a:ea typeface="Yu Gothic" pitchFamily="34" charset="-122"/>
                <a:cs typeface="Yu Gothic" pitchFamily="34" charset="-120"/>
              </a:rPr>
              <a:t>放射性粉じん防護服</a:t>
            </a:r>
            <a:endParaRPr lang="en-US" sz="4000" dirty="0"/>
          </a:p>
        </p:txBody>
      </p:sp>
      <p:sp>
        <p:nvSpPr>
          <p:cNvPr id="6" name="Text 4"/>
          <p:cNvSpPr txBox="1"/>
          <p:nvPr/>
        </p:nvSpPr>
        <p:spPr>
          <a:xfrm>
            <a:off x="822960" y="3017520"/>
            <a:ext cx="9601200" cy="822960"/>
          </a:xfrm>
          <a:prstGeom prst="rect">
            <a:avLst/>
          </a:prstGeom>
          <a:noFill/>
          <a:ln/>
        </p:spPr>
        <p:txBody>
          <a:bodyPr wrap="square" lIns="0" tIns="0" rIns="0" bIns="0" rtlCol="0" anchor="ctr"/>
          <a:lstStyle/>
          <a:p>
            <a:pPr indent="0" marL="0">
              <a:buNone/>
            </a:pPr>
            <a:r>
              <a:rPr lang="en-US" sz="4000" b="1" dirty="0">
                <a:solidFill>
                  <a:srgbClr val="F2A93B"/>
                </a:solidFill>
                <a:latin typeface="Yu Gothic" pitchFamily="34" charset="0"/>
                <a:ea typeface="Yu Gothic" pitchFamily="34" charset="-122"/>
                <a:cs typeface="Yu Gothic" pitchFamily="34" charset="-120"/>
              </a:rPr>
              <a:t>正しい装着と脱衣の手順</a:t>
            </a:r>
            <a:endParaRPr lang="en-US" sz="4000" dirty="0"/>
          </a:p>
        </p:txBody>
      </p:sp>
      <p:sp>
        <p:nvSpPr>
          <p:cNvPr id="7" name="Text 5"/>
          <p:cNvSpPr txBox="1"/>
          <p:nvPr/>
        </p:nvSpPr>
        <p:spPr>
          <a:xfrm>
            <a:off x="822960" y="3977640"/>
            <a:ext cx="8229600" cy="457200"/>
          </a:xfrm>
          <a:prstGeom prst="rect">
            <a:avLst/>
          </a:prstGeom>
          <a:noFill/>
          <a:ln/>
        </p:spPr>
        <p:txBody>
          <a:bodyPr wrap="square" lIns="0" tIns="0" rIns="0" bIns="0" rtlCol="0" anchor="ctr"/>
          <a:lstStyle/>
          <a:p>
            <a:pPr indent="0" marL="0">
              <a:buNone/>
            </a:pPr>
            <a:r>
              <a:rPr lang="en-US" sz="1600" dirty="0">
                <a:solidFill>
                  <a:srgbClr val="EAF0F9"/>
                </a:solidFill>
                <a:latin typeface="Yu Gothic" pitchFamily="34" charset="0"/>
                <a:ea typeface="Yu Gothic" pitchFamily="34" charset="-122"/>
                <a:cs typeface="Yu Gothic" pitchFamily="34" charset="-120"/>
              </a:rPr>
              <a:t>汚染・被ばくを防ぐための装着・脱衣ガイド</a:t>
            </a:r>
            <a:endParaRPr lang="en-US" sz="1600" dirty="0"/>
          </a:p>
        </p:txBody>
      </p:sp>
      <p:sp>
        <p:nvSpPr>
          <p:cNvPr id="8" name="Text 6"/>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 / 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1B2A4A"/>
                </a:solidFill>
                <a:latin typeface="Yu Gothic" pitchFamily="34" charset="0"/>
                <a:ea typeface="Yu Gothic" pitchFamily="34" charset="-122"/>
                <a:cs typeface="Yu Gothic" pitchFamily="34" charset="-120"/>
              </a:rPr>
              <a:t>このムービーの目的</a:t>
            </a:r>
            <a:endParaRPr lang="en-US" sz="3200" dirty="0"/>
          </a:p>
        </p:txBody>
      </p:sp>
      <p:sp>
        <p:nvSpPr>
          <p:cNvPr id="3" name="Shape 1"/>
          <p:cNvSpPr/>
          <p:nvPr/>
        </p:nvSpPr>
        <p:spPr>
          <a:xfrm>
            <a:off x="640080" y="1737360"/>
            <a:ext cx="3520440" cy="3931920"/>
          </a:xfrm>
          <a:prstGeom prst="roundRect">
            <a:avLst>
              <a:gd name="adj" fmla="val 2597"/>
            </a:avLst>
          </a:prstGeom>
          <a:solidFill>
            <a:srgbClr val="EAF0F9"/>
          </a:solidFill>
          <a:ln/>
        </p:spPr>
      </p:sp>
      <p:sp>
        <p:nvSpPr>
          <p:cNvPr id="4" name="Shape 2"/>
          <p:cNvSpPr/>
          <p:nvPr/>
        </p:nvSpPr>
        <p:spPr>
          <a:xfrm>
            <a:off x="2034540" y="2103120"/>
            <a:ext cx="731520" cy="731520"/>
          </a:xfrm>
          <a:prstGeom prst="ellipse">
            <a:avLst/>
          </a:prstGeom>
          <a:solidFill>
            <a:srgbClr val="F2A93B"/>
          </a:solidFill>
          <a:ln/>
        </p:spPr>
      </p:sp>
      <p:sp>
        <p:nvSpPr>
          <p:cNvPr id="5" name="Text 3"/>
          <p:cNvSpPr txBox="1"/>
          <p:nvPr/>
        </p:nvSpPr>
        <p:spPr>
          <a:xfrm>
            <a:off x="2034540" y="2103120"/>
            <a:ext cx="731520" cy="731520"/>
          </a:xfrm>
          <a:prstGeom prst="rect">
            <a:avLst/>
          </a:prstGeom>
          <a:noFill/>
          <a:ln/>
        </p:spPr>
        <p:txBody>
          <a:bodyPr wrap="square" lIns="0" tIns="0" rIns="0" bIns="0" rtlCol="0" anchor="ctr"/>
          <a:lstStyle/>
          <a:p>
            <a:pPr algn="ctr" indent="0" marL="0">
              <a:buNone/>
            </a:pPr>
            <a:r>
              <a:rPr lang="en-US" sz="2600" b="1" dirty="0">
                <a:solidFill>
                  <a:srgbClr val="1B2A4A"/>
                </a:solidFill>
                <a:latin typeface="Yu Gothic" pitchFamily="34" charset="0"/>
                <a:ea typeface="Yu Gothic" pitchFamily="34" charset="-122"/>
                <a:cs typeface="Yu Gothic" pitchFamily="34" charset="-120"/>
              </a:rPr>
              <a:t>1</a:t>
            </a:r>
            <a:endParaRPr lang="en-US" sz="2600" dirty="0"/>
          </a:p>
        </p:txBody>
      </p:sp>
      <p:sp>
        <p:nvSpPr>
          <p:cNvPr id="6" name="Text 4"/>
          <p:cNvSpPr txBox="1"/>
          <p:nvPr/>
        </p:nvSpPr>
        <p:spPr>
          <a:xfrm>
            <a:off x="868680" y="3063240"/>
            <a:ext cx="3063240" cy="457200"/>
          </a:xfrm>
          <a:prstGeom prst="rect">
            <a:avLst/>
          </a:prstGeom>
          <a:noFill/>
          <a:ln/>
        </p:spPr>
        <p:txBody>
          <a:bodyPr wrap="square" lIns="0" tIns="0" rIns="0" bIns="0" rtlCol="0" anchor="ctr"/>
          <a:lstStyle/>
          <a:p>
            <a:pPr algn="ctr" indent="0" marL="0">
              <a:buNone/>
            </a:pPr>
            <a:r>
              <a:rPr lang="en-US" sz="1700" b="1" dirty="0">
                <a:solidFill>
                  <a:srgbClr val="1B2A4A"/>
                </a:solidFill>
                <a:latin typeface="Yu Gothic" pitchFamily="34" charset="0"/>
                <a:ea typeface="Yu Gothic" pitchFamily="34" charset="-122"/>
                <a:cs typeface="Yu Gothic" pitchFamily="34" charset="-120"/>
              </a:rPr>
              <a:t>曝露のリスク</a:t>
            </a:r>
            <a:endParaRPr lang="en-US" sz="1700" dirty="0"/>
          </a:p>
        </p:txBody>
      </p:sp>
      <p:sp>
        <p:nvSpPr>
          <p:cNvPr id="7" name="Text 5"/>
          <p:cNvSpPr txBox="1"/>
          <p:nvPr/>
        </p:nvSpPr>
        <p:spPr>
          <a:xfrm>
            <a:off x="914400" y="3566160"/>
            <a:ext cx="2971800" cy="1920240"/>
          </a:xfrm>
          <a:prstGeom prst="rect">
            <a:avLst/>
          </a:prstGeom>
          <a:noFill/>
          <a:ln/>
        </p:spPr>
        <p:txBody>
          <a:bodyPr wrap="square" lIns="0" tIns="0" rIns="0" bIns="0" rtlCol="0" anchor="t"/>
          <a:lstStyle/>
          <a:p>
            <a:pPr algn="l" indent="0" marL="0">
              <a:lnSpc>
                <a:spcPct val="125000"/>
              </a:lnSpc>
              <a:buNone/>
            </a:pPr>
            <a:r>
              <a:rPr lang="en-US" sz="1300" dirty="0">
                <a:solidFill>
                  <a:srgbClr val="23324A"/>
                </a:solidFill>
                <a:latin typeface="Yu Gothic" pitchFamily="34" charset="0"/>
                <a:ea typeface="Yu Gothic" pitchFamily="34" charset="-122"/>
                <a:cs typeface="Yu Gothic" pitchFamily="34" charset="-120"/>
              </a:rPr>
              <a:t>放射性粉じんに曝露する可能性がある場合、作業者を守るには防護服の装着が不可欠です。</a:t>
            </a:r>
            <a:endParaRPr lang="en-US" sz="1300" dirty="0"/>
          </a:p>
        </p:txBody>
      </p:sp>
      <p:sp>
        <p:nvSpPr>
          <p:cNvPr id="8" name="Shape 6"/>
          <p:cNvSpPr/>
          <p:nvPr/>
        </p:nvSpPr>
        <p:spPr>
          <a:xfrm>
            <a:off x="4389120" y="1737360"/>
            <a:ext cx="3520440" cy="3931920"/>
          </a:xfrm>
          <a:prstGeom prst="roundRect">
            <a:avLst>
              <a:gd name="adj" fmla="val 2597"/>
            </a:avLst>
          </a:prstGeom>
          <a:solidFill>
            <a:srgbClr val="EAF0F9"/>
          </a:solidFill>
          <a:ln/>
        </p:spPr>
      </p:sp>
      <p:sp>
        <p:nvSpPr>
          <p:cNvPr id="9" name="Shape 7"/>
          <p:cNvSpPr/>
          <p:nvPr/>
        </p:nvSpPr>
        <p:spPr>
          <a:xfrm>
            <a:off x="5783580" y="2103120"/>
            <a:ext cx="731520" cy="731520"/>
          </a:xfrm>
          <a:prstGeom prst="ellipse">
            <a:avLst/>
          </a:prstGeom>
          <a:solidFill>
            <a:srgbClr val="F2A93B"/>
          </a:solidFill>
          <a:ln/>
        </p:spPr>
      </p:sp>
      <p:sp>
        <p:nvSpPr>
          <p:cNvPr id="10" name="Text 8"/>
          <p:cNvSpPr txBox="1"/>
          <p:nvPr/>
        </p:nvSpPr>
        <p:spPr>
          <a:xfrm>
            <a:off x="5783580" y="2103120"/>
            <a:ext cx="731520" cy="731520"/>
          </a:xfrm>
          <a:prstGeom prst="rect">
            <a:avLst/>
          </a:prstGeom>
          <a:noFill/>
          <a:ln/>
        </p:spPr>
        <p:txBody>
          <a:bodyPr wrap="square" lIns="0" tIns="0" rIns="0" bIns="0" rtlCol="0" anchor="ctr"/>
          <a:lstStyle/>
          <a:p>
            <a:pPr algn="ctr" indent="0" marL="0">
              <a:buNone/>
            </a:pPr>
            <a:r>
              <a:rPr lang="en-US" sz="2600" b="1" dirty="0">
                <a:solidFill>
                  <a:srgbClr val="1B2A4A"/>
                </a:solidFill>
                <a:latin typeface="Yu Gothic" pitchFamily="34" charset="0"/>
                <a:ea typeface="Yu Gothic" pitchFamily="34" charset="-122"/>
                <a:cs typeface="Yu Gothic" pitchFamily="34" charset="-120"/>
              </a:rPr>
              <a:t>2</a:t>
            </a:r>
            <a:endParaRPr lang="en-US" sz="2600" dirty="0"/>
          </a:p>
        </p:txBody>
      </p:sp>
      <p:sp>
        <p:nvSpPr>
          <p:cNvPr id="11" name="Text 9"/>
          <p:cNvSpPr txBox="1"/>
          <p:nvPr/>
        </p:nvSpPr>
        <p:spPr>
          <a:xfrm>
            <a:off x="4617720" y="3063240"/>
            <a:ext cx="3063240" cy="457200"/>
          </a:xfrm>
          <a:prstGeom prst="rect">
            <a:avLst/>
          </a:prstGeom>
          <a:noFill/>
          <a:ln/>
        </p:spPr>
        <p:txBody>
          <a:bodyPr wrap="square" lIns="0" tIns="0" rIns="0" bIns="0" rtlCol="0" anchor="ctr"/>
          <a:lstStyle/>
          <a:p>
            <a:pPr algn="ctr" indent="0" marL="0">
              <a:buNone/>
            </a:pPr>
            <a:r>
              <a:rPr lang="en-US" sz="1700" b="1" dirty="0">
                <a:solidFill>
                  <a:srgbClr val="1B2A4A"/>
                </a:solidFill>
                <a:latin typeface="Yu Gothic" pitchFamily="34" charset="0"/>
                <a:ea typeface="Yu Gothic" pitchFamily="34" charset="-122"/>
                <a:cs typeface="Yu Gothic" pitchFamily="34" charset="-120"/>
              </a:rPr>
              <a:t>誤った着脱のリスク</a:t>
            </a:r>
            <a:endParaRPr lang="en-US" sz="1700" dirty="0"/>
          </a:p>
        </p:txBody>
      </p:sp>
      <p:sp>
        <p:nvSpPr>
          <p:cNvPr id="12" name="Text 10"/>
          <p:cNvSpPr txBox="1"/>
          <p:nvPr/>
        </p:nvSpPr>
        <p:spPr>
          <a:xfrm>
            <a:off x="4663440" y="3566160"/>
            <a:ext cx="2971800" cy="1920240"/>
          </a:xfrm>
          <a:prstGeom prst="rect">
            <a:avLst/>
          </a:prstGeom>
          <a:noFill/>
          <a:ln/>
        </p:spPr>
        <p:txBody>
          <a:bodyPr wrap="square" lIns="0" tIns="0" rIns="0" bIns="0" rtlCol="0" anchor="t"/>
          <a:lstStyle/>
          <a:p>
            <a:pPr algn="l" indent="0" marL="0">
              <a:lnSpc>
                <a:spcPct val="125000"/>
              </a:lnSpc>
              <a:buNone/>
            </a:pPr>
            <a:r>
              <a:rPr lang="en-US" sz="1300" dirty="0">
                <a:solidFill>
                  <a:srgbClr val="23324A"/>
                </a:solidFill>
                <a:latin typeface="Yu Gothic" pitchFamily="34" charset="0"/>
                <a:ea typeface="Yu Gothic" pitchFamily="34" charset="-122"/>
                <a:cs typeface="Yu Gothic" pitchFamily="34" charset="-120"/>
              </a:rPr>
              <a:t>正しい装着・脱衣を行わないと、汚染や被ばくの原因となります。</a:t>
            </a:r>
            <a:endParaRPr lang="en-US" sz="1300" dirty="0"/>
          </a:p>
        </p:txBody>
      </p:sp>
      <p:sp>
        <p:nvSpPr>
          <p:cNvPr id="13" name="Shape 11"/>
          <p:cNvSpPr/>
          <p:nvPr/>
        </p:nvSpPr>
        <p:spPr>
          <a:xfrm>
            <a:off x="8138160" y="1737360"/>
            <a:ext cx="3520440" cy="3931920"/>
          </a:xfrm>
          <a:prstGeom prst="roundRect">
            <a:avLst>
              <a:gd name="adj" fmla="val 2597"/>
            </a:avLst>
          </a:prstGeom>
          <a:solidFill>
            <a:srgbClr val="EAF0F9"/>
          </a:solidFill>
          <a:ln/>
        </p:spPr>
      </p:sp>
      <p:sp>
        <p:nvSpPr>
          <p:cNvPr id="14" name="Shape 12"/>
          <p:cNvSpPr/>
          <p:nvPr/>
        </p:nvSpPr>
        <p:spPr>
          <a:xfrm>
            <a:off x="9532620" y="2103120"/>
            <a:ext cx="731520" cy="731520"/>
          </a:xfrm>
          <a:prstGeom prst="ellipse">
            <a:avLst/>
          </a:prstGeom>
          <a:solidFill>
            <a:srgbClr val="F2A93B"/>
          </a:solidFill>
          <a:ln/>
        </p:spPr>
      </p:sp>
      <p:sp>
        <p:nvSpPr>
          <p:cNvPr id="15" name="Text 13"/>
          <p:cNvSpPr txBox="1"/>
          <p:nvPr/>
        </p:nvSpPr>
        <p:spPr>
          <a:xfrm>
            <a:off x="9532620" y="2103120"/>
            <a:ext cx="731520" cy="731520"/>
          </a:xfrm>
          <a:prstGeom prst="rect">
            <a:avLst/>
          </a:prstGeom>
          <a:noFill/>
          <a:ln/>
        </p:spPr>
        <p:txBody>
          <a:bodyPr wrap="square" lIns="0" tIns="0" rIns="0" bIns="0" rtlCol="0" anchor="ctr"/>
          <a:lstStyle/>
          <a:p>
            <a:pPr algn="ctr" indent="0" marL="0">
              <a:buNone/>
            </a:pPr>
            <a:r>
              <a:rPr lang="en-US" sz="2600" b="1" dirty="0">
                <a:solidFill>
                  <a:srgbClr val="1B2A4A"/>
                </a:solidFill>
                <a:latin typeface="Yu Gothic" pitchFamily="34" charset="0"/>
                <a:ea typeface="Yu Gothic" pitchFamily="34" charset="-122"/>
                <a:cs typeface="Yu Gothic" pitchFamily="34" charset="-120"/>
              </a:rPr>
              <a:t>3</a:t>
            </a:r>
            <a:endParaRPr lang="en-US" sz="2600" dirty="0"/>
          </a:p>
        </p:txBody>
      </p:sp>
      <p:sp>
        <p:nvSpPr>
          <p:cNvPr id="16" name="Text 14"/>
          <p:cNvSpPr txBox="1"/>
          <p:nvPr/>
        </p:nvSpPr>
        <p:spPr>
          <a:xfrm>
            <a:off x="8366760" y="3063240"/>
            <a:ext cx="3063240" cy="457200"/>
          </a:xfrm>
          <a:prstGeom prst="rect">
            <a:avLst/>
          </a:prstGeom>
          <a:noFill/>
          <a:ln/>
        </p:spPr>
        <p:txBody>
          <a:bodyPr wrap="square" lIns="0" tIns="0" rIns="0" bIns="0" rtlCol="0" anchor="ctr"/>
          <a:lstStyle/>
          <a:p>
            <a:pPr algn="ctr" indent="0" marL="0">
              <a:buNone/>
            </a:pPr>
            <a:r>
              <a:rPr lang="en-US" sz="1700" b="1" dirty="0">
                <a:solidFill>
                  <a:srgbClr val="1B2A4A"/>
                </a:solidFill>
                <a:latin typeface="Yu Gothic" pitchFamily="34" charset="0"/>
                <a:ea typeface="Yu Gothic" pitchFamily="34" charset="-122"/>
                <a:cs typeface="Yu Gothic" pitchFamily="34" charset="-120"/>
              </a:rPr>
              <a:t>本ムービーの内容</a:t>
            </a:r>
            <a:endParaRPr lang="en-US" sz="1700" dirty="0"/>
          </a:p>
        </p:txBody>
      </p:sp>
      <p:sp>
        <p:nvSpPr>
          <p:cNvPr id="17" name="Text 15"/>
          <p:cNvSpPr txBox="1"/>
          <p:nvPr/>
        </p:nvSpPr>
        <p:spPr>
          <a:xfrm>
            <a:off x="8412480" y="3566160"/>
            <a:ext cx="2971800" cy="1920240"/>
          </a:xfrm>
          <a:prstGeom prst="rect">
            <a:avLst/>
          </a:prstGeom>
          <a:noFill/>
          <a:ln/>
        </p:spPr>
        <p:txBody>
          <a:bodyPr wrap="square" lIns="0" tIns="0" rIns="0" bIns="0" rtlCol="0" anchor="t"/>
          <a:lstStyle/>
          <a:p>
            <a:pPr algn="l" indent="0" marL="0">
              <a:lnSpc>
                <a:spcPct val="125000"/>
              </a:lnSpc>
              <a:buNone/>
            </a:pPr>
            <a:r>
              <a:rPr lang="en-US" sz="1300" dirty="0">
                <a:solidFill>
                  <a:srgbClr val="23324A"/>
                </a:solidFill>
                <a:latin typeface="Yu Gothic" pitchFamily="34" charset="0"/>
                <a:ea typeface="Yu Gothic" pitchFamily="34" charset="-122"/>
                <a:cs typeface="Yu Gothic" pitchFamily="34" charset="-120"/>
              </a:rPr>
              <a:t>放射線粉じん防護を想定し、防護服の正しい装着と脱衣についてご説明します。</a:t>
            </a:r>
            <a:endParaRPr lang="en-US" sz="1300" dirty="0"/>
          </a:p>
        </p:txBody>
      </p:sp>
      <p:sp>
        <p:nvSpPr>
          <p:cNvPr id="18" name="Text 16"/>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 / 25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822960" y="640080"/>
            <a:ext cx="731520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装着の手順</a:t>
            </a:r>
            <a:endParaRPr lang="en-US" sz="3800" dirty="0"/>
          </a:p>
        </p:txBody>
      </p:sp>
      <p:sp>
        <p:nvSpPr>
          <p:cNvPr id="3" name="Text 1"/>
          <p:cNvSpPr txBox="1"/>
          <p:nvPr/>
        </p:nvSpPr>
        <p:spPr>
          <a:xfrm>
            <a:off x="822960" y="1371600"/>
            <a:ext cx="7315200" cy="457200"/>
          </a:xfrm>
          <a:prstGeom prst="rect">
            <a:avLst/>
          </a:prstGeom>
          <a:noFill/>
          <a:ln/>
        </p:spPr>
        <p:txBody>
          <a:bodyPr wrap="square" lIns="0" tIns="0" rIns="0" bIns="0" rtlCol="0" anchor="ctr"/>
          <a:lstStyle/>
          <a:p>
            <a:pPr indent="0" marL="0">
              <a:buNone/>
            </a:pPr>
            <a:r>
              <a:rPr lang="en-US" sz="1600" dirty="0">
                <a:solidFill>
                  <a:srgbClr val="F2A93B"/>
                </a:solidFill>
                <a:latin typeface="Yu Gothic" pitchFamily="34" charset="0"/>
                <a:ea typeface="Yu Gothic" pitchFamily="34" charset="-122"/>
                <a:cs typeface="Yu Gothic" pitchFamily="34" charset="-120"/>
              </a:rPr>
              <a:t>全 8 ステップ</a:t>
            </a:r>
            <a:endParaRPr lang="en-US" sz="1600" dirty="0"/>
          </a:p>
        </p:txBody>
      </p:sp>
      <p:sp>
        <p:nvSpPr>
          <p:cNvPr id="4" name="Shape 2"/>
          <p:cNvSpPr/>
          <p:nvPr/>
        </p:nvSpPr>
        <p:spPr>
          <a:xfrm>
            <a:off x="822960" y="2103120"/>
            <a:ext cx="2491740" cy="658368"/>
          </a:xfrm>
          <a:prstGeom prst="roundRect">
            <a:avLst>
              <a:gd name="adj" fmla="val 9722"/>
            </a:avLst>
          </a:prstGeom>
          <a:solidFill>
            <a:srgbClr val="24365E"/>
          </a:solidFill>
          <a:ln/>
        </p:spPr>
      </p:sp>
      <p:sp>
        <p:nvSpPr>
          <p:cNvPr id="5" name="Text 3"/>
          <p:cNvSpPr txBox="1"/>
          <p:nvPr/>
        </p:nvSpPr>
        <p:spPr>
          <a:xfrm>
            <a:off x="932688" y="2103120"/>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1. </a:t>
            </a:r>
            <a:pPr indent="0" marL="0">
              <a:buNone/>
            </a:pPr>
            <a:r>
              <a:rPr lang="en-US" sz="1200" dirty="0">
                <a:solidFill>
                  <a:srgbClr val="FFFFFF"/>
                </a:solidFill>
                <a:latin typeface="Yu Gothic" pitchFamily="34" charset="0"/>
                <a:ea typeface="Yu Gothic" pitchFamily="34" charset="-122"/>
                <a:cs typeface="Yu Gothic" pitchFamily="34" charset="-120"/>
              </a:rPr>
              <a:t>準備</a:t>
            </a:r>
            <a:endParaRPr lang="en-US" sz="1200" dirty="0"/>
          </a:p>
        </p:txBody>
      </p:sp>
      <p:sp>
        <p:nvSpPr>
          <p:cNvPr id="6" name="Shape 4"/>
          <p:cNvSpPr/>
          <p:nvPr/>
        </p:nvSpPr>
        <p:spPr>
          <a:xfrm>
            <a:off x="3497580" y="2103120"/>
            <a:ext cx="2491740" cy="658368"/>
          </a:xfrm>
          <a:prstGeom prst="roundRect">
            <a:avLst>
              <a:gd name="adj" fmla="val 9722"/>
            </a:avLst>
          </a:prstGeom>
          <a:solidFill>
            <a:srgbClr val="24365E"/>
          </a:solidFill>
          <a:ln/>
        </p:spPr>
      </p:sp>
      <p:sp>
        <p:nvSpPr>
          <p:cNvPr id="7" name="Text 5"/>
          <p:cNvSpPr txBox="1"/>
          <p:nvPr/>
        </p:nvSpPr>
        <p:spPr>
          <a:xfrm>
            <a:off x="3607308" y="2103120"/>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2. </a:t>
            </a:r>
            <a:pPr indent="0" marL="0">
              <a:buNone/>
            </a:pPr>
            <a:r>
              <a:rPr lang="en-US" sz="1200" dirty="0">
                <a:solidFill>
                  <a:srgbClr val="FFFFFF"/>
                </a:solidFill>
                <a:latin typeface="Yu Gothic" pitchFamily="34" charset="0"/>
                <a:ea typeface="Yu Gothic" pitchFamily="34" charset="-122"/>
                <a:cs typeface="Yu Gothic" pitchFamily="34" charset="-120"/>
              </a:rPr>
              <a:t>足元の準備</a:t>
            </a:r>
            <a:endParaRPr lang="en-US" sz="1200" dirty="0"/>
          </a:p>
        </p:txBody>
      </p:sp>
      <p:sp>
        <p:nvSpPr>
          <p:cNvPr id="8" name="Shape 6"/>
          <p:cNvSpPr/>
          <p:nvPr/>
        </p:nvSpPr>
        <p:spPr>
          <a:xfrm>
            <a:off x="6172200" y="2103120"/>
            <a:ext cx="2491740" cy="658368"/>
          </a:xfrm>
          <a:prstGeom prst="roundRect">
            <a:avLst>
              <a:gd name="adj" fmla="val 9722"/>
            </a:avLst>
          </a:prstGeom>
          <a:solidFill>
            <a:srgbClr val="24365E"/>
          </a:solidFill>
          <a:ln/>
        </p:spPr>
      </p:sp>
      <p:sp>
        <p:nvSpPr>
          <p:cNvPr id="9" name="Text 7"/>
          <p:cNvSpPr txBox="1"/>
          <p:nvPr/>
        </p:nvSpPr>
        <p:spPr>
          <a:xfrm>
            <a:off x="6281928" y="2103120"/>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3. </a:t>
            </a:r>
            <a:pPr indent="0" marL="0">
              <a:buNone/>
            </a:pPr>
            <a:r>
              <a:rPr lang="en-US" sz="1200" dirty="0">
                <a:solidFill>
                  <a:srgbClr val="FFFFFF"/>
                </a:solidFill>
                <a:latin typeface="Yu Gothic" pitchFamily="34" charset="0"/>
                <a:ea typeface="Yu Gothic" pitchFamily="34" charset="-122"/>
                <a:cs typeface="Yu Gothic" pitchFamily="34" charset="-120"/>
              </a:rPr>
              <a:t>線量計の装着</a:t>
            </a:r>
            <a:endParaRPr lang="en-US" sz="1200" dirty="0"/>
          </a:p>
        </p:txBody>
      </p:sp>
      <p:sp>
        <p:nvSpPr>
          <p:cNvPr id="10" name="Shape 8"/>
          <p:cNvSpPr/>
          <p:nvPr/>
        </p:nvSpPr>
        <p:spPr>
          <a:xfrm>
            <a:off x="8846820" y="2103120"/>
            <a:ext cx="2491740" cy="658368"/>
          </a:xfrm>
          <a:prstGeom prst="roundRect">
            <a:avLst>
              <a:gd name="adj" fmla="val 9722"/>
            </a:avLst>
          </a:prstGeom>
          <a:solidFill>
            <a:srgbClr val="24365E"/>
          </a:solidFill>
          <a:ln/>
        </p:spPr>
      </p:sp>
      <p:sp>
        <p:nvSpPr>
          <p:cNvPr id="11" name="Text 9"/>
          <p:cNvSpPr txBox="1"/>
          <p:nvPr/>
        </p:nvSpPr>
        <p:spPr>
          <a:xfrm>
            <a:off x="8956548" y="2103120"/>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4. </a:t>
            </a:r>
            <a:pPr indent="0" marL="0">
              <a:buNone/>
            </a:pPr>
            <a:r>
              <a:rPr lang="en-US" sz="1200" dirty="0">
                <a:solidFill>
                  <a:srgbClr val="FFFFFF"/>
                </a:solidFill>
                <a:latin typeface="Yu Gothic" pitchFamily="34" charset="0"/>
                <a:ea typeface="Yu Gothic" pitchFamily="34" charset="-122"/>
                <a:cs typeface="Yu Gothic" pitchFamily="34" charset="-120"/>
              </a:rPr>
              <a:t>防護服の装着</a:t>
            </a:r>
            <a:endParaRPr lang="en-US" sz="1200" dirty="0"/>
          </a:p>
        </p:txBody>
      </p:sp>
      <p:sp>
        <p:nvSpPr>
          <p:cNvPr id="12" name="Shape 10"/>
          <p:cNvSpPr/>
          <p:nvPr/>
        </p:nvSpPr>
        <p:spPr>
          <a:xfrm>
            <a:off x="822960" y="2944368"/>
            <a:ext cx="2491740" cy="658368"/>
          </a:xfrm>
          <a:prstGeom prst="roundRect">
            <a:avLst>
              <a:gd name="adj" fmla="val 9722"/>
            </a:avLst>
          </a:prstGeom>
          <a:solidFill>
            <a:srgbClr val="24365E"/>
          </a:solidFill>
          <a:ln/>
        </p:spPr>
      </p:sp>
      <p:sp>
        <p:nvSpPr>
          <p:cNvPr id="13" name="Text 11"/>
          <p:cNvSpPr txBox="1"/>
          <p:nvPr/>
        </p:nvSpPr>
        <p:spPr>
          <a:xfrm>
            <a:off x="932688" y="2944368"/>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5. </a:t>
            </a:r>
            <a:pPr indent="0" marL="0">
              <a:buNone/>
            </a:pPr>
            <a:r>
              <a:rPr lang="en-US" sz="1200" dirty="0">
                <a:solidFill>
                  <a:srgbClr val="FFFFFF"/>
                </a:solidFill>
                <a:latin typeface="Yu Gothic" pitchFamily="34" charset="0"/>
                <a:ea typeface="Yu Gothic" pitchFamily="34" charset="-122"/>
                <a:cs typeface="Yu Gothic" pitchFamily="34" charset="-120"/>
              </a:rPr>
              <a:t>シューズカバーの装着</a:t>
            </a:r>
            <a:endParaRPr lang="en-US" sz="1200" dirty="0"/>
          </a:p>
        </p:txBody>
      </p:sp>
      <p:sp>
        <p:nvSpPr>
          <p:cNvPr id="14" name="Shape 12"/>
          <p:cNvSpPr/>
          <p:nvPr/>
        </p:nvSpPr>
        <p:spPr>
          <a:xfrm>
            <a:off x="3497580" y="2944368"/>
            <a:ext cx="2491740" cy="658368"/>
          </a:xfrm>
          <a:prstGeom prst="roundRect">
            <a:avLst>
              <a:gd name="adj" fmla="val 9722"/>
            </a:avLst>
          </a:prstGeom>
          <a:solidFill>
            <a:srgbClr val="24365E"/>
          </a:solidFill>
          <a:ln/>
        </p:spPr>
      </p:sp>
      <p:sp>
        <p:nvSpPr>
          <p:cNvPr id="15" name="Text 13"/>
          <p:cNvSpPr txBox="1"/>
          <p:nvPr/>
        </p:nvSpPr>
        <p:spPr>
          <a:xfrm>
            <a:off x="3607308" y="2944368"/>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6. </a:t>
            </a:r>
            <a:pPr indent="0" marL="0">
              <a:buNone/>
            </a:pPr>
            <a:r>
              <a:rPr lang="en-US" sz="1200" dirty="0">
                <a:solidFill>
                  <a:srgbClr val="FFFFFF"/>
                </a:solidFill>
                <a:latin typeface="Yu Gothic" pitchFamily="34" charset="0"/>
                <a:ea typeface="Yu Gothic" pitchFamily="34" charset="-122"/>
                <a:cs typeface="Yu Gothic" pitchFamily="34" charset="-120"/>
              </a:rPr>
              <a:t>手袋の装着</a:t>
            </a:r>
            <a:endParaRPr lang="en-US" sz="1200" dirty="0"/>
          </a:p>
        </p:txBody>
      </p:sp>
      <p:sp>
        <p:nvSpPr>
          <p:cNvPr id="16" name="Shape 14"/>
          <p:cNvSpPr/>
          <p:nvPr/>
        </p:nvSpPr>
        <p:spPr>
          <a:xfrm>
            <a:off x="6172200" y="2944368"/>
            <a:ext cx="2491740" cy="658368"/>
          </a:xfrm>
          <a:prstGeom prst="roundRect">
            <a:avLst>
              <a:gd name="adj" fmla="val 9722"/>
            </a:avLst>
          </a:prstGeom>
          <a:solidFill>
            <a:srgbClr val="24365E"/>
          </a:solidFill>
          <a:ln/>
        </p:spPr>
      </p:sp>
      <p:sp>
        <p:nvSpPr>
          <p:cNvPr id="17" name="Text 15"/>
          <p:cNvSpPr txBox="1"/>
          <p:nvPr/>
        </p:nvSpPr>
        <p:spPr>
          <a:xfrm>
            <a:off x="6281928" y="2944368"/>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7. </a:t>
            </a:r>
            <a:pPr indent="0" marL="0">
              <a:buNone/>
            </a:pPr>
            <a:r>
              <a:rPr lang="en-US" sz="1200" dirty="0">
                <a:solidFill>
                  <a:srgbClr val="FFFFFF"/>
                </a:solidFill>
                <a:latin typeface="Yu Gothic" pitchFamily="34" charset="0"/>
                <a:ea typeface="Yu Gothic" pitchFamily="34" charset="-122"/>
                <a:cs typeface="Yu Gothic" pitchFamily="34" charset="-120"/>
              </a:rPr>
              <a:t>頭部の装着と仕上げ</a:t>
            </a:r>
            <a:endParaRPr lang="en-US" sz="1200" dirty="0"/>
          </a:p>
        </p:txBody>
      </p:sp>
      <p:sp>
        <p:nvSpPr>
          <p:cNvPr id="18" name="Shape 16"/>
          <p:cNvSpPr/>
          <p:nvPr/>
        </p:nvSpPr>
        <p:spPr>
          <a:xfrm>
            <a:off x="8846820" y="2944368"/>
            <a:ext cx="2491740" cy="658368"/>
          </a:xfrm>
          <a:prstGeom prst="roundRect">
            <a:avLst>
              <a:gd name="adj" fmla="val 9722"/>
            </a:avLst>
          </a:prstGeom>
          <a:solidFill>
            <a:srgbClr val="24365E"/>
          </a:solidFill>
          <a:ln/>
        </p:spPr>
      </p:sp>
      <p:sp>
        <p:nvSpPr>
          <p:cNvPr id="19" name="Text 17"/>
          <p:cNvSpPr txBox="1"/>
          <p:nvPr/>
        </p:nvSpPr>
        <p:spPr>
          <a:xfrm>
            <a:off x="8956548" y="2944368"/>
            <a:ext cx="230886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8. </a:t>
            </a:r>
            <a:pPr indent="0" marL="0">
              <a:buNone/>
            </a:pPr>
            <a:r>
              <a:rPr lang="en-US" sz="1200" dirty="0">
                <a:solidFill>
                  <a:srgbClr val="FFFFFF"/>
                </a:solidFill>
                <a:latin typeface="Yu Gothic" pitchFamily="34" charset="0"/>
                <a:ea typeface="Yu Gothic" pitchFamily="34" charset="-122"/>
                <a:cs typeface="Yu Gothic" pitchFamily="34" charset="-120"/>
              </a:rPr>
              <a:t>最終チェック</a:t>
            </a:r>
            <a:endParaRPr lang="en-US" sz="1200" dirty="0"/>
          </a:p>
        </p:txBody>
      </p:sp>
      <p:sp>
        <p:nvSpPr>
          <p:cNvPr id="20" name="Shape 18"/>
          <p:cNvSpPr/>
          <p:nvPr/>
        </p:nvSpPr>
        <p:spPr>
          <a:xfrm>
            <a:off x="822960" y="5349240"/>
            <a:ext cx="10515600" cy="1005840"/>
          </a:xfrm>
          <a:prstGeom prst="roundRect">
            <a:avLst>
              <a:gd name="adj" fmla="val 5455"/>
            </a:avLst>
          </a:prstGeom>
          <a:solidFill>
            <a:srgbClr val="FEF6E7"/>
          </a:solidFill>
          <a:ln/>
        </p:spPr>
      </p:sp>
      <p:sp>
        <p:nvSpPr>
          <p:cNvPr id="21" name="Shape 19"/>
          <p:cNvSpPr/>
          <p:nvPr/>
        </p:nvSpPr>
        <p:spPr>
          <a:xfrm>
            <a:off x="987552" y="5477256"/>
            <a:ext cx="1234440" cy="329184"/>
          </a:xfrm>
          <a:prstGeom prst="roundRect">
            <a:avLst>
              <a:gd name="adj" fmla="val 50000"/>
            </a:avLst>
          </a:prstGeom>
          <a:solidFill>
            <a:srgbClr val="B9770E"/>
          </a:solidFill>
          <a:ln/>
        </p:spPr>
      </p:sp>
      <p:sp>
        <p:nvSpPr>
          <p:cNvPr id="22" name="Text 20"/>
          <p:cNvSpPr txBox="1"/>
          <p:nvPr/>
        </p:nvSpPr>
        <p:spPr>
          <a:xfrm>
            <a:off x="987552" y="547725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注意</a:t>
            </a:r>
            <a:endParaRPr lang="en-US" sz="1100" dirty="0"/>
          </a:p>
        </p:txBody>
      </p:sp>
      <p:sp>
        <p:nvSpPr>
          <p:cNvPr id="23" name="Text 21"/>
          <p:cNvSpPr txBox="1"/>
          <p:nvPr/>
        </p:nvSpPr>
        <p:spPr>
          <a:xfrm>
            <a:off x="987552" y="5861304"/>
            <a:ext cx="10186416" cy="3657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一人で装着する場合は鏡を使いましょう(準備の段階、および頭部の装着とファスナー仕上げの段階で活用します)。</a:t>
            </a:r>
            <a:endParaRPr lang="en-US" sz="1250" dirty="0"/>
          </a:p>
        </p:txBody>
      </p:sp>
      <p:sp>
        <p:nvSpPr>
          <p:cNvPr id="24" name="Text 22"/>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3 / 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1</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準備</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防護服と資材の点検を行う</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インナー手袋:空気を吹き込んで穴がないか確認する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タイベック防護服:破れやほつれがないか確認する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線量計が動作するか確認する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インナーは、綿など汗を吸いやすく動きやすい服装を選ぶ</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インナーは、線量計を装着するため胸ポケットのあるものを着用する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4 / 25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2</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足元の準備</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靴を脱ぐ</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靴下をズボンの上に被せるように履く</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5 / 25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3</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線量計の装着</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線量計を胸ポケットに装着する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その際、線量計の向きに注意する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6 / 25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4</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防護服の装着</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最初に足を、次に腕を通す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ファスナーは全て閉めず、胸の上の方で止めておく</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7 / 25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5</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シューズカバーの装着</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靴を履き、シューズカバーを装着する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シューズカバーで防護服の裾を覆い、紐でしっかり結ぶ</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シューズカバーと防護服の境目をガムテープで止める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テープは切らずに一巻きで止める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テープの端は、取り外しやすいように折り返す</a:t>
            </a:r>
            <a:endParaRPr lang="en-US" sz="1500" dirty="0"/>
          </a:p>
        </p:txBody>
      </p:sp>
      <p:sp>
        <p:nvSpPr>
          <p:cNvPr id="6" name="Shape 4"/>
          <p:cNvSpPr/>
          <p:nvPr/>
        </p:nvSpPr>
        <p:spPr>
          <a:xfrm>
            <a:off x="457200" y="5166360"/>
            <a:ext cx="6675120" cy="1234440"/>
          </a:xfrm>
          <a:prstGeom prst="roundRect">
            <a:avLst>
              <a:gd name="adj" fmla="val 4444"/>
            </a:avLst>
          </a:prstGeom>
          <a:solidFill>
            <a:srgbClr val="FEF6E7"/>
          </a:solidFill>
          <a:ln/>
        </p:spPr>
      </p:sp>
      <p:sp>
        <p:nvSpPr>
          <p:cNvPr id="7" name="Shape 5"/>
          <p:cNvSpPr/>
          <p:nvPr/>
        </p:nvSpPr>
        <p:spPr>
          <a:xfrm>
            <a:off x="621792" y="5294376"/>
            <a:ext cx="1234440" cy="329184"/>
          </a:xfrm>
          <a:prstGeom prst="roundRect">
            <a:avLst>
              <a:gd name="adj" fmla="val 50000"/>
            </a:avLst>
          </a:prstGeom>
          <a:solidFill>
            <a:srgbClr val="B9770E"/>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注意</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インナーが露出しないように注意しましょう。</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8 / 25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6</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手袋の装着</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インナー手袋をはめ、防護服の袖をインナー手袋に被せながら装着する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介助者の助けを借りて、インナー手袋と防護服の境目をガムテープで止める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テープは切らずに一巻きで止め、取り外しやすいように端を折り返す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次に、アウター手袋をはめる(ガムテープで止めなくてもよい)</a:t>
            </a:r>
            <a:endParaRPr lang="en-US" sz="1500" dirty="0"/>
          </a:p>
        </p:txBody>
      </p:sp>
      <p:sp>
        <p:nvSpPr>
          <p:cNvPr id="6" name="Shape 4"/>
          <p:cNvSpPr/>
          <p:nvPr/>
        </p:nvSpPr>
        <p:spPr>
          <a:xfrm>
            <a:off x="457200" y="5166360"/>
            <a:ext cx="6675120" cy="1234440"/>
          </a:xfrm>
          <a:prstGeom prst="roundRect">
            <a:avLst>
              <a:gd name="adj" fmla="val 4444"/>
            </a:avLst>
          </a:prstGeom>
          <a:solidFill>
            <a:srgbClr val="F4F6F6"/>
          </a:solidFill>
          <a:ln/>
        </p:spPr>
      </p:sp>
      <p:sp>
        <p:nvSpPr>
          <p:cNvPr id="7" name="Shape 5"/>
          <p:cNvSpPr/>
          <p:nvPr/>
        </p:nvSpPr>
        <p:spPr>
          <a:xfrm>
            <a:off x="621792" y="5294376"/>
            <a:ext cx="1234440" cy="329184"/>
          </a:xfrm>
          <a:prstGeom prst="roundRect">
            <a:avLst>
              <a:gd name="adj" fmla="val 50000"/>
            </a:avLst>
          </a:prstGeom>
          <a:solidFill>
            <a:srgbClr val="5D6D7E"/>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オプション</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綿手袋・インナー手袋・アウター手袋の組み合わせで作業することもあります。</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9 / 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7 ①</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マスク・ゴーグルの装着</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防塵マスクを装着する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装着後、息漏れがないかフィットテストを行う</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フィルター部分を両手で軽く覆いながら息を吸い、顔に張り付くか確認する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ゴーグルを装着する(あらかじめゴムバンドを調整しておく)</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10 / 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7 ②</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フードとファスナーの仕上げ</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マスク・ゴーグルを装着したら、防護服のフードをかぶる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顎の下までファスナーをしっかり上げる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介助者の助けを借りて、防護服のファスナーにガムテープを貼る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11 / 25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1B2A4A"/>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装着  STEP 8</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最終チェック</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顎カバーもしっかり貼り付ける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氏名と所属を胸部と背部に明記する(防護服に直接書いても、ガムテープに書いて貼ってもよい)</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装着が完了したら、必ず介助者がチェックする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一人で装着した場合は、鏡を見て確認する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12 / 25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822960" y="640080"/>
            <a:ext cx="731520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脱衣の手順</a:t>
            </a:r>
            <a:endParaRPr lang="en-US" sz="3800" dirty="0"/>
          </a:p>
        </p:txBody>
      </p:sp>
      <p:sp>
        <p:nvSpPr>
          <p:cNvPr id="3" name="Text 1"/>
          <p:cNvSpPr txBox="1"/>
          <p:nvPr/>
        </p:nvSpPr>
        <p:spPr>
          <a:xfrm>
            <a:off x="822960" y="1371600"/>
            <a:ext cx="7315200" cy="457200"/>
          </a:xfrm>
          <a:prstGeom prst="rect">
            <a:avLst/>
          </a:prstGeom>
          <a:noFill/>
          <a:ln/>
        </p:spPr>
        <p:txBody>
          <a:bodyPr wrap="square" lIns="0" tIns="0" rIns="0" bIns="0" rtlCol="0" anchor="ctr"/>
          <a:lstStyle/>
          <a:p>
            <a:pPr indent="0" marL="0">
              <a:buNone/>
            </a:pPr>
            <a:r>
              <a:rPr lang="en-US" sz="1600" dirty="0">
                <a:solidFill>
                  <a:srgbClr val="F2A93B"/>
                </a:solidFill>
                <a:latin typeface="Yu Gothic" pitchFamily="34" charset="0"/>
                <a:ea typeface="Yu Gothic" pitchFamily="34" charset="-122"/>
                <a:cs typeface="Yu Gothic" pitchFamily="34" charset="-120"/>
              </a:rPr>
              <a:t>全 9 ステップ</a:t>
            </a:r>
            <a:endParaRPr lang="en-US" sz="1600" dirty="0"/>
          </a:p>
        </p:txBody>
      </p:sp>
      <p:sp>
        <p:nvSpPr>
          <p:cNvPr id="4" name="Shape 2"/>
          <p:cNvSpPr/>
          <p:nvPr/>
        </p:nvSpPr>
        <p:spPr>
          <a:xfrm>
            <a:off x="822960" y="2103120"/>
            <a:ext cx="3383280" cy="658368"/>
          </a:xfrm>
          <a:prstGeom prst="roundRect">
            <a:avLst>
              <a:gd name="adj" fmla="val 9722"/>
            </a:avLst>
          </a:prstGeom>
          <a:solidFill>
            <a:srgbClr val="5A2A2A"/>
          </a:solidFill>
          <a:ln/>
        </p:spPr>
      </p:sp>
      <p:sp>
        <p:nvSpPr>
          <p:cNvPr id="5" name="Text 3"/>
          <p:cNvSpPr txBox="1"/>
          <p:nvPr/>
        </p:nvSpPr>
        <p:spPr>
          <a:xfrm>
            <a:off x="932688" y="2103120"/>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1. </a:t>
            </a:r>
            <a:pPr indent="0" marL="0">
              <a:buNone/>
            </a:pPr>
            <a:r>
              <a:rPr lang="en-US" sz="1200" dirty="0">
                <a:solidFill>
                  <a:srgbClr val="FFFFFF"/>
                </a:solidFill>
                <a:latin typeface="Yu Gothic" pitchFamily="34" charset="0"/>
                <a:ea typeface="Yu Gothic" pitchFamily="34" charset="-122"/>
                <a:cs typeface="Yu Gothic" pitchFamily="34" charset="-120"/>
              </a:rPr>
              <a:t>脱衣スペースの確認</a:t>
            </a:r>
            <a:endParaRPr lang="en-US" sz="1200" dirty="0"/>
          </a:p>
        </p:txBody>
      </p:sp>
      <p:sp>
        <p:nvSpPr>
          <p:cNvPr id="6" name="Shape 4"/>
          <p:cNvSpPr/>
          <p:nvPr/>
        </p:nvSpPr>
        <p:spPr>
          <a:xfrm>
            <a:off x="4389120" y="2103120"/>
            <a:ext cx="3383280" cy="658368"/>
          </a:xfrm>
          <a:prstGeom prst="roundRect">
            <a:avLst>
              <a:gd name="adj" fmla="val 9722"/>
            </a:avLst>
          </a:prstGeom>
          <a:solidFill>
            <a:srgbClr val="5A2A2A"/>
          </a:solidFill>
          <a:ln/>
        </p:spPr>
      </p:sp>
      <p:sp>
        <p:nvSpPr>
          <p:cNvPr id="7" name="Text 5"/>
          <p:cNvSpPr txBox="1"/>
          <p:nvPr/>
        </p:nvSpPr>
        <p:spPr>
          <a:xfrm>
            <a:off x="4498848" y="2103120"/>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2. </a:t>
            </a:r>
            <a:pPr indent="0" marL="0">
              <a:buNone/>
            </a:pPr>
            <a:r>
              <a:rPr lang="en-US" sz="1200" dirty="0">
                <a:solidFill>
                  <a:srgbClr val="FFFFFF"/>
                </a:solidFill>
                <a:latin typeface="Yu Gothic" pitchFamily="34" charset="0"/>
                <a:ea typeface="Yu Gothic" pitchFamily="34" charset="-122"/>
                <a:cs typeface="Yu Gothic" pitchFamily="34" charset="-120"/>
              </a:rPr>
              <a:t>アウター手袋の脱衣</a:t>
            </a:r>
            <a:endParaRPr lang="en-US" sz="1200" dirty="0"/>
          </a:p>
        </p:txBody>
      </p:sp>
      <p:sp>
        <p:nvSpPr>
          <p:cNvPr id="8" name="Shape 6"/>
          <p:cNvSpPr/>
          <p:nvPr/>
        </p:nvSpPr>
        <p:spPr>
          <a:xfrm>
            <a:off x="7955280" y="2103120"/>
            <a:ext cx="3383280" cy="658368"/>
          </a:xfrm>
          <a:prstGeom prst="roundRect">
            <a:avLst>
              <a:gd name="adj" fmla="val 9722"/>
            </a:avLst>
          </a:prstGeom>
          <a:solidFill>
            <a:srgbClr val="5A2A2A"/>
          </a:solidFill>
          <a:ln/>
        </p:spPr>
      </p:sp>
      <p:sp>
        <p:nvSpPr>
          <p:cNvPr id="9" name="Text 7"/>
          <p:cNvSpPr txBox="1"/>
          <p:nvPr/>
        </p:nvSpPr>
        <p:spPr>
          <a:xfrm>
            <a:off x="8065008" y="2103120"/>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3. </a:t>
            </a:r>
            <a:pPr indent="0" marL="0">
              <a:buNone/>
            </a:pPr>
            <a:r>
              <a:rPr lang="en-US" sz="1200" dirty="0">
                <a:solidFill>
                  <a:srgbClr val="FFFFFF"/>
                </a:solidFill>
                <a:latin typeface="Yu Gothic" pitchFamily="34" charset="0"/>
                <a:ea typeface="Yu Gothic" pitchFamily="34" charset="-122"/>
                <a:cs typeface="Yu Gothic" pitchFamily="34" charset="-120"/>
              </a:rPr>
              <a:t>インナー手袋の線量測定とテープの取り外し</a:t>
            </a:r>
            <a:endParaRPr lang="en-US" sz="1200" dirty="0"/>
          </a:p>
        </p:txBody>
      </p:sp>
      <p:sp>
        <p:nvSpPr>
          <p:cNvPr id="10" name="Shape 8"/>
          <p:cNvSpPr/>
          <p:nvPr/>
        </p:nvSpPr>
        <p:spPr>
          <a:xfrm>
            <a:off x="822960" y="2944368"/>
            <a:ext cx="3383280" cy="658368"/>
          </a:xfrm>
          <a:prstGeom prst="roundRect">
            <a:avLst>
              <a:gd name="adj" fmla="val 9722"/>
            </a:avLst>
          </a:prstGeom>
          <a:solidFill>
            <a:srgbClr val="5A2A2A"/>
          </a:solidFill>
          <a:ln/>
        </p:spPr>
      </p:sp>
      <p:sp>
        <p:nvSpPr>
          <p:cNvPr id="11" name="Text 9"/>
          <p:cNvSpPr txBox="1"/>
          <p:nvPr/>
        </p:nvSpPr>
        <p:spPr>
          <a:xfrm>
            <a:off x="932688" y="2944368"/>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4. </a:t>
            </a:r>
            <a:pPr indent="0" marL="0">
              <a:buNone/>
            </a:pPr>
            <a:r>
              <a:rPr lang="en-US" sz="1200" dirty="0">
                <a:solidFill>
                  <a:srgbClr val="FFFFFF"/>
                </a:solidFill>
                <a:latin typeface="Yu Gothic" pitchFamily="34" charset="0"/>
                <a:ea typeface="Yu Gothic" pitchFamily="34" charset="-122"/>
                <a:cs typeface="Yu Gothic" pitchFamily="34" charset="-120"/>
              </a:rPr>
              <a:t>防護服の脱衣(上半身)</a:t>
            </a:r>
            <a:endParaRPr lang="en-US" sz="1200" dirty="0"/>
          </a:p>
        </p:txBody>
      </p:sp>
      <p:sp>
        <p:nvSpPr>
          <p:cNvPr id="12" name="Shape 10"/>
          <p:cNvSpPr/>
          <p:nvPr/>
        </p:nvSpPr>
        <p:spPr>
          <a:xfrm>
            <a:off x="4389120" y="2944368"/>
            <a:ext cx="3383280" cy="658368"/>
          </a:xfrm>
          <a:prstGeom prst="roundRect">
            <a:avLst>
              <a:gd name="adj" fmla="val 9722"/>
            </a:avLst>
          </a:prstGeom>
          <a:solidFill>
            <a:srgbClr val="5A2A2A"/>
          </a:solidFill>
          <a:ln/>
        </p:spPr>
      </p:sp>
      <p:sp>
        <p:nvSpPr>
          <p:cNvPr id="13" name="Text 11"/>
          <p:cNvSpPr txBox="1"/>
          <p:nvPr/>
        </p:nvSpPr>
        <p:spPr>
          <a:xfrm>
            <a:off x="4498848" y="2944368"/>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5. </a:t>
            </a:r>
            <a:pPr indent="0" marL="0">
              <a:buNone/>
            </a:pPr>
            <a:r>
              <a:rPr lang="en-US" sz="1200" dirty="0">
                <a:solidFill>
                  <a:srgbClr val="FFFFFF"/>
                </a:solidFill>
                <a:latin typeface="Yu Gothic" pitchFamily="34" charset="0"/>
                <a:ea typeface="Yu Gothic" pitchFamily="34" charset="-122"/>
                <a:cs typeface="Yu Gothic" pitchFamily="34" charset="-120"/>
              </a:rPr>
              <a:t>シューズカバーと防護服の脱衣</a:t>
            </a:r>
            <a:endParaRPr lang="en-US" sz="1200" dirty="0"/>
          </a:p>
        </p:txBody>
      </p:sp>
      <p:sp>
        <p:nvSpPr>
          <p:cNvPr id="14" name="Shape 12"/>
          <p:cNvSpPr/>
          <p:nvPr/>
        </p:nvSpPr>
        <p:spPr>
          <a:xfrm>
            <a:off x="7955280" y="2944368"/>
            <a:ext cx="3383280" cy="658368"/>
          </a:xfrm>
          <a:prstGeom prst="roundRect">
            <a:avLst>
              <a:gd name="adj" fmla="val 9722"/>
            </a:avLst>
          </a:prstGeom>
          <a:solidFill>
            <a:srgbClr val="5A2A2A"/>
          </a:solidFill>
          <a:ln/>
        </p:spPr>
      </p:sp>
      <p:sp>
        <p:nvSpPr>
          <p:cNvPr id="15" name="Text 13"/>
          <p:cNvSpPr txBox="1"/>
          <p:nvPr/>
        </p:nvSpPr>
        <p:spPr>
          <a:xfrm>
            <a:off x="8065008" y="2944368"/>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6. </a:t>
            </a:r>
            <a:pPr indent="0" marL="0">
              <a:buNone/>
            </a:pPr>
            <a:r>
              <a:rPr lang="en-US" sz="1200" dirty="0">
                <a:solidFill>
                  <a:srgbClr val="FFFFFF"/>
                </a:solidFill>
                <a:latin typeface="Yu Gothic" pitchFamily="34" charset="0"/>
                <a:ea typeface="Yu Gothic" pitchFamily="34" charset="-122"/>
                <a:cs typeface="Yu Gothic" pitchFamily="34" charset="-120"/>
              </a:rPr>
              <a:t>ゴーグル・防塵マスクの脱衣</a:t>
            </a:r>
            <a:endParaRPr lang="en-US" sz="1200" dirty="0"/>
          </a:p>
        </p:txBody>
      </p:sp>
      <p:sp>
        <p:nvSpPr>
          <p:cNvPr id="16" name="Shape 14"/>
          <p:cNvSpPr/>
          <p:nvPr/>
        </p:nvSpPr>
        <p:spPr>
          <a:xfrm>
            <a:off x="822960" y="3785616"/>
            <a:ext cx="3383280" cy="658368"/>
          </a:xfrm>
          <a:prstGeom prst="roundRect">
            <a:avLst>
              <a:gd name="adj" fmla="val 9722"/>
            </a:avLst>
          </a:prstGeom>
          <a:solidFill>
            <a:srgbClr val="5A2A2A"/>
          </a:solidFill>
          <a:ln/>
        </p:spPr>
      </p:sp>
      <p:sp>
        <p:nvSpPr>
          <p:cNvPr id="17" name="Text 15"/>
          <p:cNvSpPr txBox="1"/>
          <p:nvPr/>
        </p:nvSpPr>
        <p:spPr>
          <a:xfrm>
            <a:off x="932688" y="3785616"/>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7. </a:t>
            </a:r>
            <a:pPr indent="0" marL="0">
              <a:buNone/>
            </a:pPr>
            <a:r>
              <a:rPr lang="en-US" sz="1200" dirty="0">
                <a:solidFill>
                  <a:srgbClr val="FFFFFF"/>
                </a:solidFill>
                <a:latin typeface="Yu Gothic" pitchFamily="34" charset="0"/>
                <a:ea typeface="Yu Gothic" pitchFamily="34" charset="-122"/>
                <a:cs typeface="Yu Gothic" pitchFamily="34" charset="-120"/>
              </a:rPr>
              <a:t>インナー手袋の脱衣</a:t>
            </a:r>
            <a:endParaRPr lang="en-US" sz="1200" dirty="0"/>
          </a:p>
        </p:txBody>
      </p:sp>
      <p:sp>
        <p:nvSpPr>
          <p:cNvPr id="18" name="Shape 16"/>
          <p:cNvSpPr/>
          <p:nvPr/>
        </p:nvSpPr>
        <p:spPr>
          <a:xfrm>
            <a:off x="4389120" y="3785616"/>
            <a:ext cx="3383280" cy="658368"/>
          </a:xfrm>
          <a:prstGeom prst="roundRect">
            <a:avLst>
              <a:gd name="adj" fmla="val 9722"/>
            </a:avLst>
          </a:prstGeom>
          <a:solidFill>
            <a:srgbClr val="5A2A2A"/>
          </a:solidFill>
          <a:ln/>
        </p:spPr>
      </p:sp>
      <p:sp>
        <p:nvSpPr>
          <p:cNvPr id="19" name="Text 17"/>
          <p:cNvSpPr txBox="1"/>
          <p:nvPr/>
        </p:nvSpPr>
        <p:spPr>
          <a:xfrm>
            <a:off x="4498848" y="3785616"/>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8. </a:t>
            </a:r>
            <a:pPr indent="0" marL="0">
              <a:buNone/>
            </a:pPr>
            <a:r>
              <a:rPr lang="en-US" sz="1200" dirty="0">
                <a:solidFill>
                  <a:srgbClr val="FFFFFF"/>
                </a:solidFill>
                <a:latin typeface="Yu Gothic" pitchFamily="34" charset="0"/>
                <a:ea typeface="Yu Gothic" pitchFamily="34" charset="-122"/>
                <a:cs typeface="Yu Gothic" pitchFamily="34" charset="-120"/>
              </a:rPr>
              <a:t>汚染の確認</a:t>
            </a:r>
            <a:endParaRPr lang="en-US" sz="1200" dirty="0"/>
          </a:p>
        </p:txBody>
      </p:sp>
      <p:sp>
        <p:nvSpPr>
          <p:cNvPr id="20" name="Shape 18"/>
          <p:cNvSpPr/>
          <p:nvPr/>
        </p:nvSpPr>
        <p:spPr>
          <a:xfrm>
            <a:off x="7955280" y="3785616"/>
            <a:ext cx="3383280" cy="658368"/>
          </a:xfrm>
          <a:prstGeom prst="roundRect">
            <a:avLst>
              <a:gd name="adj" fmla="val 9722"/>
            </a:avLst>
          </a:prstGeom>
          <a:solidFill>
            <a:srgbClr val="5A2A2A"/>
          </a:solidFill>
          <a:ln/>
        </p:spPr>
      </p:sp>
      <p:sp>
        <p:nvSpPr>
          <p:cNvPr id="21" name="Text 19"/>
          <p:cNvSpPr txBox="1"/>
          <p:nvPr/>
        </p:nvSpPr>
        <p:spPr>
          <a:xfrm>
            <a:off x="8065008" y="3785616"/>
            <a:ext cx="3200400" cy="658368"/>
          </a:xfrm>
          <a:prstGeom prst="rect">
            <a:avLst/>
          </a:prstGeom>
          <a:noFill/>
          <a:ln/>
        </p:spPr>
        <p:txBody>
          <a:bodyPr wrap="square" lIns="0" tIns="0" rIns="0" bIns="0" rtlCol="0" anchor="ctr"/>
          <a:lstStyle/>
          <a:p>
            <a:pPr indent="0" marL="0">
              <a:buNone/>
            </a:pPr>
            <a:r>
              <a:rPr lang="en-US" sz="1200" b="1" dirty="0">
                <a:solidFill>
                  <a:srgbClr val="F2A93B"/>
                </a:solidFill>
                <a:latin typeface="Yu Gothic" pitchFamily="34" charset="0"/>
                <a:ea typeface="Yu Gothic" pitchFamily="34" charset="-122"/>
                <a:cs typeface="Yu Gothic" pitchFamily="34" charset="-120"/>
              </a:rPr>
              <a:t>9. </a:t>
            </a:r>
            <a:pPr indent="0" marL="0">
              <a:buNone/>
            </a:pPr>
            <a:r>
              <a:rPr lang="en-US" sz="1200" dirty="0">
                <a:solidFill>
                  <a:srgbClr val="FFFFFF"/>
                </a:solidFill>
                <a:latin typeface="Yu Gothic" pitchFamily="34" charset="0"/>
                <a:ea typeface="Yu Gothic" pitchFamily="34" charset="-122"/>
                <a:cs typeface="Yu Gothic" pitchFamily="34" charset="-120"/>
              </a:rPr>
              <a:t>線量計の読み取り</a:t>
            </a:r>
            <a:endParaRPr lang="en-US" sz="1200" dirty="0"/>
          </a:p>
        </p:txBody>
      </p:sp>
      <p:sp>
        <p:nvSpPr>
          <p:cNvPr id="22" name="Shape 20"/>
          <p:cNvSpPr/>
          <p:nvPr/>
        </p:nvSpPr>
        <p:spPr>
          <a:xfrm>
            <a:off x="822960" y="5349240"/>
            <a:ext cx="10515600" cy="1005840"/>
          </a:xfrm>
          <a:prstGeom prst="roundRect">
            <a:avLst>
              <a:gd name="adj" fmla="val 5455"/>
            </a:avLst>
          </a:prstGeom>
          <a:solidFill>
            <a:srgbClr val="FDEDEC"/>
          </a:solidFill>
          <a:ln/>
        </p:spPr>
      </p:sp>
      <p:sp>
        <p:nvSpPr>
          <p:cNvPr id="23" name="Shape 21"/>
          <p:cNvSpPr/>
          <p:nvPr/>
        </p:nvSpPr>
        <p:spPr>
          <a:xfrm>
            <a:off x="987552" y="5477256"/>
            <a:ext cx="1234440" cy="329184"/>
          </a:xfrm>
          <a:prstGeom prst="roundRect">
            <a:avLst>
              <a:gd name="adj" fmla="val 50000"/>
            </a:avLst>
          </a:prstGeom>
          <a:solidFill>
            <a:srgbClr val="C0392B"/>
          </a:solidFill>
          <a:ln/>
        </p:spPr>
      </p:sp>
      <p:sp>
        <p:nvSpPr>
          <p:cNvPr id="24" name="Text 22"/>
          <p:cNvSpPr txBox="1"/>
          <p:nvPr/>
        </p:nvSpPr>
        <p:spPr>
          <a:xfrm>
            <a:off x="987552" y="547725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NG  ダメな例</a:t>
            </a:r>
            <a:endParaRPr lang="en-US" sz="1100" dirty="0"/>
          </a:p>
        </p:txBody>
      </p:sp>
      <p:sp>
        <p:nvSpPr>
          <p:cNvPr id="25" name="Text 23"/>
          <p:cNvSpPr txBox="1"/>
          <p:nvPr/>
        </p:nvSpPr>
        <p:spPr>
          <a:xfrm>
            <a:off x="987552" y="5861304"/>
            <a:ext cx="10186416" cy="3657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共通ルール:防護服・手袋は必ず「内側から裏返す」ように脱ぎ、外側には素手で触れないようにしましょう。</a:t>
            </a:r>
            <a:endParaRPr lang="en-US" sz="1250" dirty="0"/>
          </a:p>
        </p:txBody>
      </p:sp>
      <p:sp>
        <p:nvSpPr>
          <p:cNvPr id="26" name="Text 2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13 / 25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1</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脱衣スペースの確認</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管理区域と非管理区域の境界で脱衣を行う</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境界の管理区域側に椅子を用意しておく</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脱いだものを入れるための汚染用ゴミ箱が用意されていることを確認する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14 / 25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2</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アウター手袋の脱衣</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アウター手袋は、袖口をつまんで裏返すようにして外す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もう一方の手は、指を袖口に入れて裏返すように外す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脱いだアウター手袋は、指定されたゴミ箱に捨てる</a:t>
            </a:r>
            <a:endParaRPr lang="en-US" sz="1500" dirty="0"/>
          </a:p>
        </p:txBody>
      </p:sp>
      <p:sp>
        <p:nvSpPr>
          <p:cNvPr id="6" name="Shape 4"/>
          <p:cNvSpPr/>
          <p:nvPr/>
        </p:nvSpPr>
        <p:spPr>
          <a:xfrm>
            <a:off x="457200" y="5166360"/>
            <a:ext cx="6675120" cy="1234440"/>
          </a:xfrm>
          <a:prstGeom prst="roundRect">
            <a:avLst>
              <a:gd name="adj" fmla="val 4444"/>
            </a:avLst>
          </a:prstGeom>
          <a:solidFill>
            <a:srgbClr val="FDEDEC"/>
          </a:solidFill>
          <a:ln/>
        </p:spPr>
      </p:sp>
      <p:sp>
        <p:nvSpPr>
          <p:cNvPr id="7" name="Shape 5"/>
          <p:cNvSpPr/>
          <p:nvPr/>
        </p:nvSpPr>
        <p:spPr>
          <a:xfrm>
            <a:off x="621792" y="5294376"/>
            <a:ext cx="1234440" cy="329184"/>
          </a:xfrm>
          <a:prstGeom prst="roundRect">
            <a:avLst>
              <a:gd name="adj" fmla="val 50000"/>
            </a:avLst>
          </a:prstGeom>
          <a:solidFill>
            <a:srgbClr val="C0392B"/>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NG  ダメな例</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アウター手袋の掌で、もう一方の手袋の指をつかんで外すのはNGです。汚染している可能性があるため、手袋の外側を触ることは危険です。</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15 / 25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3</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インナー手袋の線量測定とガムテープの取り外し</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インナー手袋をGMサーベイメーター等で測定し、汚染がないことを確認する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手首の目止めに使ったガムテープを剥がす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テープの端に折り返しを作っておくと、剥がしやすくなる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ガムテープは汚染用ゴミ箱に捨てる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16 / 25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4 ①</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ファスナーを開けて裏返す</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防護服のファスナーを覆っているガムテープを剥がし、ガムテープ回収箱に捨てる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防護服のファスナーを一番下まで下ろす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首の後ろにあるフードの付け根部分をつかみ、防護服を裏返すようにして脱ぐ</a:t>
            </a:r>
            <a:endParaRPr lang="en-US" sz="1500" dirty="0"/>
          </a:p>
        </p:txBody>
      </p:sp>
      <p:sp>
        <p:nvSpPr>
          <p:cNvPr id="6" name="Shape 4"/>
          <p:cNvSpPr/>
          <p:nvPr/>
        </p:nvSpPr>
        <p:spPr>
          <a:xfrm>
            <a:off x="457200" y="5166360"/>
            <a:ext cx="6675120" cy="1234440"/>
          </a:xfrm>
          <a:prstGeom prst="roundRect">
            <a:avLst>
              <a:gd name="adj" fmla="val 4444"/>
            </a:avLst>
          </a:prstGeom>
          <a:solidFill>
            <a:srgbClr val="FDEDEC"/>
          </a:solidFill>
          <a:ln/>
        </p:spPr>
      </p:sp>
      <p:sp>
        <p:nvSpPr>
          <p:cNvPr id="7" name="Shape 5"/>
          <p:cNvSpPr/>
          <p:nvPr/>
        </p:nvSpPr>
        <p:spPr>
          <a:xfrm>
            <a:off x="621792" y="5294376"/>
            <a:ext cx="1234440" cy="329184"/>
          </a:xfrm>
          <a:prstGeom prst="roundRect">
            <a:avLst>
              <a:gd name="adj" fmla="val 50000"/>
            </a:avLst>
          </a:prstGeom>
          <a:solidFill>
            <a:srgbClr val="C0392B"/>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NG  ダメな例</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防護服の外側をつかんで脱ぐのは危険です。必ず内側から裏返すようにして脱ぎましょう。</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17 / 25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4 ②</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腕を抜き、膝下まで下ろす</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腕を袖から抜く際は手を後ろに回し、汚染のないそで端を引っ張って抜く</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防護服は椅子に座る前に膝下のあたりまで下ろす</a:t>
            </a:r>
            <a:endParaRPr lang="en-US" sz="1500" dirty="0"/>
          </a:p>
        </p:txBody>
      </p:sp>
      <p:sp>
        <p:nvSpPr>
          <p:cNvPr id="6" name="Shape 4"/>
          <p:cNvSpPr/>
          <p:nvPr/>
        </p:nvSpPr>
        <p:spPr>
          <a:xfrm>
            <a:off x="457200" y="5166360"/>
            <a:ext cx="6675120" cy="1234440"/>
          </a:xfrm>
          <a:prstGeom prst="roundRect">
            <a:avLst>
              <a:gd name="adj" fmla="val 4444"/>
            </a:avLst>
          </a:prstGeom>
          <a:solidFill>
            <a:srgbClr val="FEF6E7"/>
          </a:solidFill>
          <a:ln/>
        </p:spPr>
      </p:sp>
      <p:sp>
        <p:nvSpPr>
          <p:cNvPr id="7" name="Shape 5"/>
          <p:cNvSpPr/>
          <p:nvPr/>
        </p:nvSpPr>
        <p:spPr>
          <a:xfrm>
            <a:off x="621792" y="5294376"/>
            <a:ext cx="1234440" cy="329184"/>
          </a:xfrm>
          <a:prstGeom prst="roundRect">
            <a:avLst>
              <a:gd name="adj" fmla="val 50000"/>
            </a:avLst>
          </a:prstGeom>
          <a:solidFill>
            <a:srgbClr val="B9770E"/>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注意</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防護服の外側を触らないように気をつけて、裏返しながら脱いでいきましょう。</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18 / 25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5 ①</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テープと紐を外す</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椅子に座り、シューズカバーと靴の間についたガムテープを剥がす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シューズカバーの紐を解いておく</a:t>
            </a:r>
            <a:endParaRPr lang="en-US" sz="1500" dirty="0"/>
          </a:p>
        </p:txBody>
      </p:sp>
      <p:sp>
        <p:nvSpPr>
          <p:cNvPr id="6" name="Shape 4"/>
          <p:cNvSpPr/>
          <p:nvPr/>
        </p:nvSpPr>
        <p:spPr>
          <a:xfrm>
            <a:off x="457200" y="5166360"/>
            <a:ext cx="6675120" cy="1234440"/>
          </a:xfrm>
          <a:prstGeom prst="roundRect">
            <a:avLst>
              <a:gd name="adj" fmla="val 4444"/>
            </a:avLst>
          </a:prstGeom>
          <a:solidFill>
            <a:srgbClr val="FEF6E7"/>
          </a:solidFill>
          <a:ln/>
        </p:spPr>
      </p:sp>
      <p:sp>
        <p:nvSpPr>
          <p:cNvPr id="7" name="Shape 5"/>
          <p:cNvSpPr/>
          <p:nvPr/>
        </p:nvSpPr>
        <p:spPr>
          <a:xfrm>
            <a:off x="621792" y="5294376"/>
            <a:ext cx="1234440" cy="329184"/>
          </a:xfrm>
          <a:prstGeom prst="roundRect">
            <a:avLst>
              <a:gd name="adj" fmla="val 50000"/>
            </a:avLst>
          </a:prstGeom>
          <a:solidFill>
            <a:srgbClr val="B9770E"/>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注意</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この時点でシューズカバーだけ脱がないようにし、管理区域から足が出ないように注意してください。</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19 / 25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5 ②</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片足ずつ脱いで非管理区域へ</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防護服とシューズカバーをまとめて片足ずつ脱ぐ</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脱いだ足から非管理区域に下ろし、足が汚染しないようにする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完全に防護服を脱いだら、汚染用ゴミ箱に捨てる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20 / 25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6</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ゴーグル・防塵マスクの脱衣</a:t>
            </a:r>
            <a:endParaRPr lang="en-US" sz="3000" dirty="0"/>
          </a:p>
        </p:txBody>
      </p:sp>
      <p:sp>
        <p:nvSpPr>
          <p:cNvPr id="5" name="Text 3"/>
          <p:cNvSpPr txBox="1"/>
          <p:nvPr/>
        </p:nvSpPr>
        <p:spPr>
          <a:xfrm>
            <a:off x="457200" y="1965960"/>
            <a:ext cx="6675120" cy="3063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ゴーグルを外す。インナー手袋が外側の面に触れないよう、頭側のバンドを持って注意して外す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防塵マスクも同様に、外側に触れないようバンド側を持ってゆっくりと外す</a:t>
            </a:r>
            <a:endParaRPr lang="en-US" sz="1500" dirty="0"/>
          </a:p>
        </p:txBody>
      </p:sp>
      <p:sp>
        <p:nvSpPr>
          <p:cNvPr id="6" name="Shape 4"/>
          <p:cNvSpPr/>
          <p:nvPr/>
        </p:nvSpPr>
        <p:spPr>
          <a:xfrm>
            <a:off x="457200" y="5166360"/>
            <a:ext cx="6675120" cy="1234440"/>
          </a:xfrm>
          <a:prstGeom prst="roundRect">
            <a:avLst>
              <a:gd name="adj" fmla="val 4444"/>
            </a:avLst>
          </a:prstGeom>
          <a:solidFill>
            <a:srgbClr val="FEF6E7"/>
          </a:solidFill>
          <a:ln/>
        </p:spPr>
      </p:sp>
      <p:sp>
        <p:nvSpPr>
          <p:cNvPr id="7" name="Shape 5"/>
          <p:cNvSpPr/>
          <p:nvPr/>
        </p:nvSpPr>
        <p:spPr>
          <a:xfrm>
            <a:off x="621792" y="5294376"/>
            <a:ext cx="1234440" cy="329184"/>
          </a:xfrm>
          <a:prstGeom prst="roundRect">
            <a:avLst>
              <a:gd name="adj" fmla="val 50000"/>
            </a:avLst>
          </a:prstGeom>
          <a:solidFill>
            <a:srgbClr val="B9770E"/>
          </a:solidFill>
          <a:ln/>
        </p:spPr>
      </p:sp>
      <p:sp>
        <p:nvSpPr>
          <p:cNvPr id="8" name="Text 6"/>
          <p:cNvSpPr txBox="1"/>
          <p:nvPr/>
        </p:nvSpPr>
        <p:spPr>
          <a:xfrm>
            <a:off x="621792" y="5294376"/>
            <a:ext cx="12344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注意</a:t>
            </a:r>
            <a:endParaRPr lang="en-US" sz="1100" dirty="0"/>
          </a:p>
        </p:txBody>
      </p:sp>
      <p:sp>
        <p:nvSpPr>
          <p:cNvPr id="9" name="Text 7"/>
          <p:cNvSpPr txBox="1"/>
          <p:nvPr/>
        </p:nvSpPr>
        <p:spPr>
          <a:xfrm>
            <a:off x="621792" y="5678424"/>
            <a:ext cx="6345936" cy="594360"/>
          </a:xfrm>
          <a:prstGeom prst="rect">
            <a:avLst/>
          </a:prstGeom>
          <a:noFill/>
          <a:ln/>
        </p:spPr>
        <p:txBody>
          <a:bodyPr wrap="square" lIns="0" tIns="0" rIns="0" bIns="0" rtlCol="0" anchor="t"/>
          <a:lstStyle/>
          <a:p>
            <a:pPr algn="l" indent="0" marL="0">
              <a:lnSpc>
                <a:spcPct val="115000"/>
              </a:lnSpc>
              <a:buNone/>
            </a:pPr>
            <a:r>
              <a:rPr lang="en-US" sz="1250" dirty="0">
                <a:solidFill>
                  <a:srgbClr val="23324A"/>
                </a:solidFill>
                <a:latin typeface="Yu Gothic" pitchFamily="34" charset="0"/>
                <a:ea typeface="Yu Gothic" pitchFamily="34" charset="-122"/>
                <a:cs typeface="Yu Gothic" pitchFamily="34" charset="-120"/>
              </a:rPr>
              <a:t>マスクやゴーグルの表面を触らないでください。</a:t>
            </a:r>
            <a:endParaRPr lang="en-US" sz="1250" dirty="0"/>
          </a:p>
        </p:txBody>
      </p:sp>
      <p:sp>
        <p:nvSpPr>
          <p:cNvPr id="10" name="Shape 8"/>
          <p:cNvSpPr/>
          <p:nvPr/>
        </p:nvSpPr>
        <p:spPr>
          <a:xfrm>
            <a:off x="7452360" y="411480"/>
            <a:ext cx="4279392" cy="5989320"/>
          </a:xfrm>
          <a:prstGeom prst="roundRect">
            <a:avLst>
              <a:gd name="adj" fmla="val 1709"/>
            </a:avLst>
          </a:prstGeom>
          <a:solidFill>
            <a:srgbClr val="F2F2F2"/>
          </a:solidFill>
          <a:ln w="19050">
            <a:prstDash val="solid"/>
          </a:ln>
        </p:spPr>
      </p:sp>
      <p:sp>
        <p:nvSpPr>
          <p:cNvPr id="11" name="Shape 9"/>
          <p:cNvSpPr/>
          <p:nvPr/>
        </p:nvSpPr>
        <p:spPr>
          <a:xfrm>
            <a:off x="9134856" y="2903220"/>
            <a:ext cx="914400" cy="566928"/>
          </a:xfrm>
          <a:prstGeom prst="roundRect">
            <a:avLst>
              <a:gd name="adj" fmla="val 6452"/>
            </a:avLst>
          </a:prstGeom>
          <a:solidFill>
            <a:srgbClr val="C9CFD6"/>
          </a:solidFill>
          <a:ln/>
        </p:spPr>
      </p:sp>
      <p:sp>
        <p:nvSpPr>
          <p:cNvPr id="12" name="Shape 10"/>
          <p:cNvSpPr/>
          <p:nvPr/>
        </p:nvSpPr>
        <p:spPr>
          <a:xfrm>
            <a:off x="9390888" y="2775204"/>
            <a:ext cx="310896" cy="146304"/>
          </a:xfrm>
          <a:prstGeom prst="rect">
            <a:avLst/>
          </a:prstGeom>
          <a:solidFill>
            <a:srgbClr val="C9CFD6"/>
          </a:solidFill>
          <a:ln/>
        </p:spPr>
      </p:sp>
      <p:sp>
        <p:nvSpPr>
          <p:cNvPr id="13" name="Shape 11"/>
          <p:cNvSpPr/>
          <p:nvPr/>
        </p:nvSpPr>
        <p:spPr>
          <a:xfrm>
            <a:off x="9445752" y="3040380"/>
            <a:ext cx="292608" cy="292608"/>
          </a:xfrm>
          <a:prstGeom prst="ellipse">
            <a:avLst/>
          </a:prstGeom>
          <a:solidFill>
            <a:srgbClr val="F2F2F2"/>
          </a:solidFill>
          <a:ln w="25400">
            <a:solidFill>
              <a:srgbClr val="9AA3AD"/>
            </a:solidFill>
            <a:prstDash val="solid"/>
          </a:ln>
        </p:spPr>
      </p:sp>
      <p:sp>
        <p:nvSpPr>
          <p:cNvPr id="14" name="Text 12"/>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5" name="Text 13"/>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6" name="Text 14"/>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21 / 25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7</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インナー手袋の脱衣</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最後にインナー手袋を外す</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アウター手袋と同じように、裏返しながら外す</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22 / 25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8</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汚染の確認</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線量計に放射性物質が付着していないか、全身をGMサーベイメーター等を用いて確認する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汚染が確認された場合は、指示に従い除染を行う</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23 / 25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2514600" cy="457200"/>
          </a:xfrm>
          <a:prstGeom prst="roundRect">
            <a:avLst>
              <a:gd name="adj" fmla="val 16000"/>
            </a:avLst>
          </a:prstGeom>
          <a:solidFill>
            <a:srgbClr val="2E4370"/>
          </a:solidFill>
          <a:ln/>
        </p:spPr>
      </p:sp>
      <p:sp>
        <p:nvSpPr>
          <p:cNvPr id="3" name="Text 1"/>
          <p:cNvSpPr txBox="1"/>
          <p:nvPr/>
        </p:nvSpPr>
        <p:spPr>
          <a:xfrm>
            <a:off x="457200" y="411480"/>
            <a:ext cx="2514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脱衣  STEP 9</a:t>
            </a:r>
            <a:endParaRPr lang="en-US" sz="1400" dirty="0"/>
          </a:p>
        </p:txBody>
      </p:sp>
      <p:sp>
        <p:nvSpPr>
          <p:cNvPr id="4" name="Text 2"/>
          <p:cNvSpPr txBox="1"/>
          <p:nvPr/>
        </p:nvSpPr>
        <p:spPr>
          <a:xfrm>
            <a:off x="457200" y="1005840"/>
            <a:ext cx="6675120" cy="77724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線量計の読み取り</a:t>
            </a:r>
            <a:endParaRPr lang="en-US" sz="3000" dirty="0"/>
          </a:p>
        </p:txBody>
      </p:sp>
      <p:sp>
        <p:nvSpPr>
          <p:cNvPr id="5" name="Text 3"/>
          <p:cNvSpPr txBox="1"/>
          <p:nvPr/>
        </p:nvSpPr>
        <p:spPr>
          <a:xfrm>
            <a:off x="457200" y="1965960"/>
            <a:ext cx="6675120" cy="4480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作業終了後、個人線量計の数値を読み取る</a:t>
            </a:r>
            <a:endParaRPr lang="en-US" sz="1500" dirty="0"/>
          </a:p>
          <a:p>
            <a:pPr marL="228600" indent="-228600">
              <a:spcAft>
                <a:spcPts val="1000"/>
              </a:spcAft>
              <a:buSzPct val="100000"/>
              <a:buChar char="▪"/>
            </a:pPr>
            <a:r>
              <a:rPr lang="en-US" sz="1500" dirty="0">
                <a:solidFill>
                  <a:srgbClr val="23324A"/>
                </a:solidFill>
                <a:latin typeface="Yu Gothic" pitchFamily="34" charset="0"/>
                <a:ea typeface="Yu Gothic" pitchFamily="34" charset="-122"/>
                <a:cs typeface="Yu Gothic" pitchFamily="34" charset="-120"/>
              </a:rPr>
              <a:t>読み取った数値は必ず記録する</a:t>
            </a:r>
            <a:endParaRPr lang="en-US" sz="1500" dirty="0"/>
          </a:p>
        </p:txBody>
      </p:sp>
      <p:sp>
        <p:nvSpPr>
          <p:cNvPr id="6" name="Shape 4"/>
          <p:cNvSpPr/>
          <p:nvPr/>
        </p:nvSpPr>
        <p:spPr>
          <a:xfrm>
            <a:off x="7452360" y="411480"/>
            <a:ext cx="4279392" cy="5989320"/>
          </a:xfrm>
          <a:prstGeom prst="roundRect">
            <a:avLst>
              <a:gd name="adj" fmla="val 1709"/>
            </a:avLst>
          </a:prstGeom>
          <a:solidFill>
            <a:srgbClr val="F2F2F2"/>
          </a:solidFill>
          <a:ln w="19050">
            <a:prstDash val="solid"/>
          </a:ln>
        </p:spPr>
      </p:sp>
      <p:sp>
        <p:nvSpPr>
          <p:cNvPr id="7" name="Shape 5"/>
          <p:cNvSpPr/>
          <p:nvPr/>
        </p:nvSpPr>
        <p:spPr>
          <a:xfrm>
            <a:off x="9134856" y="2903220"/>
            <a:ext cx="914400" cy="566928"/>
          </a:xfrm>
          <a:prstGeom prst="roundRect">
            <a:avLst>
              <a:gd name="adj" fmla="val 6452"/>
            </a:avLst>
          </a:prstGeom>
          <a:solidFill>
            <a:srgbClr val="C9CFD6"/>
          </a:solidFill>
          <a:ln/>
        </p:spPr>
      </p:sp>
      <p:sp>
        <p:nvSpPr>
          <p:cNvPr id="8" name="Shape 6"/>
          <p:cNvSpPr/>
          <p:nvPr/>
        </p:nvSpPr>
        <p:spPr>
          <a:xfrm>
            <a:off x="9390888" y="2775204"/>
            <a:ext cx="310896" cy="146304"/>
          </a:xfrm>
          <a:prstGeom prst="rect">
            <a:avLst/>
          </a:prstGeom>
          <a:solidFill>
            <a:srgbClr val="C9CFD6"/>
          </a:solidFill>
          <a:ln/>
        </p:spPr>
      </p:sp>
      <p:sp>
        <p:nvSpPr>
          <p:cNvPr id="9" name="Shape 7"/>
          <p:cNvSpPr/>
          <p:nvPr/>
        </p:nvSpPr>
        <p:spPr>
          <a:xfrm>
            <a:off x="9445752" y="3040380"/>
            <a:ext cx="292608" cy="292608"/>
          </a:xfrm>
          <a:prstGeom prst="ellipse">
            <a:avLst/>
          </a:prstGeom>
          <a:solidFill>
            <a:srgbClr val="F2F2F2"/>
          </a:solidFill>
          <a:ln w="25400">
            <a:solidFill>
              <a:srgbClr val="9AA3AD"/>
            </a:solidFill>
            <a:prstDash val="solid"/>
          </a:ln>
        </p:spPr>
      </p:sp>
      <p:sp>
        <p:nvSpPr>
          <p:cNvPr id="10" name="Text 8"/>
          <p:cNvSpPr txBox="1"/>
          <p:nvPr/>
        </p:nvSpPr>
        <p:spPr>
          <a:xfrm>
            <a:off x="7635240" y="3570732"/>
            <a:ext cx="3913632" cy="320040"/>
          </a:xfrm>
          <a:prstGeom prst="rect">
            <a:avLst/>
          </a:prstGeom>
          <a:noFill/>
          <a:ln/>
        </p:spPr>
        <p:txBody>
          <a:bodyPr wrap="square" lIns="0" tIns="0" rIns="0" bIns="0" rtlCol="0" anchor="ctr"/>
          <a:lstStyle/>
          <a:p>
            <a:pPr algn="ctr" indent="0" marL="0">
              <a:buNone/>
            </a:pPr>
            <a:r>
              <a:rPr lang="en-US" sz="1300" b="1" dirty="0">
                <a:solidFill>
                  <a:srgbClr val="5D6D7E"/>
                </a:solidFill>
                <a:latin typeface="Yu Gothic" pitchFamily="34" charset="0"/>
                <a:ea typeface="Yu Gothic" pitchFamily="34" charset="-122"/>
                <a:cs typeface="Yu Gothic" pitchFamily="34" charset="-120"/>
              </a:rPr>
              <a:t>画像プレースホルダー</a:t>
            </a:r>
            <a:endParaRPr lang="en-US" sz="1300" dirty="0"/>
          </a:p>
        </p:txBody>
      </p:sp>
      <p:sp>
        <p:nvSpPr>
          <p:cNvPr id="11" name="Text 9"/>
          <p:cNvSpPr txBox="1"/>
          <p:nvPr/>
        </p:nvSpPr>
        <p:spPr>
          <a:xfrm>
            <a:off x="7635240" y="3881628"/>
            <a:ext cx="3913632" cy="274320"/>
          </a:xfrm>
          <a:prstGeom prst="rect">
            <a:avLst/>
          </a:prstGeom>
          <a:noFill/>
          <a:ln/>
        </p:spPr>
        <p:txBody>
          <a:bodyPr wrap="square" lIns="0" tIns="0" rIns="0" bIns="0" rtlCol="0" anchor="ctr"/>
          <a:lstStyle/>
          <a:p>
            <a:pPr algn="ctr" indent="0" marL="0">
              <a:buNone/>
            </a:pPr>
            <a:r>
              <a:rPr lang="en-US" sz="1100" dirty="0">
                <a:solidFill>
                  <a:srgbClr val="5D6D7E"/>
                </a:solidFill>
                <a:latin typeface="Yu Gothic" pitchFamily="34" charset="0"/>
                <a:ea typeface="Yu Gothic" pitchFamily="34" charset="-122"/>
                <a:cs typeface="Yu Gothic" pitchFamily="34" charset="-120"/>
              </a:rPr>
              <a:t>(生成AI画像を後日挿入)</a:t>
            </a:r>
            <a:endParaRPr lang="en-US" sz="1100" dirty="0"/>
          </a:p>
        </p:txBody>
      </p:sp>
      <p:sp>
        <p:nvSpPr>
          <p:cNvPr id="12" name="Text 10"/>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24 / 25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ctr"/>
          <a:lstStyle/>
          <a:p>
            <a:pPr indent="0" marL="0">
              <a:buNone/>
            </a:pPr>
            <a:r>
              <a:rPr lang="en-US" sz="3000" b="1" dirty="0">
                <a:solidFill>
                  <a:srgbClr val="1B2A4A"/>
                </a:solidFill>
                <a:latin typeface="Yu Gothic" pitchFamily="34" charset="0"/>
                <a:ea typeface="Yu Gothic" pitchFamily="34" charset="-122"/>
                <a:cs typeface="Yu Gothic" pitchFamily="34" charset="-120"/>
              </a:rPr>
              <a:t>まとめ:装着・脱衣の重要ポイント</a:t>
            </a:r>
            <a:endParaRPr lang="en-US" sz="3000" dirty="0"/>
          </a:p>
        </p:txBody>
      </p:sp>
      <p:sp>
        <p:nvSpPr>
          <p:cNvPr id="3" name="Shape 1"/>
          <p:cNvSpPr/>
          <p:nvPr/>
        </p:nvSpPr>
        <p:spPr>
          <a:xfrm>
            <a:off x="640080" y="1554480"/>
            <a:ext cx="5257800" cy="4663440"/>
          </a:xfrm>
          <a:prstGeom prst="roundRect">
            <a:avLst>
              <a:gd name="adj" fmla="val 1961"/>
            </a:avLst>
          </a:prstGeom>
          <a:solidFill>
            <a:srgbClr val="1B2A4A"/>
          </a:solidFill>
          <a:ln/>
        </p:spPr>
      </p:sp>
      <p:sp>
        <p:nvSpPr>
          <p:cNvPr id="4" name="Text 2"/>
          <p:cNvSpPr txBox="1"/>
          <p:nvPr/>
        </p:nvSpPr>
        <p:spPr>
          <a:xfrm>
            <a:off x="1005840" y="1874520"/>
            <a:ext cx="4526280" cy="548640"/>
          </a:xfrm>
          <a:prstGeom prst="rect">
            <a:avLst/>
          </a:prstGeom>
          <a:noFill/>
          <a:ln/>
        </p:spPr>
        <p:txBody>
          <a:bodyPr wrap="square" lIns="0" tIns="0" rIns="0" bIns="0" rtlCol="0" anchor="ctr"/>
          <a:lstStyle/>
          <a:p>
            <a:pPr indent="0" marL="0">
              <a:buNone/>
            </a:pPr>
            <a:r>
              <a:rPr lang="en-US" sz="2200" b="1" dirty="0">
                <a:solidFill>
                  <a:srgbClr val="F2A93B"/>
                </a:solidFill>
                <a:latin typeface="Yu Gothic" pitchFamily="34" charset="0"/>
                <a:ea typeface="Yu Gothic" pitchFamily="34" charset="-122"/>
                <a:cs typeface="Yu Gothic" pitchFamily="34" charset="-120"/>
              </a:rPr>
              <a:t>装着のポイント</a:t>
            </a:r>
            <a:endParaRPr lang="en-US" sz="2200" dirty="0"/>
          </a:p>
        </p:txBody>
      </p:sp>
      <p:sp>
        <p:nvSpPr>
          <p:cNvPr id="5" name="Text 3"/>
          <p:cNvSpPr txBox="1"/>
          <p:nvPr/>
        </p:nvSpPr>
        <p:spPr>
          <a:xfrm>
            <a:off x="1005840" y="2606040"/>
            <a:ext cx="4526280" cy="329184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資材点検・フィットテストを必ず行う</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ガムテープは切らず一巻き、端は折り返す</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インナーが露出しないように仕上げる</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最後は介助者、または鏡で必ず確認する</a:t>
            </a:r>
            <a:endParaRPr lang="en-US" sz="1500" dirty="0"/>
          </a:p>
        </p:txBody>
      </p:sp>
      <p:sp>
        <p:nvSpPr>
          <p:cNvPr id="6" name="Shape 4"/>
          <p:cNvSpPr/>
          <p:nvPr/>
        </p:nvSpPr>
        <p:spPr>
          <a:xfrm>
            <a:off x="6172200" y="1554480"/>
            <a:ext cx="5257800" cy="4663440"/>
          </a:xfrm>
          <a:prstGeom prst="roundRect">
            <a:avLst>
              <a:gd name="adj" fmla="val 1961"/>
            </a:avLst>
          </a:prstGeom>
          <a:solidFill>
            <a:srgbClr val="5A2A2A"/>
          </a:solidFill>
          <a:ln/>
        </p:spPr>
      </p:sp>
      <p:sp>
        <p:nvSpPr>
          <p:cNvPr id="7" name="Text 5"/>
          <p:cNvSpPr txBox="1"/>
          <p:nvPr/>
        </p:nvSpPr>
        <p:spPr>
          <a:xfrm>
            <a:off x="6537960" y="1874520"/>
            <a:ext cx="4526280" cy="548640"/>
          </a:xfrm>
          <a:prstGeom prst="rect">
            <a:avLst/>
          </a:prstGeom>
          <a:noFill/>
          <a:ln/>
        </p:spPr>
        <p:txBody>
          <a:bodyPr wrap="square" lIns="0" tIns="0" rIns="0" bIns="0" rtlCol="0" anchor="ctr"/>
          <a:lstStyle/>
          <a:p>
            <a:pPr indent="0" marL="0">
              <a:buNone/>
            </a:pPr>
            <a:r>
              <a:rPr lang="en-US" sz="2200" b="1" dirty="0">
                <a:solidFill>
                  <a:srgbClr val="F2A93B"/>
                </a:solidFill>
                <a:latin typeface="Yu Gothic" pitchFamily="34" charset="0"/>
                <a:ea typeface="Yu Gothic" pitchFamily="34" charset="-122"/>
                <a:cs typeface="Yu Gothic" pitchFamily="34" charset="-120"/>
              </a:rPr>
              <a:t>脱衣のポイント</a:t>
            </a:r>
            <a:endParaRPr lang="en-US" sz="2200" dirty="0"/>
          </a:p>
        </p:txBody>
      </p:sp>
      <p:sp>
        <p:nvSpPr>
          <p:cNvPr id="8" name="Text 6"/>
          <p:cNvSpPr txBox="1"/>
          <p:nvPr/>
        </p:nvSpPr>
        <p:spPr>
          <a:xfrm>
            <a:off x="6537960" y="2606040"/>
            <a:ext cx="4526280" cy="329184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常に「内側から裏返す」ように脱ぐ</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外側には絶対に素手で触れない</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シューズカバーは片足ずつ確実に脱ぐ</a:t>
            </a:r>
            <a:endParaRPr lang="en-US" sz="1500" dirty="0"/>
          </a:p>
          <a:p>
            <a:pPr marL="279400" indent="-279400">
              <a:spcAft>
                <a:spcPts val="1600"/>
              </a:spcAft>
              <a:buSzPct val="100000"/>
              <a:buChar char="✓"/>
            </a:pPr>
            <a:r>
              <a:rPr lang="en-US" sz="1500" dirty="0">
                <a:solidFill>
                  <a:srgbClr val="FFFFFF"/>
                </a:solidFill>
                <a:latin typeface="Yu Gothic" pitchFamily="34" charset="0"/>
                <a:ea typeface="Yu Gothic" pitchFamily="34" charset="-122"/>
                <a:cs typeface="Yu Gothic" pitchFamily="34" charset="-120"/>
              </a:rPr>
              <a:t>最後は全身のサーベイと数値記録を忘れない</a:t>
            </a:r>
            <a:endParaRPr lang="en-US" sz="1500" dirty="0"/>
          </a:p>
        </p:txBody>
      </p:sp>
      <p:sp>
        <p:nvSpPr>
          <p:cNvPr id="9" name="Text 7"/>
          <p:cNvSpPr txBox="1"/>
          <p:nvPr/>
        </p:nvSpPr>
        <p:spPr>
          <a:xfrm>
            <a:off x="640080" y="6355080"/>
            <a:ext cx="10881360" cy="411480"/>
          </a:xfrm>
          <a:prstGeom prst="rect">
            <a:avLst/>
          </a:prstGeom>
          <a:noFill/>
          <a:ln/>
        </p:spPr>
        <p:txBody>
          <a:bodyPr wrap="square" lIns="0" tIns="0" rIns="0" bIns="0" rtlCol="0" anchor="ctr"/>
          <a:lstStyle/>
          <a:p>
            <a:pPr algn="ctr" indent="0" marL="0">
              <a:buNone/>
            </a:pPr>
            <a:r>
              <a:rPr lang="en-US" sz="1300" i="1" dirty="0">
                <a:solidFill>
                  <a:srgbClr val="5D6D7E"/>
                </a:solidFill>
                <a:latin typeface="Yu Gothic" pitchFamily="34" charset="0"/>
                <a:ea typeface="Yu Gothic" pitchFamily="34" charset="-122"/>
                <a:cs typeface="Yu Gothic" pitchFamily="34" charset="-120"/>
              </a:rPr>
              <a:t>正しい手順で、汚染・被ばくを防ぎましょう。</a:t>
            </a:r>
            <a:endParaRPr lang="en-US" sz="1300" dirty="0"/>
          </a:p>
        </p:txBody>
      </p:sp>
      <p:sp>
        <p:nvSpPr>
          <p:cNvPr id="10" name="Text 8"/>
          <p:cNvSpPr txBox="1"/>
          <p:nvPr/>
        </p:nvSpPr>
        <p:spPr>
          <a:xfrm>
            <a:off x="11292840" y="6473952"/>
            <a:ext cx="777240" cy="274320"/>
          </a:xfrm>
          <a:prstGeom prst="rect">
            <a:avLst/>
          </a:prstGeom>
          <a:noFill/>
          <a:ln/>
        </p:spPr>
        <p:txBody>
          <a:bodyPr wrap="square" lIns="0" tIns="0" rIns="0" bIns="0" rtlCol="0" anchor="ctr"/>
          <a:lstStyle/>
          <a:p>
            <a:pPr algn="r" indent="0" marL="0">
              <a:buNone/>
            </a:pPr>
            <a:r>
              <a:rPr lang="en-US" sz="1000" dirty="0">
                <a:solidFill>
                  <a:srgbClr val="5D6D7E"/>
                </a:solidFill>
                <a:latin typeface="Yu Gothic" pitchFamily="34" charset="0"/>
                <a:ea typeface="Yu Gothic" pitchFamily="34" charset="-122"/>
                <a:cs typeface="Yu Gothic" pitchFamily="34" charset="-120"/>
              </a:rPr>
              <a:t>25 / 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2026-08-30T12:47:41Z</dcterms:created>
  <dcterms:modified xsi:type="dcterms:W3CDTF">2026-08-30T12:47:41Z</dcterms:modified>
</cp:coreProperties>
</file>