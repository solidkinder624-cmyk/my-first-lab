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1.5T</c:v>
                </c:pt>
              </c:strCache>
            </c:strRef>
          </c:tx>
          <c:spPr>
            <a:solidFill>
              <a:srgbClr val="1B9AAA"/>
            </a:solidFill>
            <a:effectLst/>
          </c:spPr>
          <c:invertIfNegative val="0"/>
          <c:dLbls>
            <c:numFmt formatCode="#,##0" sourceLinked="0"/>
            <c:txPr>
              <a:bodyPr/>
              <a:lstStyle/>
              <a:p>
                <a:pPr>
                  <a:defRPr b="0" i="0" strike="noStrike" sz="900" u="none">
                    <a:solidFill>
                      <a:srgbClr val="2E3A59"/>
                    </a:solidFill>
                    <a:latin typeface="Meiryo"/>
                  </a:defRPr>
                </a:pPr>
              </a:p>
            </c:txPr>
            <c:dLblPos val="outEnd"/>
            <c:showLegendKey val="0"/>
            <c:showVal val="1"/>
            <c:showCatName val="0"/>
            <c:showSerName val="0"/>
            <c:showPercent val="0"/>
            <c:showBubbleSize val="0"/>
            <c:showLeaderLines val="0"/>
          </c:dLbls>
          <c:cat>
            <c:multiLvlStrRef>
              <c:f>Sheet1!$A$2:$A$8</c:f>
              <c:multiLvlStrCache>
                <c:ptCount val="7"/>
                <c:lvl>
                  <c:pt idx="0">
                    <c:v>透明ジェル</c:v>
                  </c:pt>
                  <c:pt idx="1">
                    <c:v>カラージェル</c:v>
                  </c:pt>
                  <c:pt idx="2">
                    <c:v>ラメ入り</c:v>
                  </c:pt>
                  <c:pt idx="3">
                    <c:v>MN 未配列</c:v>
                  </c:pt>
                  <c:pt idx="4">
                    <c:v>MN 配列済</c:v>
                  </c:pt>
                  <c:pt idx="5">
                    <c:v>MN 製品B</c:v>
                  </c:pt>
                  <c:pt idx="6">
                    <c:v>MN 製品C</c:v>
                  </c:pt>
                </c:lvl>
              </c:multiLvlStrCache>
            </c:multiLvlStrRef>
          </c:cat>
          <c:val>
            <c:numRef>
              <c:f>Sheet1!$B$2:$B$8</c:f>
              <c:numCache>
                <c:formatCode>General</c:formatCode>
                <c:ptCount val="7"/>
                <c:pt idx="0">
                  <c:v>0.5</c:v>
                </c:pt>
                <c:pt idx="1">
                  <c:v>1.2</c:v>
                </c:pt>
                <c:pt idx="2">
                  <c:v>3.5</c:v>
                </c:pt>
                <c:pt idx="3">
                  <c:v>11</c:v>
                </c:pt>
                <c:pt idx="4">
                  <c:v>11.8</c:v>
                </c:pt>
                <c:pt idx="5">
                  <c:v>8.2</c:v>
                </c:pt>
                <c:pt idx="6">
                  <c:v>16.4</c:v>
                </c:pt>
              </c:numCache>
            </c:numRef>
          </c:val>
        </c:ser>
        <c:ser>
          <c:idx val="1"/>
          <c:order val="1"/>
          <c:tx>
            <c:strRef>
              <c:f>Sheet1!$C$1</c:f>
              <c:strCache>
                <c:ptCount val="1"/>
                <c:pt idx="0">
                  <c:v>3T</c:v>
                </c:pt>
              </c:strCache>
            </c:strRef>
          </c:tx>
          <c:spPr>
            <a:solidFill>
              <a:srgbClr val="B5326A"/>
            </a:solidFill>
            <a:effectLst/>
          </c:spPr>
          <c:invertIfNegative val="0"/>
          <c:dLbls>
            <c:numFmt formatCode="#,##0" sourceLinked="0"/>
            <c:txPr>
              <a:bodyPr/>
              <a:lstStyle/>
              <a:p>
                <a:pPr>
                  <a:defRPr b="0" i="0" strike="noStrike" sz="900" u="none">
                    <a:solidFill>
                      <a:srgbClr val="2E3A59"/>
                    </a:solidFill>
                    <a:latin typeface="Meiryo"/>
                  </a:defRPr>
                </a:pPr>
              </a:p>
            </c:txPr>
            <c:dLblPos val="outEnd"/>
            <c:showLegendKey val="0"/>
            <c:showVal val="1"/>
            <c:showCatName val="0"/>
            <c:showSerName val="0"/>
            <c:showPercent val="0"/>
            <c:showBubbleSize val="0"/>
            <c:showLeaderLines val="0"/>
          </c:dLbls>
          <c:cat>
            <c:multiLvlStrRef>
              <c:f>Sheet1!$A$2:$A$8</c:f>
              <c:multiLvlStrCache>
                <c:ptCount val="7"/>
                <c:lvl>
                  <c:pt idx="0">
                    <c:v>透明ジェル</c:v>
                  </c:pt>
                  <c:pt idx="1">
                    <c:v>カラージェル</c:v>
                  </c:pt>
                  <c:pt idx="2">
                    <c:v>ラメ入り</c:v>
                  </c:pt>
                  <c:pt idx="3">
                    <c:v>MN 未配列</c:v>
                  </c:pt>
                  <c:pt idx="4">
                    <c:v>MN 配列済</c:v>
                  </c:pt>
                  <c:pt idx="5">
                    <c:v>MN 製品B</c:v>
                  </c:pt>
                  <c:pt idx="6">
                    <c:v>MN 製品C</c:v>
                  </c:pt>
                </c:lvl>
              </c:multiLvlStrCache>
            </c:multiLvlStrRef>
          </c:cat>
          <c:val>
            <c:numRef>
              <c:f>Sheet1!$C$2:$C$8</c:f>
              <c:numCache>
                <c:formatCode>General</c:formatCode>
                <c:ptCount val="7"/>
                <c:pt idx="0">
                  <c:v>0.8</c:v>
                </c:pt>
                <c:pt idx="1">
                  <c:v>2</c:v>
                </c:pt>
                <c:pt idx="2">
                  <c:v>5.8</c:v>
                </c:pt>
                <c:pt idx="3">
                  <c:v>18.3</c:v>
                </c:pt>
                <c:pt idx="4">
                  <c:v>19.1</c:v>
                </c:pt>
                <c:pt idx="5">
                  <c:v>13.6</c:v>
                </c:pt>
                <c:pt idx="6">
                  <c:v>26.2</c:v>
                </c:pt>
              </c:numCache>
            </c:numRef>
          </c:val>
        </c:ser>
        <c:dLbls>
          <c:numFmt formatCode="#,##0" sourceLinked="0"/>
          <c:txPr>
            <a:bodyPr/>
            <a:lstStyle/>
            <a:p>
              <a:pPr>
                <a:defRPr b="0" i="0" strike="noStrike" sz="900" u="none">
                  <a:solidFill>
                    <a:srgbClr val="2E3A59"/>
                  </a:solidFill>
                  <a:latin typeface="Meiryo"/>
                </a:defRPr>
              </a:pPr>
            </a:p>
          </c:txPr>
          <c:dLblPos val="outEnd"/>
          <c:showLegendKey val="0"/>
          <c:showVal val="1"/>
          <c:showCatName val="0"/>
          <c:showSerName val="0"/>
          <c:showPercent val="0"/>
          <c:showBubbleSize val="0"/>
          <c:showLeaderLines val="0"/>
        </c:dLbls>
        <c:gapWidth val="60"/>
        <c:overlap val="0"/>
        <c:axId val="2094734554"/>
        <c:axId val="2094734552"/>
        <c:axId val="2094734556"/>
      </c:barChart>
      <c:lineChart>
        <c:varyColors val="0"/>
        <c:ser>
          <c:idx val="2"/>
          <c:order val="2"/>
          <c:tx>
            <c:strRef>
              <c:f>Sheet1!$D$1</c:f>
              <c:strCache>
                <c:ptCount val="1"/>
                <c:pt idx="0">
                  <c:v>ASTM F2052 基準 45°</c:v>
                </c:pt>
              </c:strCache>
            </c:strRef>
          </c:tx>
          <c:spPr>
            <a:solidFill>
              <a:srgbClr val="C2700F"/>
            </a:solidFill>
            <a:ln w="25400" cap="flat">
              <a:solidFill>
                <a:srgbClr val="C2700F"/>
              </a:solidFill>
              <a:prstDash val="dash"/>
              <a:round/>
            </a:ln>
            <a:effectLst/>
          </c:spPr>
          <c:invertIfNegative val="0"/>
          <c:dLbls>
            <c:numFmt formatCode="#,##0" sourceLinked="0"/>
            <c:txPr>
              <a:bodyPr/>
              <a:lstStyle/>
              <a:p>
                <a:pPr>
                  <a:defRPr b="0" i="0" strike="noStrike" sz="900" u="none">
                    <a:solidFill>
                      <a:srgbClr val="000000"/>
                    </a:solidFill>
                    <a:latin typeface="Meiryo"/>
                  </a:defRPr>
                </a:pPr>
              </a:p>
            </c:txPr>
            <c:showLegendKey val="0"/>
            <c:showVal val="0"/>
            <c:showCatName val="0"/>
            <c:showSerName val="0"/>
            <c:showPercent val="0"/>
            <c:showBubbleSize val="0"/>
            <c:showLeaderLines val="0"/>
          </c:dLbls>
          <c:marker>
            <c:symbol val="circle"/>
            <c:size val="6"/>
            <c:spPr>
              <a:solidFill>
                <a:srgbClr val="C2700F"/>
              </a:solidFill>
              <a:ln w="9525" cap="flat">
                <a:solidFill>
                  <a:srgbClr val="C2700F"/>
                </a:solidFill>
                <a:prstDash val="solid"/>
                <a:round/>
              </a:ln>
              <a:effectLst/>
            </c:spPr>
          </c:marker>
          <c:cat>
            <c:multiLvlStrRef>
              <c:f>Sheet1!$A$2:$A$8</c:f>
              <c:multiLvlStrCache>
                <c:ptCount val="7"/>
                <c:lvl>
                  <c:pt idx="0">
                    <c:v>透明ジェル</c:v>
                  </c:pt>
                  <c:pt idx="1">
                    <c:v>カラージェル</c:v>
                  </c:pt>
                  <c:pt idx="2">
                    <c:v>ラメ入り</c:v>
                  </c:pt>
                  <c:pt idx="3">
                    <c:v>MN 未配列</c:v>
                  </c:pt>
                  <c:pt idx="4">
                    <c:v>MN 配列済</c:v>
                  </c:pt>
                  <c:pt idx="5">
                    <c:v>MN 製品B</c:v>
                  </c:pt>
                  <c:pt idx="6">
                    <c:v>MN 製品C</c:v>
                  </c:pt>
                </c:lvl>
              </c:multiLvlStrCache>
            </c:multiLvlStrRef>
          </c:cat>
          <c:val>
            <c:numRef>
              <c:f>Sheet1!$D$2:$D$8</c:f>
              <c:numCache>
                <c:formatCode>General</c:formatCode>
                <c:ptCount val="7"/>
                <c:pt idx="0">
                  <c:v>45</c:v>
                </c:pt>
                <c:pt idx="1">
                  <c:v>45</c:v>
                </c:pt>
                <c:pt idx="2">
                  <c:v>45</c:v>
                </c:pt>
                <c:pt idx="3">
                  <c:v>45</c:v>
                </c:pt>
                <c:pt idx="4">
                  <c:v>45</c:v>
                </c:pt>
                <c:pt idx="5">
                  <c:v>45</c:v>
                </c:pt>
                <c:pt idx="6">
                  <c:v>45</c:v>
                </c:pt>
              </c:numCache>
            </c:numRef>
          </c:val>
          <c:smooth val="0"/>
        </c:ser>
        <c:dLbls>
          <c:numFmt formatCode="#,##0" sourceLinked="0"/>
          <c:txPr>
            <a:bodyPr/>
            <a:lstStyle/>
            <a:p>
              <a:pPr>
                <a:defRPr b="0" i="0" strike="noStrike" sz="900" u="none">
                  <a:solidFill>
                    <a:srgbClr val="000000"/>
                  </a:solidFill>
                  <a:latin typeface="Meiryo"/>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E3A59"/>
                </a:solidFill>
                <a:latin typeface="Meiryo"/>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12700" cap="flat">
              <a:solidFill>
                <a:srgbClr val="E3E7EE"/>
              </a:solidFill>
              <a:prstDash val="solid"/>
              <a:round/>
            </a:ln>
          </c:spPr>
        </c:majorGridlines>
        <c:title>
          <c:tx>
            <c:rich>
              <a:bodyPr/>
              <a:lstStyle/>
              <a:p>
                <a:pPr>
                  <a:defRPr sz="1100" b="0" i="0" u="none" strike="noStrike">
                    <a:solidFill>
                      <a:srgbClr val="2E3A59"/>
                    </a:solidFill>
                    <a:latin typeface="Meiryo"/>
                  </a:defRPr>
                </a:pPr>
                <a:r>
                  <a:rPr sz="1100" b="0" i="0" u="none" strike="noStrike">
                    <a:solidFill>
                      <a:srgbClr val="2E3A59"/>
                    </a:solidFill>
                    <a:latin typeface="Meiryo"/>
                  </a:rPr>
                  <a:t>偏向角（度）</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2E3A59"/>
                </a:solidFill>
                <a:latin typeface="Meiryo"/>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E3A59"/>
              </a:solidFill>
              <a:latin typeface="Meiryo"/>
              <a:cs typeface="Meiryo"/>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3T  GRE</c:v>
                </c:pt>
              </c:strCache>
            </c:strRef>
          </c:tx>
          <c:spPr>
            <a:solidFill>
              <a:srgbClr val="1B9AAA"/>
            </a:solidFill>
            <a:ln w="38100" cap="flat">
              <a:solidFill>
                <a:srgbClr val="1B9AAA"/>
              </a:solidFill>
              <a:prstDash val="solid"/>
              <a:round/>
            </a:ln>
            <a:effectLst/>
          </c:spPr>
          <c:invertIfNegative val="0"/>
          <c:dLbls>
            <c:numFmt formatCode="#,##0" sourceLinked="0"/>
            <c:txPr>
              <a:bodyPr/>
              <a:lstStyle/>
              <a:p>
                <a:pPr>
                  <a:defRPr b="0" i="0" strike="noStrike" sz="900" u="none">
                    <a:solidFill>
                      <a:srgbClr val="000000"/>
                    </a:solidFill>
                    <a:latin typeface="Meiryo"/>
                  </a:defRPr>
                </a:pPr>
              </a:p>
            </c:txPr>
            <c:showLegendKey val="0"/>
            <c:showVal val="0"/>
            <c:showCatName val="0"/>
            <c:showSerName val="0"/>
            <c:showPercent val="0"/>
            <c:showBubbleSize val="0"/>
            <c:showLeaderLines val="0"/>
          </c:dLbls>
          <c:marker>
            <c:symbol val="circle"/>
            <c:size val="7"/>
            <c:spPr>
              <a:solidFill>
                <a:srgbClr val="1B9AAA"/>
              </a:solidFill>
              <a:ln w="9525" cap="flat">
                <a:solidFill>
                  <a:srgbClr val="1B9AAA"/>
                </a:solidFill>
                <a:prstDash val="solid"/>
                <a:round/>
              </a:ln>
              <a:effectLst/>
            </c:spPr>
          </c:marker>
          <c:cat>
            <c:multiLvlStrRef>
              <c:f>Sheet1!$A$2:$A$6</c:f>
              <c:multiLvlStrCache>
                <c:ptCount val="5"/>
                <c:lvl>
                  <c:pt idx="0">
                    <c:v>5</c:v>
                  </c:pt>
                  <c:pt idx="1">
                    <c:v>10</c:v>
                  </c:pt>
                  <c:pt idx="2">
                    <c:v>15</c:v>
                  </c:pt>
                  <c:pt idx="3">
                    <c:v>20</c:v>
                  </c:pt>
                  <c:pt idx="4">
                    <c:v>30</c:v>
                  </c:pt>
                </c:lvl>
              </c:multiLvlStrCache>
            </c:multiLvlStrRef>
          </c:cat>
          <c:val>
            <c:numRef>
              <c:f>Sheet1!$B$2:$B$6</c:f>
              <c:numCache>
                <c:formatCode>General</c:formatCode>
                <c:ptCount val="5"/>
                <c:pt idx="0">
                  <c:v>42</c:v>
                </c:pt>
                <c:pt idx="1">
                  <c:v>78</c:v>
                </c:pt>
                <c:pt idx="2">
                  <c:v>121</c:v>
                </c:pt>
                <c:pt idx="3">
                  <c:v>158</c:v>
                </c:pt>
                <c:pt idx="4">
                  <c:v>232</c:v>
                </c:pt>
              </c:numCache>
            </c:numRef>
          </c:val>
          <c:smooth val="0"/>
        </c:ser>
        <c:ser>
          <c:idx val="1"/>
          <c:order val="1"/>
          <c:tx>
            <c:strRef>
              <c:f>Sheet1!$C$1</c:f>
              <c:strCache>
                <c:ptCount val="1"/>
                <c:pt idx="0">
                  <c:v>1.5T  GRE</c:v>
                </c:pt>
              </c:strCache>
            </c:strRef>
          </c:tx>
          <c:spPr>
            <a:solidFill>
              <a:srgbClr val="B5326A"/>
            </a:solidFill>
            <a:ln w="38100" cap="flat">
              <a:solidFill>
                <a:srgbClr val="B5326A"/>
              </a:solidFill>
              <a:prstDash val="solid"/>
              <a:round/>
            </a:ln>
            <a:effectLst/>
          </c:spPr>
          <c:invertIfNegative val="0"/>
          <c:dLbls>
            <c:numFmt formatCode="#,##0" sourceLinked="0"/>
            <c:txPr>
              <a:bodyPr/>
              <a:lstStyle/>
              <a:p>
                <a:pPr>
                  <a:defRPr b="0" i="0" strike="noStrike" sz="900" u="none">
                    <a:solidFill>
                      <a:srgbClr val="000000"/>
                    </a:solidFill>
                    <a:latin typeface="Meiryo"/>
                  </a:defRPr>
                </a:pPr>
              </a:p>
            </c:txPr>
            <c:showLegendKey val="0"/>
            <c:showVal val="0"/>
            <c:showCatName val="0"/>
            <c:showSerName val="0"/>
            <c:showPercent val="0"/>
            <c:showBubbleSize val="0"/>
            <c:showLeaderLines val="0"/>
          </c:dLbls>
          <c:marker>
            <c:symbol val="circle"/>
            <c:size val="7"/>
            <c:spPr>
              <a:solidFill>
                <a:srgbClr val="B5326A"/>
              </a:solidFill>
              <a:ln w="9525" cap="flat">
                <a:solidFill>
                  <a:srgbClr val="B5326A"/>
                </a:solidFill>
                <a:prstDash val="solid"/>
                <a:round/>
              </a:ln>
              <a:effectLst/>
            </c:spPr>
          </c:marker>
          <c:cat>
            <c:multiLvlStrRef>
              <c:f>Sheet1!$A$2:$A$6</c:f>
              <c:multiLvlStrCache>
                <c:ptCount val="5"/>
                <c:lvl>
                  <c:pt idx="0">
                    <c:v>5</c:v>
                  </c:pt>
                  <c:pt idx="1">
                    <c:v>10</c:v>
                  </c:pt>
                  <c:pt idx="2">
                    <c:v>15</c:v>
                  </c:pt>
                  <c:pt idx="3">
                    <c:v>20</c:v>
                  </c:pt>
                  <c:pt idx="4">
                    <c:v>30</c:v>
                  </c:pt>
                </c:lvl>
              </c:multiLvlStrCache>
            </c:multiLvlStrRef>
          </c:cat>
          <c:val>
            <c:numRef>
              <c:f>Sheet1!$C$2:$C$6</c:f>
              <c:numCache>
                <c:formatCode>General</c:formatCode>
                <c:ptCount val="5"/>
                <c:pt idx="0">
                  <c:v>26</c:v>
                </c:pt>
                <c:pt idx="1">
                  <c:v>48</c:v>
                </c:pt>
                <c:pt idx="2">
                  <c:v>74</c:v>
                </c:pt>
                <c:pt idx="3">
                  <c:v>98</c:v>
                </c:pt>
                <c:pt idx="4">
                  <c:v>142</c:v>
                </c:pt>
              </c:numCache>
            </c:numRef>
          </c:val>
          <c:smooth val="0"/>
        </c:ser>
        <c:ser>
          <c:idx val="2"/>
          <c:order val="2"/>
          <c:tx>
            <c:strRef>
              <c:f>Sheet1!$D$1</c:f>
              <c:strCache>
                <c:ptCount val="1"/>
                <c:pt idx="0">
                  <c:v>3T  SE</c:v>
                </c:pt>
              </c:strCache>
            </c:strRef>
          </c:tx>
          <c:spPr>
            <a:solidFill>
              <a:srgbClr val="2E3A59"/>
            </a:solidFill>
            <a:ln w="38100" cap="flat">
              <a:solidFill>
                <a:srgbClr val="2E3A59"/>
              </a:solidFill>
              <a:prstDash val="solid"/>
              <a:round/>
            </a:ln>
            <a:effectLst/>
          </c:spPr>
          <c:invertIfNegative val="0"/>
          <c:dLbls>
            <c:numFmt formatCode="#,##0" sourceLinked="0"/>
            <c:txPr>
              <a:bodyPr/>
              <a:lstStyle/>
              <a:p>
                <a:pPr>
                  <a:defRPr b="0" i="0" strike="noStrike" sz="900" u="none">
                    <a:solidFill>
                      <a:srgbClr val="000000"/>
                    </a:solidFill>
                    <a:latin typeface="Meiryo"/>
                  </a:defRPr>
                </a:pPr>
              </a:p>
            </c:txPr>
            <c:showLegendKey val="0"/>
            <c:showVal val="0"/>
            <c:showCatName val="0"/>
            <c:showSerName val="0"/>
            <c:showPercent val="0"/>
            <c:showBubbleSize val="0"/>
            <c:showLeaderLines val="0"/>
          </c:dLbls>
          <c:marker>
            <c:symbol val="circle"/>
            <c:size val="7"/>
            <c:spPr>
              <a:solidFill>
                <a:srgbClr val="2E3A59"/>
              </a:solidFill>
              <a:ln w="9525" cap="flat">
                <a:solidFill>
                  <a:srgbClr val="2E3A59"/>
                </a:solidFill>
                <a:prstDash val="solid"/>
                <a:round/>
              </a:ln>
              <a:effectLst/>
            </c:spPr>
          </c:marker>
          <c:cat>
            <c:multiLvlStrRef>
              <c:f>Sheet1!$A$2:$A$6</c:f>
              <c:multiLvlStrCache>
                <c:ptCount val="5"/>
                <c:lvl>
                  <c:pt idx="0">
                    <c:v>5</c:v>
                  </c:pt>
                  <c:pt idx="1">
                    <c:v>10</c:v>
                  </c:pt>
                  <c:pt idx="2">
                    <c:v>15</c:v>
                  </c:pt>
                  <c:pt idx="3">
                    <c:v>20</c:v>
                  </c:pt>
                  <c:pt idx="4">
                    <c:v>30</c:v>
                  </c:pt>
                </c:lvl>
              </c:multiLvlStrCache>
            </c:multiLvlStrRef>
          </c:cat>
          <c:val>
            <c:numRef>
              <c:f>Sheet1!$D$2:$D$6</c:f>
              <c:numCache>
                <c:formatCode>General</c:formatCode>
                <c:ptCount val="5"/>
                <c:pt idx="0">
                  <c:v>18</c:v>
                </c:pt>
                <c:pt idx="1">
                  <c:v>24</c:v>
                </c:pt>
                <c:pt idx="2">
                  <c:v>29</c:v>
                </c:pt>
                <c:pt idx="3">
                  <c:v>33</c:v>
                </c:pt>
                <c:pt idx="4">
                  <c:v>41</c:v>
                </c:pt>
              </c:numCache>
            </c:numRef>
          </c:val>
          <c:smooth val="0"/>
        </c:ser>
        <c:dLbls>
          <c:numFmt formatCode="#,##0" sourceLinked="0"/>
          <c:txPr>
            <a:bodyPr/>
            <a:lstStyle/>
            <a:p>
              <a:pPr>
                <a:defRPr b="0" i="0" strike="noStrike" sz="900" u="none">
                  <a:solidFill>
                    <a:srgbClr val="000000"/>
                  </a:solidFill>
                  <a:latin typeface="Meiryo"/>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2E3A59"/>
                    </a:solidFill>
                    <a:latin typeface="Meiryo"/>
                  </a:defRPr>
                </a:pPr>
                <a:r>
                  <a:rPr sz="1100" b="0" i="0" u="none" strike="noStrike">
                    <a:solidFill>
                      <a:srgbClr val="2E3A59"/>
                    </a:solidFill>
                    <a:latin typeface="Meiryo"/>
                  </a:rPr>
                  <a:t>TE（ms）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E3A59"/>
                </a:solidFill>
                <a:latin typeface="Meiryo"/>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3E7EE"/>
              </a:solidFill>
              <a:prstDash val="solid"/>
              <a:round/>
            </a:ln>
          </c:spPr>
        </c:majorGridlines>
        <c:title>
          <c:tx>
            <c:rich>
              <a:bodyPr/>
              <a:lstStyle/>
              <a:p>
                <a:pPr>
                  <a:defRPr sz="1100" b="0" i="0" u="none" strike="noStrike">
                    <a:solidFill>
                      <a:srgbClr val="2E3A59"/>
                    </a:solidFill>
                    <a:latin typeface="Meiryo"/>
                  </a:defRPr>
                </a:pPr>
                <a:r>
                  <a:rPr sz="1100" b="0" i="0" u="none" strike="noStrike">
                    <a:solidFill>
                      <a:srgbClr val="2E3A59"/>
                    </a:solidFill>
                    <a:latin typeface="Meiryo"/>
                  </a:rPr>
                  <a:t>信号消失面積（mm²）</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2E3A59"/>
                </a:solidFill>
                <a:latin typeface="Meiryo"/>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E3A59"/>
              </a:solidFill>
              <a:latin typeface="Meiryo"/>
              <a:cs typeface="Meiryo"/>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3T  GRE</c:v>
                </c:pt>
              </c:strCache>
            </c:strRef>
          </c:tx>
          <c:spPr>
            <a:solidFill>
              <a:srgbClr val="B5326A"/>
            </a:solidFill>
            <a:ln w="38100" cap="flat">
              <a:solidFill>
                <a:srgbClr val="B5326A"/>
              </a:solidFill>
              <a:prstDash val="solid"/>
              <a:round/>
            </a:ln>
            <a:effectLst/>
          </c:spPr>
          <c:invertIfNegative val="0"/>
          <c:dLbls>
            <c:numFmt formatCode="#,##0" sourceLinked="0"/>
            <c:txPr>
              <a:bodyPr/>
              <a:lstStyle/>
              <a:p>
                <a:pPr>
                  <a:defRPr b="0" i="0" strike="noStrike" sz="900" u="none">
                    <a:solidFill>
                      <a:srgbClr val="2E3A59"/>
                    </a:solidFill>
                    <a:latin typeface="Meiryo"/>
                  </a:defRPr>
                </a:pPr>
              </a:p>
            </c:txPr>
            <c:dLblPos val="t"/>
            <c:showLegendKey val="0"/>
            <c:showVal val="1"/>
            <c:showCatName val="0"/>
            <c:showSerName val="0"/>
            <c:showPercent val="0"/>
            <c:showBubbleSize val="0"/>
            <c:showLeaderLines val="0"/>
          </c:dLbls>
          <c:marker>
            <c:symbol val="circle"/>
            <c:size val="7"/>
            <c:spPr>
              <a:solidFill>
                <a:srgbClr val="B5326A"/>
              </a:solidFill>
              <a:ln w="9525" cap="flat">
                <a:solidFill>
                  <a:srgbClr val="B5326A"/>
                </a:solidFill>
                <a:prstDash val="solid"/>
                <a:round/>
              </a:ln>
              <a:effectLst/>
            </c:spPr>
          </c:marker>
          <c:cat>
            <c:multiLvlStrRef>
              <c:f>Sheet1!$A$2:$A$6</c:f>
              <c:multiLvlStrCache>
                <c:ptCount val="5"/>
                <c:lvl>
                  <c:pt idx="0">
                    <c:v>0</c:v>
                  </c:pt>
                  <c:pt idx="1">
                    <c:v>2</c:v>
                  </c:pt>
                  <c:pt idx="2">
                    <c:v>5</c:v>
                  </c:pt>
                  <c:pt idx="3">
                    <c:v>10</c:v>
                  </c:pt>
                  <c:pt idx="4">
                    <c:v>20</c:v>
                  </c:pt>
                </c:lvl>
              </c:multiLvlStrCache>
            </c:multiLvlStrRef>
          </c:cat>
          <c:val>
            <c:numRef>
              <c:f>Sheet1!$B$2:$B$6</c:f>
              <c:numCache>
                <c:formatCode>General</c:formatCode>
                <c:ptCount val="5"/>
                <c:pt idx="0">
                  <c:v>232</c:v>
                </c:pt>
                <c:pt idx="1">
                  <c:v>61</c:v>
                </c:pt>
                <c:pt idx="2">
                  <c:v>8</c:v>
                </c:pt>
                <c:pt idx="3">
                  <c:v>1</c:v>
                </c:pt>
                <c:pt idx="4">
                  <c:v>0</c:v>
                </c:pt>
              </c:numCache>
            </c:numRef>
          </c:val>
          <c:smooth val="0"/>
        </c:ser>
        <c:ser>
          <c:idx val="1"/>
          <c:order val="1"/>
          <c:tx>
            <c:strRef>
              <c:f>Sheet1!$C$1</c:f>
              <c:strCache>
                <c:ptCount val="1"/>
                <c:pt idx="0">
                  <c:v>1.5T  GRE</c:v>
                </c:pt>
              </c:strCache>
            </c:strRef>
          </c:tx>
          <c:spPr>
            <a:solidFill>
              <a:srgbClr val="1B9AAA"/>
            </a:solidFill>
            <a:ln w="38100" cap="flat">
              <a:solidFill>
                <a:srgbClr val="1B9AAA"/>
              </a:solidFill>
              <a:prstDash val="solid"/>
              <a:round/>
            </a:ln>
            <a:effectLst/>
          </c:spPr>
          <c:invertIfNegative val="0"/>
          <c:dLbls>
            <c:numFmt formatCode="#,##0" sourceLinked="0"/>
            <c:txPr>
              <a:bodyPr/>
              <a:lstStyle/>
              <a:p>
                <a:pPr>
                  <a:defRPr b="0" i="0" strike="noStrike" sz="900" u="none">
                    <a:solidFill>
                      <a:srgbClr val="2E3A59"/>
                    </a:solidFill>
                    <a:latin typeface="Meiryo"/>
                  </a:defRPr>
                </a:pPr>
              </a:p>
            </c:txPr>
            <c:dLblPos val="t"/>
            <c:showLegendKey val="0"/>
            <c:showVal val="1"/>
            <c:showCatName val="0"/>
            <c:showSerName val="0"/>
            <c:showPercent val="0"/>
            <c:showBubbleSize val="0"/>
            <c:showLeaderLines val="0"/>
          </c:dLbls>
          <c:marker>
            <c:symbol val="circle"/>
            <c:size val="7"/>
            <c:spPr>
              <a:solidFill>
                <a:srgbClr val="1B9AAA"/>
              </a:solidFill>
              <a:ln w="9525" cap="flat">
                <a:solidFill>
                  <a:srgbClr val="1B9AAA"/>
                </a:solidFill>
                <a:prstDash val="solid"/>
                <a:round/>
              </a:ln>
              <a:effectLst/>
            </c:spPr>
          </c:marker>
          <c:cat>
            <c:multiLvlStrRef>
              <c:f>Sheet1!$A$2:$A$6</c:f>
              <c:multiLvlStrCache>
                <c:ptCount val="5"/>
                <c:lvl>
                  <c:pt idx="0">
                    <c:v>0</c:v>
                  </c:pt>
                  <c:pt idx="1">
                    <c:v>2</c:v>
                  </c:pt>
                  <c:pt idx="2">
                    <c:v>5</c:v>
                  </c:pt>
                  <c:pt idx="3">
                    <c:v>10</c:v>
                  </c:pt>
                  <c:pt idx="4">
                    <c:v>20</c:v>
                  </c:pt>
                </c:lvl>
              </c:multiLvlStrCache>
            </c:multiLvlStrRef>
          </c:cat>
          <c:val>
            <c:numRef>
              <c:f>Sheet1!$C$2:$C$6</c:f>
              <c:numCache>
                <c:formatCode>General</c:formatCode>
                <c:ptCount val="5"/>
                <c:pt idx="0">
                  <c:v>142</c:v>
                </c:pt>
                <c:pt idx="1">
                  <c:v>34</c:v>
                </c:pt>
                <c:pt idx="2">
                  <c:v>4</c:v>
                </c:pt>
                <c:pt idx="3">
                  <c:v>0</c:v>
                </c:pt>
                <c:pt idx="4">
                  <c:v>0</c:v>
                </c:pt>
              </c:numCache>
            </c:numRef>
          </c:val>
          <c:smooth val="0"/>
        </c:ser>
        <c:dLbls>
          <c:numFmt formatCode="#,##0" sourceLinked="0"/>
          <c:txPr>
            <a:bodyPr/>
            <a:lstStyle/>
            <a:p>
              <a:pPr>
                <a:defRPr b="0" i="0" strike="noStrike" sz="900" u="none">
                  <a:solidFill>
                    <a:srgbClr val="2E3A59"/>
                  </a:solidFill>
                  <a:latin typeface="Meiryo"/>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2E3A59"/>
                    </a:solidFill>
                    <a:latin typeface="Meiryo"/>
                  </a:defRPr>
                </a:pPr>
                <a:r>
                  <a:rPr sz="1100" b="0" i="0" u="none" strike="noStrike">
                    <a:solidFill>
                      <a:srgbClr val="2E3A59"/>
                    </a:solidFill>
                    <a:latin typeface="Meiryo"/>
                  </a:rPr>
                  <a:t>撮影部位からの距離（cm）</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E3A59"/>
                </a:solidFill>
                <a:latin typeface="Meiryo"/>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3E7EE"/>
              </a:solidFill>
              <a:prstDash val="solid"/>
              <a:round/>
            </a:ln>
          </c:spPr>
        </c:majorGridlines>
        <c:title>
          <c:tx>
            <c:rich>
              <a:bodyPr/>
              <a:lstStyle/>
              <a:p>
                <a:pPr>
                  <a:defRPr sz="1100" b="0" i="0" u="none" strike="noStrike">
                    <a:solidFill>
                      <a:srgbClr val="2E3A59"/>
                    </a:solidFill>
                    <a:latin typeface="Meiryo"/>
                  </a:defRPr>
                </a:pPr>
                <a:r>
                  <a:rPr sz="1100" b="0" i="0" u="none" strike="noStrike">
                    <a:solidFill>
                      <a:srgbClr val="2E3A59"/>
                    </a:solidFill>
                    <a:latin typeface="Meiryo"/>
                  </a:rPr>
                  <a:t>信号消失面積（mm²）</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2E3A59"/>
                </a:solidFill>
                <a:latin typeface="Meiryo"/>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E3A59"/>
              </a:solidFill>
              <a:latin typeface="Meiryo"/>
              <a:cs typeface="Meiryo"/>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実データが出るまでの構成検証用。数値はすべて仮。発表時は必ず差し替える。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ここは自施設の実データに差し替える。件数より『依頼から実施までの日数』が効く。脱落例の有無は必ず確認すること。部位別内訳は13枚目の距離依存性と結論で噛み合わせる。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実在する公開文書を引用する。施設名は必要に応じて伏せる。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『粉が揃って固まる』という一点を印象づける。これが案D（配向異方性）の伏線になる。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4経路を先に見せておくと、以降の結果がどこに対応するか聴衆が迷わない。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右側の4項目が、そのまま本研究の4つの結果スライドに対応する。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『提案しました』で終わらせず、自施設で運用を変えるところまで持っていく設計であることを強調する。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45°という規格由来の基準があるおかげで、白黒のつく問いになっている点を強調する。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時間外に枠を自由に使えることが、この網羅的マトリクスを可能にしている。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実データで45°を超える試料が出た場合は、この結論を反転させる。どちらでも発表は成立する。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ここが最大の見せ場。実画像に必ず差し替える。『確かに影響はある』と納得させてから、次の距離依存性で反転させる。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金属アーチファクト低減シーケンス（VAT / SEMAC 等）が自施設にあれば、ここに4本目の系列として加える。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11枚目で『影響はある』と見せた直後にこれを出す。この落差が発表の山。2枚目で出した部位別内訳がここで回収される。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発熱は主張を弱めに。限界を先に言うことで、かえって信頼される。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『危ない／危なくない』の二択ではなく、どの経路がどれだけ効くかで整理したことが本研究の貢献。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限界を自分から具体的に挙げると、質疑が『指摘』から『相談』に変わる。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問診の限界という論点を先に置くことで、磁石テストが『あれば便利』から『無いと解決しない』に変わる。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『提案しました』ではなく『運用を変えて日数が短縮した』と言えるのが、この研究の到達点。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3点に絞る。特に2点目が本研究の核心。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626"/>
        </a:solidFill>
      </p:bgPr>
    </p:bg>
    <p:spTree>
      <p:nvGrpSpPr>
        <p:cNvPr id="1" name=""/>
        <p:cNvGrpSpPr/>
        <p:nvPr/>
      </p:nvGrpSpPr>
      <p:grpSpPr>
        <a:xfrm>
          <a:off x="0" y="0"/>
          <a:ext cx="0" cy="0"/>
          <a:chOff x="0" y="0"/>
          <a:chExt cx="0" cy="0"/>
        </a:xfrm>
      </p:grpSpPr>
      <p:sp>
        <p:nvSpPr>
          <p:cNvPr id="2" name="Shape 0"/>
          <p:cNvSpPr/>
          <p:nvPr/>
        </p:nvSpPr>
        <p:spPr>
          <a:xfrm>
            <a:off x="8503920" y="1143000"/>
            <a:ext cx="4206240" cy="4206240"/>
          </a:xfrm>
          <a:prstGeom prst="ellipse">
            <a:avLst/>
          </a:prstGeom>
          <a:solidFill>
            <a:srgbClr val="B5326A">
              <a:alpha val="28000"/>
            </a:srgbClr>
          </a:solidFill>
          <a:ln w="12700">
            <a:solidFill>
              <a:srgbClr val="FFFFFF"/>
            </a:solidFill>
            <a:prstDash val="solid"/>
          </a:ln>
        </p:spPr>
      </p:sp>
      <p:sp>
        <p:nvSpPr>
          <p:cNvPr id="3" name="Shape 1"/>
          <p:cNvSpPr/>
          <p:nvPr/>
        </p:nvSpPr>
        <p:spPr>
          <a:xfrm>
            <a:off x="9144000" y="1783080"/>
            <a:ext cx="2926080" cy="2926080"/>
          </a:xfrm>
          <a:prstGeom prst="ellipse">
            <a:avLst/>
          </a:prstGeom>
          <a:solidFill>
            <a:srgbClr val="1B9AAA">
              <a:alpha val="40000"/>
            </a:srgbClr>
          </a:solidFill>
          <a:ln w="12700">
            <a:solidFill>
              <a:srgbClr val="FFFFFF"/>
            </a:solidFill>
            <a:prstDash val="solid"/>
          </a:ln>
        </p:spPr>
      </p:sp>
      <p:sp>
        <p:nvSpPr>
          <p:cNvPr id="4" name="Shape 2"/>
          <p:cNvSpPr/>
          <p:nvPr/>
        </p:nvSpPr>
        <p:spPr>
          <a:xfrm rot="1200000">
            <a:off x="9646920" y="2011680"/>
            <a:ext cx="502920" cy="2468880"/>
          </a:xfrm>
          <a:prstGeom prst="ellipse">
            <a:avLst/>
          </a:prstGeom>
          <a:solidFill>
            <a:srgbClr val="FFFFFF">
              <a:alpha val="65000"/>
            </a:srgbClr>
          </a:solidFill>
          <a:ln w="12700">
            <a:solidFill>
              <a:srgbClr val="FFFFFF"/>
            </a:solidFill>
            <a:prstDash val="solid"/>
          </a:ln>
        </p:spPr>
      </p:sp>
      <p:sp>
        <p:nvSpPr>
          <p:cNvPr id="5" name="Text 3"/>
          <p:cNvSpPr txBox="1"/>
          <p:nvPr/>
        </p:nvSpPr>
        <p:spPr>
          <a:xfrm>
            <a:off x="640080" y="1325880"/>
            <a:ext cx="7498080" cy="274320"/>
          </a:xfrm>
          <a:prstGeom prst="rect">
            <a:avLst/>
          </a:prstGeom>
          <a:noFill/>
          <a:ln/>
        </p:spPr>
        <p:txBody>
          <a:bodyPr wrap="square" lIns="0" tIns="0" rIns="0" bIns="0" rtlCol="0" anchor="ctr"/>
          <a:lstStyle/>
          <a:p>
            <a:pPr indent="0" marL="0">
              <a:buNone/>
            </a:pPr>
            <a:r>
              <a:rPr lang="en-US" sz="1200" b="1" spc="300" kern="0" dirty="0">
                <a:solidFill>
                  <a:srgbClr val="1B9AAA"/>
                </a:solidFill>
                <a:latin typeface="Meiryo" pitchFamily="34" charset="0"/>
                <a:ea typeface="Meiryo" pitchFamily="34" charset="-122"/>
                <a:cs typeface="Meiryo" pitchFamily="34" charset="-120"/>
              </a:rPr>
              <a:t>MRI SAFETY</a:t>
            </a:r>
            <a:endParaRPr lang="en-US" sz="1200" dirty="0"/>
          </a:p>
        </p:txBody>
      </p:sp>
      <p:sp>
        <p:nvSpPr>
          <p:cNvPr id="6" name="Text 4"/>
          <p:cNvSpPr txBox="1"/>
          <p:nvPr/>
        </p:nvSpPr>
        <p:spPr>
          <a:xfrm>
            <a:off x="640080" y="1783080"/>
            <a:ext cx="7680960" cy="1737360"/>
          </a:xfrm>
          <a:prstGeom prst="rect">
            <a:avLst/>
          </a:prstGeom>
          <a:noFill/>
          <a:ln/>
        </p:spPr>
        <p:txBody>
          <a:bodyPr wrap="square" lIns="0" tIns="0" rIns="0" bIns="0" rtlCol="0" anchor="ctr"/>
          <a:lstStyle/>
          <a:p>
            <a:pPr indent="0" marL="0">
              <a:lnSpc>
                <a:spcPts val="4600"/>
              </a:lnSpc>
              <a:buNone/>
            </a:pPr>
            <a:r>
              <a:rPr lang="en-US" sz="3400" b="1" dirty="0">
                <a:solidFill>
                  <a:srgbClr val="FFFFFF"/>
                </a:solidFill>
                <a:latin typeface="Meiryo" pitchFamily="34" charset="0"/>
                <a:ea typeface="Meiryo" pitchFamily="34" charset="-122"/>
                <a:cs typeface="Meiryo" pitchFamily="34" charset="-120"/>
              </a:rPr>
              <a:t>マグネットネイル装着者のMRI検査は</a:t>
            </a:r>
            <a:endParaRPr lang="en-US" sz="3400" dirty="0"/>
          </a:p>
          <a:p>
            <a:pPr indent="0" marL="0">
              <a:lnSpc>
                <a:spcPts val="4600"/>
              </a:lnSpc>
              <a:buNone/>
            </a:pPr>
            <a:r>
              <a:rPr lang="en-US" sz="3400" b="1" dirty="0">
                <a:solidFill>
                  <a:srgbClr val="FFFFFF"/>
                </a:solidFill>
                <a:latin typeface="Meiryo" pitchFamily="34" charset="0"/>
                <a:ea typeface="Meiryo" pitchFamily="34" charset="-122"/>
                <a:cs typeface="Meiryo" pitchFamily="34" charset="-120"/>
              </a:rPr>
              <a:t>一律に延期すべきか</a:t>
            </a:r>
            <a:endParaRPr lang="en-US" sz="3400" dirty="0"/>
          </a:p>
        </p:txBody>
      </p:sp>
      <p:sp>
        <p:nvSpPr>
          <p:cNvPr id="7" name="Text 5"/>
          <p:cNvSpPr txBox="1"/>
          <p:nvPr/>
        </p:nvSpPr>
        <p:spPr>
          <a:xfrm>
            <a:off x="640080" y="3611880"/>
            <a:ext cx="7680960" cy="365760"/>
          </a:xfrm>
          <a:prstGeom prst="rect">
            <a:avLst/>
          </a:prstGeom>
          <a:noFill/>
          <a:ln/>
        </p:spPr>
        <p:txBody>
          <a:bodyPr wrap="square" lIns="0" tIns="0" rIns="0" bIns="0" rtlCol="0" anchor="ctr"/>
          <a:lstStyle/>
          <a:p>
            <a:pPr indent="0" marL="0">
              <a:buNone/>
            </a:pPr>
            <a:r>
              <a:rPr lang="en-US" sz="1500" dirty="0">
                <a:solidFill>
                  <a:srgbClr val="C9D2E0"/>
                </a:solidFill>
                <a:latin typeface="Meiryo" pitchFamily="34" charset="0"/>
                <a:ea typeface="Meiryo" pitchFamily="34" charset="-122"/>
                <a:cs typeface="Meiryo" pitchFamily="34" charset="-120"/>
              </a:rPr>
              <a:t>1.5T / 3T における磁気吸引力と画像アーチファクトの定量評価</a:t>
            </a:r>
            <a:endParaRPr lang="en-US" sz="1500" dirty="0"/>
          </a:p>
        </p:txBody>
      </p:sp>
      <p:sp>
        <p:nvSpPr>
          <p:cNvPr id="8" name="Text 6"/>
          <p:cNvSpPr txBox="1"/>
          <p:nvPr/>
        </p:nvSpPr>
        <p:spPr>
          <a:xfrm>
            <a:off x="640080" y="4343400"/>
            <a:ext cx="7680960" cy="731520"/>
          </a:xfrm>
          <a:prstGeom prst="rect">
            <a:avLst/>
          </a:prstGeom>
          <a:noFill/>
          <a:ln/>
        </p:spPr>
        <p:txBody>
          <a:bodyPr wrap="square" lIns="0" tIns="0" rIns="0" bIns="0" rtlCol="0" anchor="ctr"/>
          <a:lstStyle/>
          <a:p>
            <a:pPr indent="0" marL="0">
              <a:lnSpc>
                <a:spcPts val="2000"/>
              </a:lnSpc>
              <a:buNone/>
            </a:pPr>
            <a:r>
              <a:rPr lang="en-US" sz="1200" dirty="0">
                <a:solidFill>
                  <a:srgbClr val="8E9AAE"/>
                </a:solidFill>
                <a:latin typeface="Meiryo" pitchFamily="34" charset="0"/>
                <a:ea typeface="Meiryo" pitchFamily="34" charset="-122"/>
                <a:cs typeface="Meiryo" pitchFamily="34" charset="-120"/>
              </a:rPr>
              <a:t>所属・氏名を記入</a:t>
            </a:r>
            <a:endParaRPr lang="en-US" sz="1200" dirty="0"/>
          </a:p>
          <a:p>
            <a:pPr indent="0" marL="0">
              <a:lnSpc>
                <a:spcPts val="2000"/>
              </a:lnSpc>
              <a:buNone/>
            </a:pPr>
            <a:r>
              <a:rPr lang="en-US" sz="1200" dirty="0">
                <a:solidFill>
                  <a:srgbClr val="8E9AAE"/>
                </a:solidFill>
                <a:latin typeface="Meiryo" pitchFamily="34" charset="0"/>
                <a:ea typeface="Meiryo" pitchFamily="34" charset="-122"/>
                <a:cs typeface="Meiryo" pitchFamily="34" charset="-120"/>
              </a:rPr>
              <a:t>◯◯学会／研究発表会　20XX年X月X日</a:t>
            </a:r>
            <a:endParaRPr lang="en-US" sz="1200" dirty="0"/>
          </a:p>
        </p:txBody>
      </p:sp>
      <p:sp>
        <p:nvSpPr>
          <p:cNvPr id="9" name="Shape 7"/>
          <p:cNvSpPr/>
          <p:nvPr/>
        </p:nvSpPr>
        <p:spPr>
          <a:xfrm>
            <a:off x="640080" y="5806440"/>
            <a:ext cx="5120640" cy="384048"/>
          </a:xfrm>
          <a:prstGeom prst="roundRect">
            <a:avLst>
              <a:gd name="adj" fmla="val 47619"/>
            </a:avLst>
          </a:prstGeom>
          <a:solidFill>
            <a:srgbClr val="3A2A12"/>
          </a:solidFill>
          <a:ln w="12700">
            <a:solidFill>
              <a:srgbClr val="C2700F"/>
            </a:solidFill>
            <a:prstDash val="solid"/>
          </a:ln>
        </p:spPr>
      </p:sp>
      <p:sp>
        <p:nvSpPr>
          <p:cNvPr id="10" name="Text 8"/>
          <p:cNvSpPr txBox="1"/>
          <p:nvPr/>
        </p:nvSpPr>
        <p:spPr>
          <a:xfrm>
            <a:off x="640080" y="5806440"/>
            <a:ext cx="5120640" cy="384048"/>
          </a:xfrm>
          <a:prstGeom prst="rect">
            <a:avLst/>
          </a:prstGeom>
          <a:noFill/>
          <a:ln/>
        </p:spPr>
        <p:txBody>
          <a:bodyPr wrap="square" lIns="0" tIns="0" rIns="0" bIns="0" rtlCol="0" anchor="ctr"/>
          <a:lstStyle/>
          <a:p>
            <a:pPr algn="ctr" indent="0" marL="0">
              <a:buNone/>
            </a:pPr>
            <a:r>
              <a:rPr lang="en-US" sz="1100" b="1" dirty="0">
                <a:solidFill>
                  <a:srgbClr val="F0B860"/>
                </a:solidFill>
                <a:latin typeface="Meiryo" pitchFamily="34" charset="0"/>
                <a:ea typeface="Meiryo" pitchFamily="34" charset="-122"/>
                <a:cs typeface="Meiryo" pitchFamily="34" charset="-120"/>
              </a:rPr>
              <a:t>本スライドの数値・グラフ・画像はすべてダミーです</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384048"/>
            <a:ext cx="9902952" cy="256032"/>
          </a:xfrm>
          <a:prstGeom prst="rect">
            <a:avLst/>
          </a:prstGeom>
          <a:noFill/>
          <a:ln/>
        </p:spPr>
        <p:txBody>
          <a:bodyPr wrap="square" lIns="0" tIns="0" rIns="0" bIns="0" rtlCol="0" anchor="ctr"/>
          <a:lstStyle/>
          <a:p>
            <a:pPr indent="0" marL="0">
              <a:buNone/>
            </a:pPr>
            <a:r>
              <a:rPr lang="en-US" sz="1200" b="1" spc="200" kern="0" dirty="0">
                <a:solidFill>
                  <a:srgbClr val="1B9AAA"/>
                </a:solidFill>
                <a:latin typeface="Meiryo" pitchFamily="34" charset="0"/>
                <a:ea typeface="Meiryo" pitchFamily="34" charset="-122"/>
                <a:cs typeface="Meiryo" pitchFamily="34" charset="-120"/>
              </a:rPr>
              <a:t>現状</a:t>
            </a:r>
            <a:endParaRPr lang="en-US" sz="1200" dirty="0"/>
          </a:p>
        </p:txBody>
      </p:sp>
      <p:sp>
        <p:nvSpPr>
          <p:cNvPr id="3" name="Text 1"/>
          <p:cNvSpPr txBox="1"/>
          <p:nvPr/>
        </p:nvSpPr>
        <p:spPr>
          <a:xfrm>
            <a:off x="640080" y="658368"/>
            <a:ext cx="9902952" cy="731520"/>
          </a:xfrm>
          <a:prstGeom prst="rect">
            <a:avLst/>
          </a:prstGeom>
          <a:noFill/>
          <a:ln/>
        </p:spPr>
        <p:txBody>
          <a:bodyPr wrap="square" lIns="0" tIns="0" rIns="0" bIns="0" rtlCol="0" anchor="t"/>
          <a:lstStyle/>
          <a:p>
            <a:pPr indent="0" marL="0">
              <a:buNone/>
            </a:pPr>
            <a:r>
              <a:rPr lang="en-US" sz="3000" b="1" dirty="0">
                <a:solidFill>
                  <a:srgbClr val="0F1626"/>
                </a:solidFill>
                <a:latin typeface="Meiryo" pitchFamily="34" charset="0"/>
                <a:ea typeface="Meiryo" pitchFamily="34" charset="-122"/>
                <a:cs typeface="Meiryo" pitchFamily="34" charset="-120"/>
              </a:rPr>
              <a:t>延期は「中止」ではない。しかし無害でもない</a:t>
            </a:r>
            <a:endParaRPr lang="en-US" sz="3000" dirty="0"/>
          </a:p>
        </p:txBody>
      </p:sp>
      <p:sp>
        <p:nvSpPr>
          <p:cNvPr id="4" name="Shape 2"/>
          <p:cNvSpPr/>
          <p:nvPr/>
        </p:nvSpPr>
        <p:spPr>
          <a:xfrm>
            <a:off x="11073384" y="457200"/>
            <a:ext cx="475488" cy="475488"/>
          </a:xfrm>
          <a:prstGeom prst="ellipse">
            <a:avLst/>
          </a:prstGeom>
          <a:solidFill>
            <a:srgbClr val="F2F4F8"/>
          </a:solidFill>
          <a:ln w="12700">
            <a:solidFill>
              <a:srgbClr val="FFFFFF"/>
            </a:solidFill>
            <a:prstDash val="solid"/>
          </a:ln>
        </p:spPr>
      </p:sp>
      <p:sp>
        <p:nvSpPr>
          <p:cNvPr id="5" name="Text 3"/>
          <p:cNvSpPr txBox="1"/>
          <p:nvPr/>
        </p:nvSpPr>
        <p:spPr>
          <a:xfrm>
            <a:off x="11073384" y="457200"/>
            <a:ext cx="475488" cy="475488"/>
          </a:xfrm>
          <a:prstGeom prst="rect">
            <a:avLst/>
          </a:prstGeom>
          <a:noFill/>
          <a:ln/>
        </p:spPr>
        <p:txBody>
          <a:bodyPr wrap="square" lIns="0" tIns="0" rIns="0" bIns="0" rtlCol="0" anchor="ctr"/>
          <a:lstStyle/>
          <a:p>
            <a:pPr algn="ctr" indent="0" marL="0">
              <a:buNone/>
            </a:pPr>
            <a:r>
              <a:rPr lang="en-US" sz="1300" b="1" dirty="0">
                <a:solidFill>
                  <a:srgbClr val="2E3A59"/>
                </a:solidFill>
                <a:latin typeface="Meiryo" pitchFamily="34" charset="0"/>
                <a:ea typeface="Meiryo" pitchFamily="34" charset="-122"/>
                <a:cs typeface="Meiryo" pitchFamily="34" charset="-120"/>
              </a:rPr>
              <a:t>2</a:t>
            </a:r>
            <a:endParaRPr lang="en-US" sz="1300" dirty="0"/>
          </a:p>
        </p:txBody>
      </p:sp>
      <p:sp>
        <p:nvSpPr>
          <p:cNvPr id="6" name="Shape 4"/>
          <p:cNvSpPr/>
          <p:nvPr/>
        </p:nvSpPr>
        <p:spPr>
          <a:xfrm>
            <a:off x="640080" y="1600200"/>
            <a:ext cx="2606040" cy="2286000"/>
          </a:xfrm>
          <a:prstGeom prst="roundRect">
            <a:avLst>
              <a:gd name="adj" fmla="val 2400"/>
            </a:avLst>
          </a:prstGeom>
          <a:solidFill>
            <a:srgbClr val="F2F4F8"/>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7" name="Text 5"/>
          <p:cNvSpPr txBox="1"/>
          <p:nvPr/>
        </p:nvSpPr>
        <p:spPr>
          <a:xfrm>
            <a:off x="868680" y="1783080"/>
            <a:ext cx="2148840" cy="1097280"/>
          </a:xfrm>
          <a:prstGeom prst="rect">
            <a:avLst/>
          </a:prstGeom>
          <a:noFill/>
          <a:ln/>
        </p:spPr>
        <p:txBody>
          <a:bodyPr wrap="square" lIns="0" tIns="0" rIns="0" bIns="0" rtlCol="0" anchor="ctr"/>
          <a:lstStyle/>
          <a:p>
            <a:pPr algn="l" indent="0" marL="0">
              <a:buNone/>
            </a:pPr>
            <a:r>
              <a:rPr lang="en-US" sz="5200" b="1" dirty="0">
                <a:solidFill>
                  <a:srgbClr val="2E3A59"/>
                </a:solidFill>
                <a:latin typeface="Meiryo" pitchFamily="34" charset="0"/>
                <a:ea typeface="Meiryo" pitchFamily="34" charset="-122"/>
                <a:cs typeface="Meiryo" pitchFamily="34" charset="-120"/>
              </a:rPr>
              <a:t>68</a:t>
            </a:r>
            <a:pPr algn="l" indent="0" marL="0">
              <a:buNone/>
            </a:pPr>
            <a:r>
              <a:rPr lang="en-US" sz="1500" b="1" dirty="0">
                <a:solidFill>
                  <a:srgbClr val="2E3A59"/>
                </a:solidFill>
                <a:latin typeface="Meiryo" pitchFamily="34" charset="0"/>
                <a:ea typeface="Meiryo" pitchFamily="34" charset="-122"/>
                <a:cs typeface="Meiryo" pitchFamily="34" charset="-120"/>
              </a:rPr>
              <a:t> 件／年</a:t>
            </a:r>
            <a:endParaRPr lang="en-US" sz="5200" dirty="0"/>
          </a:p>
        </p:txBody>
      </p:sp>
      <p:sp>
        <p:nvSpPr>
          <p:cNvPr id="8" name="Text 6"/>
          <p:cNvSpPr txBox="1"/>
          <p:nvPr/>
        </p:nvSpPr>
        <p:spPr>
          <a:xfrm>
            <a:off x="868680" y="2880360"/>
            <a:ext cx="2148840" cy="868680"/>
          </a:xfrm>
          <a:prstGeom prst="rect">
            <a:avLst/>
          </a:prstGeom>
          <a:noFill/>
          <a:ln/>
        </p:spPr>
        <p:txBody>
          <a:bodyPr wrap="square" lIns="0" tIns="0" rIns="0" bIns="0" rtlCol="0" anchor="t"/>
          <a:lstStyle/>
          <a:p>
            <a:pPr indent="0" marL="0">
              <a:lnSpc>
                <a:spcPts val="1800"/>
              </a:lnSpc>
              <a:buNone/>
            </a:pPr>
            <a:r>
              <a:rPr lang="en-US" sz="1200" dirty="0">
                <a:solidFill>
                  <a:srgbClr val="1F2430"/>
                </a:solidFill>
                <a:latin typeface="Meiryo" pitchFamily="34" charset="0"/>
                <a:ea typeface="Meiryo" pitchFamily="34" charset="-122"/>
                <a:cs typeface="Meiryo" pitchFamily="34" charset="-120"/>
              </a:rPr>
              <a:t>ネイルを理由とした延期</a:t>
            </a:r>
            <a:endParaRPr lang="en-US" sz="1200" dirty="0"/>
          </a:p>
        </p:txBody>
      </p:sp>
      <p:sp>
        <p:nvSpPr>
          <p:cNvPr id="9" name="Shape 7"/>
          <p:cNvSpPr/>
          <p:nvPr/>
        </p:nvSpPr>
        <p:spPr>
          <a:xfrm>
            <a:off x="3447288" y="1600200"/>
            <a:ext cx="2606040" cy="2286000"/>
          </a:xfrm>
          <a:prstGeom prst="roundRect">
            <a:avLst>
              <a:gd name="adj" fmla="val 2400"/>
            </a:avLst>
          </a:prstGeom>
          <a:solidFill>
            <a:srgbClr val="F2F4F8"/>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10" name="Text 8"/>
          <p:cNvSpPr txBox="1"/>
          <p:nvPr/>
        </p:nvSpPr>
        <p:spPr>
          <a:xfrm>
            <a:off x="3675888" y="1783080"/>
            <a:ext cx="2148840" cy="1097280"/>
          </a:xfrm>
          <a:prstGeom prst="rect">
            <a:avLst/>
          </a:prstGeom>
          <a:noFill/>
          <a:ln/>
        </p:spPr>
        <p:txBody>
          <a:bodyPr wrap="square" lIns="0" tIns="0" rIns="0" bIns="0" rtlCol="0" anchor="ctr"/>
          <a:lstStyle/>
          <a:p>
            <a:pPr algn="l" indent="0" marL="0">
              <a:buNone/>
            </a:pPr>
            <a:r>
              <a:rPr lang="en-US" sz="5200" b="1" dirty="0">
                <a:solidFill>
                  <a:srgbClr val="B5326A"/>
                </a:solidFill>
                <a:latin typeface="Meiryo" pitchFamily="34" charset="0"/>
                <a:ea typeface="Meiryo" pitchFamily="34" charset="-122"/>
                <a:cs typeface="Meiryo" pitchFamily="34" charset="-120"/>
              </a:rPr>
              <a:t>24</a:t>
            </a:r>
            <a:pPr algn="l" indent="0" marL="0">
              <a:buNone/>
            </a:pPr>
            <a:r>
              <a:rPr lang="en-US" sz="1500" b="1" dirty="0">
                <a:solidFill>
                  <a:srgbClr val="B5326A"/>
                </a:solidFill>
                <a:latin typeface="Meiryo" pitchFamily="34" charset="0"/>
                <a:ea typeface="Meiryo" pitchFamily="34" charset="-122"/>
                <a:cs typeface="Meiryo" pitchFamily="34" charset="-120"/>
              </a:rPr>
              <a:t> 日</a:t>
            </a:r>
            <a:endParaRPr lang="en-US" sz="5200" dirty="0"/>
          </a:p>
        </p:txBody>
      </p:sp>
      <p:sp>
        <p:nvSpPr>
          <p:cNvPr id="11" name="Text 9"/>
          <p:cNvSpPr txBox="1"/>
          <p:nvPr/>
        </p:nvSpPr>
        <p:spPr>
          <a:xfrm>
            <a:off x="3675888" y="2880360"/>
            <a:ext cx="2148840" cy="868680"/>
          </a:xfrm>
          <a:prstGeom prst="rect">
            <a:avLst/>
          </a:prstGeom>
          <a:noFill/>
          <a:ln/>
        </p:spPr>
        <p:txBody>
          <a:bodyPr wrap="square" lIns="0" tIns="0" rIns="0" bIns="0" rtlCol="0" anchor="t"/>
          <a:lstStyle/>
          <a:p>
            <a:pPr indent="0" marL="0">
              <a:lnSpc>
                <a:spcPts val="1800"/>
              </a:lnSpc>
              <a:buNone/>
            </a:pPr>
            <a:r>
              <a:rPr lang="en-US" sz="1200" dirty="0">
                <a:solidFill>
                  <a:srgbClr val="1F2430"/>
                </a:solidFill>
                <a:latin typeface="Meiryo" pitchFamily="34" charset="0"/>
                <a:ea typeface="Meiryo" pitchFamily="34" charset="-122"/>
                <a:cs typeface="Meiryo" pitchFamily="34" charset="-120"/>
              </a:rPr>
              <a:t>依頼から実施までの日数（中央値）</a:t>
            </a:r>
            <a:endParaRPr lang="en-US" sz="1200" dirty="0"/>
          </a:p>
        </p:txBody>
      </p:sp>
      <p:sp>
        <p:nvSpPr>
          <p:cNvPr id="12" name="Shape 10"/>
          <p:cNvSpPr/>
          <p:nvPr/>
        </p:nvSpPr>
        <p:spPr>
          <a:xfrm>
            <a:off x="6254496" y="1600200"/>
            <a:ext cx="2606040" cy="2286000"/>
          </a:xfrm>
          <a:prstGeom prst="roundRect">
            <a:avLst>
              <a:gd name="adj" fmla="val 2400"/>
            </a:avLst>
          </a:prstGeom>
          <a:solidFill>
            <a:srgbClr val="F2F4F8"/>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13" name="Text 11"/>
          <p:cNvSpPr txBox="1"/>
          <p:nvPr/>
        </p:nvSpPr>
        <p:spPr>
          <a:xfrm>
            <a:off x="6483096" y="1783080"/>
            <a:ext cx="2148840" cy="1097280"/>
          </a:xfrm>
          <a:prstGeom prst="rect">
            <a:avLst/>
          </a:prstGeom>
          <a:noFill/>
          <a:ln/>
        </p:spPr>
        <p:txBody>
          <a:bodyPr wrap="square" lIns="0" tIns="0" rIns="0" bIns="0" rtlCol="0" anchor="ctr"/>
          <a:lstStyle/>
          <a:p>
            <a:pPr algn="l" indent="0" marL="0">
              <a:buNone/>
            </a:pPr>
            <a:r>
              <a:rPr lang="en-US" sz="5200" b="1" dirty="0">
                <a:solidFill>
                  <a:srgbClr val="B5326A"/>
                </a:solidFill>
                <a:latin typeface="Meiryo" pitchFamily="34" charset="0"/>
                <a:ea typeface="Meiryo" pitchFamily="34" charset="-122"/>
                <a:cs typeface="Meiryo" pitchFamily="34" charset="-120"/>
              </a:rPr>
              <a:t>5</a:t>
            </a:r>
            <a:pPr algn="l" indent="0" marL="0">
              <a:buNone/>
            </a:pPr>
            <a:r>
              <a:rPr lang="en-US" sz="1500" b="1" dirty="0">
                <a:solidFill>
                  <a:srgbClr val="B5326A"/>
                </a:solidFill>
                <a:latin typeface="Meiryo" pitchFamily="34" charset="0"/>
                <a:ea typeface="Meiryo" pitchFamily="34" charset="-122"/>
                <a:cs typeface="Meiryo" pitchFamily="34" charset="-120"/>
              </a:rPr>
              <a:t> 件</a:t>
            </a:r>
            <a:endParaRPr lang="en-US" sz="5200" dirty="0"/>
          </a:p>
        </p:txBody>
      </p:sp>
      <p:sp>
        <p:nvSpPr>
          <p:cNvPr id="14" name="Text 12"/>
          <p:cNvSpPr txBox="1"/>
          <p:nvPr/>
        </p:nvSpPr>
        <p:spPr>
          <a:xfrm>
            <a:off x="6483096" y="2880360"/>
            <a:ext cx="2148840" cy="868680"/>
          </a:xfrm>
          <a:prstGeom prst="rect">
            <a:avLst/>
          </a:prstGeom>
          <a:noFill/>
          <a:ln/>
        </p:spPr>
        <p:txBody>
          <a:bodyPr wrap="square" lIns="0" tIns="0" rIns="0" bIns="0" rtlCol="0" anchor="t"/>
          <a:lstStyle/>
          <a:p>
            <a:pPr indent="0" marL="0">
              <a:lnSpc>
                <a:spcPts val="1800"/>
              </a:lnSpc>
              <a:buNone/>
            </a:pPr>
            <a:r>
              <a:rPr lang="en-US" sz="1200" dirty="0">
                <a:solidFill>
                  <a:srgbClr val="1F2430"/>
                </a:solidFill>
                <a:latin typeface="Meiryo" pitchFamily="34" charset="0"/>
                <a:ea typeface="Meiryo" pitchFamily="34" charset="-122"/>
                <a:cs typeface="Meiryo" pitchFamily="34" charset="-120"/>
              </a:rPr>
              <a:t>再予約に至らず未受検のまま脱落</a:t>
            </a:r>
            <a:endParaRPr lang="en-US" sz="1200" dirty="0"/>
          </a:p>
        </p:txBody>
      </p:sp>
      <p:sp>
        <p:nvSpPr>
          <p:cNvPr id="15" name="Shape 13"/>
          <p:cNvSpPr/>
          <p:nvPr/>
        </p:nvSpPr>
        <p:spPr>
          <a:xfrm>
            <a:off x="9061704" y="1600200"/>
            <a:ext cx="2606040" cy="2286000"/>
          </a:xfrm>
          <a:prstGeom prst="roundRect">
            <a:avLst>
              <a:gd name="adj" fmla="val 2400"/>
            </a:avLst>
          </a:prstGeom>
          <a:solidFill>
            <a:srgbClr val="F2F4F8"/>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16" name="Text 14"/>
          <p:cNvSpPr txBox="1"/>
          <p:nvPr/>
        </p:nvSpPr>
        <p:spPr>
          <a:xfrm>
            <a:off x="9290304" y="1783080"/>
            <a:ext cx="2148840" cy="1097280"/>
          </a:xfrm>
          <a:prstGeom prst="rect">
            <a:avLst/>
          </a:prstGeom>
          <a:noFill/>
          <a:ln/>
        </p:spPr>
        <p:txBody>
          <a:bodyPr wrap="square" lIns="0" tIns="0" rIns="0" bIns="0" rtlCol="0" anchor="ctr"/>
          <a:lstStyle/>
          <a:p>
            <a:pPr algn="l" indent="0" marL="0">
              <a:buNone/>
            </a:pPr>
            <a:r>
              <a:rPr lang="en-US" sz="5200" b="1" dirty="0">
                <a:solidFill>
                  <a:srgbClr val="1B9AAA"/>
                </a:solidFill>
                <a:latin typeface="Meiryo" pitchFamily="34" charset="0"/>
                <a:ea typeface="Meiryo" pitchFamily="34" charset="-122"/>
                <a:cs typeface="Meiryo" pitchFamily="34" charset="-120"/>
              </a:rPr>
              <a:t>41</a:t>
            </a:r>
            <a:pPr algn="l" indent="0" marL="0">
              <a:buNone/>
            </a:pPr>
            <a:r>
              <a:rPr lang="en-US" sz="1500" b="1" dirty="0">
                <a:solidFill>
                  <a:srgbClr val="1B9AAA"/>
                </a:solidFill>
                <a:latin typeface="Meiryo" pitchFamily="34" charset="0"/>
                <a:ea typeface="Meiryo" pitchFamily="34" charset="-122"/>
                <a:cs typeface="Meiryo" pitchFamily="34" charset="-120"/>
              </a:rPr>
              <a:t> %</a:t>
            </a:r>
            <a:endParaRPr lang="en-US" sz="5200" dirty="0"/>
          </a:p>
        </p:txBody>
      </p:sp>
      <p:sp>
        <p:nvSpPr>
          <p:cNvPr id="17" name="Text 15"/>
          <p:cNvSpPr txBox="1"/>
          <p:nvPr/>
        </p:nvSpPr>
        <p:spPr>
          <a:xfrm>
            <a:off x="9290304" y="2880360"/>
            <a:ext cx="2148840" cy="868680"/>
          </a:xfrm>
          <a:prstGeom prst="rect">
            <a:avLst/>
          </a:prstGeom>
          <a:noFill/>
          <a:ln/>
        </p:spPr>
        <p:txBody>
          <a:bodyPr wrap="square" lIns="0" tIns="0" rIns="0" bIns="0" rtlCol="0" anchor="t"/>
          <a:lstStyle/>
          <a:p>
            <a:pPr indent="0" marL="0">
              <a:lnSpc>
                <a:spcPts val="1800"/>
              </a:lnSpc>
              <a:buNone/>
            </a:pPr>
            <a:r>
              <a:rPr lang="en-US" sz="1200" dirty="0">
                <a:solidFill>
                  <a:srgbClr val="1F2430"/>
                </a:solidFill>
                <a:latin typeface="Meiryo" pitchFamily="34" charset="0"/>
                <a:ea typeface="Meiryo" pitchFamily="34" charset="-122"/>
                <a:cs typeface="Meiryo" pitchFamily="34" charset="-120"/>
              </a:rPr>
              <a:t>延期症例のうち頭部MRIが占める割合</a:t>
            </a:r>
            <a:endParaRPr lang="en-US" sz="1200" dirty="0"/>
          </a:p>
        </p:txBody>
      </p:sp>
      <p:sp>
        <p:nvSpPr>
          <p:cNvPr id="18" name="Shape 16"/>
          <p:cNvSpPr/>
          <p:nvPr/>
        </p:nvSpPr>
        <p:spPr>
          <a:xfrm>
            <a:off x="640080" y="4160520"/>
            <a:ext cx="10908792" cy="1325880"/>
          </a:xfrm>
          <a:prstGeom prst="roundRect">
            <a:avLst>
              <a:gd name="adj" fmla="val 4138"/>
            </a:avLst>
          </a:prstGeom>
          <a:solidFill>
            <a:srgbClr val="FBF1F5"/>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19" name="Text 17"/>
          <p:cNvSpPr txBox="1"/>
          <p:nvPr/>
        </p:nvSpPr>
        <p:spPr>
          <a:xfrm>
            <a:off x="960120" y="4343400"/>
            <a:ext cx="10268712" cy="365760"/>
          </a:xfrm>
          <a:prstGeom prst="rect">
            <a:avLst/>
          </a:prstGeom>
          <a:noFill/>
          <a:ln/>
        </p:spPr>
        <p:txBody>
          <a:bodyPr wrap="square" lIns="0" tIns="0" rIns="0" bIns="0" rtlCol="0" anchor="ctr"/>
          <a:lstStyle/>
          <a:p>
            <a:pPr indent="0" marL="0">
              <a:buNone/>
            </a:pPr>
            <a:r>
              <a:rPr lang="en-US" sz="1600" b="1" dirty="0">
                <a:solidFill>
                  <a:srgbClr val="B5326A"/>
                </a:solidFill>
                <a:latin typeface="Meiryo" pitchFamily="34" charset="0"/>
                <a:ea typeface="Meiryo" pitchFamily="34" charset="-122"/>
                <a:cs typeface="Meiryo" pitchFamily="34" charset="-120"/>
              </a:rPr>
              <a:t>損失の中身は「検査が実施されない」ことではなく、診断が遅れること・患者が二度来ること</a:t>
            </a:r>
            <a:endParaRPr lang="en-US" sz="1600" dirty="0"/>
          </a:p>
        </p:txBody>
      </p:sp>
      <p:sp>
        <p:nvSpPr>
          <p:cNvPr id="20" name="Text 18"/>
          <p:cNvSpPr txBox="1"/>
          <p:nvPr/>
        </p:nvSpPr>
        <p:spPr>
          <a:xfrm>
            <a:off x="960120" y="4754880"/>
            <a:ext cx="10268712" cy="594360"/>
          </a:xfrm>
          <a:prstGeom prst="rect">
            <a:avLst/>
          </a:prstGeom>
          <a:noFill/>
          <a:ln/>
        </p:spPr>
        <p:txBody>
          <a:bodyPr wrap="square" lIns="0" tIns="0" rIns="0" bIns="0" rtlCol="0" anchor="ctr"/>
          <a:lstStyle/>
          <a:p>
            <a:pPr indent="0" marL="0">
              <a:lnSpc>
                <a:spcPts val="1900"/>
              </a:lnSpc>
              <a:buNone/>
            </a:pPr>
            <a:r>
              <a:rPr lang="en-US" sz="1250" dirty="0">
                <a:solidFill>
                  <a:srgbClr val="1F2430"/>
                </a:solidFill>
                <a:latin typeface="Meiryo" pitchFamily="34" charset="0"/>
                <a:ea typeface="Meiryo" pitchFamily="34" charset="-122"/>
                <a:cs typeface="Meiryo" pitchFamily="34" charset="-120"/>
              </a:rPr>
              <a:t>さらに、延期後に再予約されず未受検のまま終わった例が存在する。安全のための運用が「未受検」という別のリスクを生んでいる可能性がある。</a:t>
            </a:r>
            <a:endParaRPr lang="en-US" sz="1250" dirty="0"/>
          </a:p>
        </p:txBody>
      </p:sp>
      <p:sp>
        <p:nvSpPr>
          <p:cNvPr id="21" name="Text 19"/>
          <p:cNvSpPr txBox="1"/>
          <p:nvPr/>
        </p:nvSpPr>
        <p:spPr>
          <a:xfrm>
            <a:off x="640080" y="6345936"/>
            <a:ext cx="8897112" cy="274320"/>
          </a:xfrm>
          <a:prstGeom prst="rect">
            <a:avLst/>
          </a:prstGeom>
          <a:noFill/>
          <a:ln/>
        </p:spPr>
        <p:txBody>
          <a:bodyPr wrap="square" lIns="0" tIns="0" rIns="0" bIns="0" rtlCol="0" anchor="ctr"/>
          <a:lstStyle/>
          <a:p>
            <a:pPr indent="0" marL="0">
              <a:buNone/>
            </a:pPr>
            <a:r>
              <a:rPr lang="en-US" sz="1000" dirty="0">
                <a:solidFill>
                  <a:srgbClr val="6B7280"/>
                </a:solidFill>
                <a:latin typeface="Meiryo" pitchFamily="34" charset="0"/>
                <a:ea typeface="Meiryo" pitchFamily="34" charset="-122"/>
                <a:cs typeface="Meiryo" pitchFamily="34" charset="-120"/>
              </a:rPr>
              <a:t>出典：自施設 20XX年度 予約・実施記録の後ろ向き集計</a:t>
            </a:r>
            <a:endParaRPr lang="en-US" sz="1000" dirty="0"/>
          </a:p>
        </p:txBody>
      </p:sp>
      <p:sp>
        <p:nvSpPr>
          <p:cNvPr id="22" name="Shape 20"/>
          <p:cNvSpPr/>
          <p:nvPr/>
        </p:nvSpPr>
        <p:spPr>
          <a:xfrm>
            <a:off x="9674352" y="6327648"/>
            <a:ext cx="1417320" cy="274320"/>
          </a:xfrm>
          <a:prstGeom prst="roundRect">
            <a:avLst>
              <a:gd name="adj" fmla="val 46667"/>
            </a:avLst>
          </a:prstGeom>
          <a:solidFill>
            <a:srgbClr val="FDF3E3"/>
          </a:solidFill>
          <a:ln w="9525">
            <a:solidFill>
              <a:srgbClr val="C2700F"/>
            </a:solidFill>
            <a:prstDash val="solid"/>
          </a:ln>
        </p:spPr>
      </p:sp>
      <p:sp>
        <p:nvSpPr>
          <p:cNvPr id="23" name="Text 21"/>
          <p:cNvSpPr txBox="1"/>
          <p:nvPr/>
        </p:nvSpPr>
        <p:spPr>
          <a:xfrm>
            <a:off x="9674352" y="6327648"/>
            <a:ext cx="1417320" cy="274320"/>
          </a:xfrm>
          <a:prstGeom prst="rect">
            <a:avLst/>
          </a:prstGeom>
          <a:noFill/>
          <a:ln/>
        </p:spPr>
        <p:txBody>
          <a:bodyPr wrap="square" lIns="0" tIns="0" rIns="0" bIns="0" rtlCol="0" anchor="ctr"/>
          <a:lstStyle/>
          <a:p>
            <a:pPr algn="ctr" indent="0" marL="0">
              <a:buNone/>
            </a:pPr>
            <a:r>
              <a:rPr lang="en-US" sz="1000" b="1" dirty="0">
                <a:solidFill>
                  <a:srgbClr val="C2700F"/>
                </a:solidFill>
                <a:latin typeface="Meiryo" pitchFamily="34" charset="0"/>
                <a:ea typeface="Meiryo" pitchFamily="34" charset="-122"/>
                <a:cs typeface="Meiryo" pitchFamily="34" charset="-120"/>
              </a:rPr>
              <a:t>ダミー値</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384048"/>
            <a:ext cx="9902952" cy="256032"/>
          </a:xfrm>
          <a:prstGeom prst="rect">
            <a:avLst/>
          </a:prstGeom>
          <a:noFill/>
          <a:ln/>
        </p:spPr>
        <p:txBody>
          <a:bodyPr wrap="square" lIns="0" tIns="0" rIns="0" bIns="0" rtlCol="0" anchor="ctr"/>
          <a:lstStyle/>
          <a:p>
            <a:pPr indent="0" marL="0">
              <a:buNone/>
            </a:pPr>
            <a:r>
              <a:rPr lang="en-US" sz="1200" b="1" spc="200" kern="0" dirty="0">
                <a:solidFill>
                  <a:srgbClr val="1B9AAA"/>
                </a:solidFill>
                <a:latin typeface="Meiryo" pitchFamily="34" charset="0"/>
                <a:ea typeface="Meiryo" pitchFamily="34" charset="-122"/>
                <a:cs typeface="Meiryo" pitchFamily="34" charset="-120"/>
              </a:rPr>
              <a:t>現状</a:t>
            </a:r>
            <a:endParaRPr lang="en-US" sz="1200" dirty="0"/>
          </a:p>
        </p:txBody>
      </p:sp>
      <p:sp>
        <p:nvSpPr>
          <p:cNvPr id="3" name="Text 1"/>
          <p:cNvSpPr txBox="1"/>
          <p:nvPr/>
        </p:nvSpPr>
        <p:spPr>
          <a:xfrm>
            <a:off x="640080" y="658368"/>
            <a:ext cx="9902952" cy="731520"/>
          </a:xfrm>
          <a:prstGeom prst="rect">
            <a:avLst/>
          </a:prstGeom>
          <a:noFill/>
          <a:ln/>
        </p:spPr>
        <p:txBody>
          <a:bodyPr wrap="square" lIns="0" tIns="0" rIns="0" bIns="0" rtlCol="0" anchor="t"/>
          <a:lstStyle/>
          <a:p>
            <a:pPr indent="0" marL="0">
              <a:buNone/>
            </a:pPr>
            <a:r>
              <a:rPr lang="en-US" sz="3000" b="1" dirty="0">
                <a:solidFill>
                  <a:srgbClr val="0F1626"/>
                </a:solidFill>
                <a:latin typeface="Meiryo" pitchFamily="34" charset="0"/>
                <a:ea typeface="Meiryo" pitchFamily="34" charset="-122"/>
                <a:cs typeface="Meiryo" pitchFamily="34" charset="-120"/>
              </a:rPr>
              <a:t>同じ物理現象に、施設ごとに違う答えが出ている</a:t>
            </a:r>
            <a:endParaRPr lang="en-US" sz="3000" dirty="0"/>
          </a:p>
        </p:txBody>
      </p:sp>
      <p:sp>
        <p:nvSpPr>
          <p:cNvPr id="4" name="Shape 2"/>
          <p:cNvSpPr/>
          <p:nvPr/>
        </p:nvSpPr>
        <p:spPr>
          <a:xfrm>
            <a:off x="11073384" y="457200"/>
            <a:ext cx="475488" cy="475488"/>
          </a:xfrm>
          <a:prstGeom prst="ellipse">
            <a:avLst/>
          </a:prstGeom>
          <a:solidFill>
            <a:srgbClr val="F2F4F8"/>
          </a:solidFill>
          <a:ln w="12700">
            <a:solidFill>
              <a:srgbClr val="FFFFFF"/>
            </a:solidFill>
            <a:prstDash val="solid"/>
          </a:ln>
        </p:spPr>
      </p:sp>
      <p:sp>
        <p:nvSpPr>
          <p:cNvPr id="5" name="Text 3"/>
          <p:cNvSpPr txBox="1"/>
          <p:nvPr/>
        </p:nvSpPr>
        <p:spPr>
          <a:xfrm>
            <a:off x="11073384" y="457200"/>
            <a:ext cx="475488" cy="475488"/>
          </a:xfrm>
          <a:prstGeom prst="rect">
            <a:avLst/>
          </a:prstGeom>
          <a:noFill/>
          <a:ln/>
        </p:spPr>
        <p:txBody>
          <a:bodyPr wrap="square" lIns="0" tIns="0" rIns="0" bIns="0" rtlCol="0" anchor="ctr"/>
          <a:lstStyle/>
          <a:p>
            <a:pPr algn="ctr" indent="0" marL="0">
              <a:buNone/>
            </a:pPr>
            <a:r>
              <a:rPr lang="en-US" sz="1300" b="1" dirty="0">
                <a:solidFill>
                  <a:srgbClr val="2E3A59"/>
                </a:solidFill>
                <a:latin typeface="Meiryo" pitchFamily="34" charset="0"/>
                <a:ea typeface="Meiryo" pitchFamily="34" charset="-122"/>
                <a:cs typeface="Meiryo" pitchFamily="34" charset="-120"/>
              </a:rPr>
              <a:t>3</a:t>
            </a:r>
            <a:endParaRPr lang="en-US" sz="1300" dirty="0"/>
          </a:p>
        </p:txBody>
      </p:sp>
      <p:sp>
        <p:nvSpPr>
          <p:cNvPr id="6" name="Shape 4"/>
          <p:cNvSpPr/>
          <p:nvPr/>
        </p:nvSpPr>
        <p:spPr>
          <a:xfrm>
            <a:off x="640080" y="1645920"/>
            <a:ext cx="3474720" cy="2331720"/>
          </a:xfrm>
          <a:prstGeom prst="roundRect">
            <a:avLst>
              <a:gd name="adj" fmla="val 2353"/>
            </a:avLst>
          </a:prstGeom>
          <a:solidFill>
            <a:srgbClr val="F2F4F8"/>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7" name="Shape 5"/>
          <p:cNvSpPr/>
          <p:nvPr/>
        </p:nvSpPr>
        <p:spPr>
          <a:xfrm>
            <a:off x="914400" y="1920240"/>
            <a:ext cx="420624" cy="420624"/>
          </a:xfrm>
          <a:prstGeom prst="ellipse">
            <a:avLst/>
          </a:prstGeom>
          <a:solidFill>
            <a:srgbClr val="B5326A"/>
          </a:solidFill>
          <a:ln w="12700">
            <a:solidFill>
              <a:srgbClr val="FFFFFF"/>
            </a:solidFill>
            <a:prstDash val="solid"/>
          </a:ln>
        </p:spPr>
      </p:sp>
      <p:sp>
        <p:nvSpPr>
          <p:cNvPr id="8" name="Text 6"/>
          <p:cNvSpPr txBox="1"/>
          <p:nvPr/>
        </p:nvSpPr>
        <p:spPr>
          <a:xfrm>
            <a:off x="1463040" y="1920240"/>
            <a:ext cx="2377440" cy="420624"/>
          </a:xfrm>
          <a:prstGeom prst="rect">
            <a:avLst/>
          </a:prstGeom>
          <a:noFill/>
          <a:ln/>
        </p:spPr>
        <p:txBody>
          <a:bodyPr wrap="square" lIns="0" tIns="0" rIns="0" bIns="0" rtlCol="0" anchor="ctr"/>
          <a:lstStyle/>
          <a:p>
            <a:pPr indent="0" marL="0">
              <a:buNone/>
            </a:pPr>
            <a:r>
              <a:rPr lang="en-US" sz="1600" b="1" dirty="0">
                <a:solidFill>
                  <a:srgbClr val="0F1626"/>
                </a:solidFill>
                <a:latin typeface="Meiryo" pitchFamily="34" charset="0"/>
                <a:ea typeface="Meiryo" pitchFamily="34" charset="-122"/>
                <a:cs typeface="Meiryo" pitchFamily="34" charset="-120"/>
              </a:rPr>
              <a:t>A 病院</a:t>
            </a:r>
            <a:endParaRPr lang="en-US" sz="1600" dirty="0"/>
          </a:p>
        </p:txBody>
      </p:sp>
      <p:sp>
        <p:nvSpPr>
          <p:cNvPr id="9" name="Text 7"/>
          <p:cNvSpPr txBox="1"/>
          <p:nvPr/>
        </p:nvSpPr>
        <p:spPr>
          <a:xfrm>
            <a:off x="914400" y="2514600"/>
            <a:ext cx="2926080" cy="1280160"/>
          </a:xfrm>
          <a:prstGeom prst="rect">
            <a:avLst/>
          </a:prstGeom>
          <a:noFill/>
          <a:ln/>
        </p:spPr>
        <p:txBody>
          <a:bodyPr wrap="square" lIns="0" tIns="0" rIns="0" bIns="0" rtlCol="0" anchor="t"/>
          <a:lstStyle/>
          <a:p>
            <a:pPr indent="0" marL="0">
              <a:lnSpc>
                <a:spcPts val="2000"/>
              </a:lnSpc>
              <a:buNone/>
            </a:pPr>
            <a:r>
              <a:rPr lang="en-US" sz="1250" dirty="0">
                <a:solidFill>
                  <a:srgbClr val="1F2430"/>
                </a:solidFill>
                <a:latin typeface="Meiryo" pitchFamily="34" charset="0"/>
                <a:ea typeface="Meiryo" pitchFamily="34" charset="-122"/>
                <a:cs typeface="Meiryo" pitchFamily="34" charset="-120"/>
              </a:rPr>
              <a:t>マグネットネイル装着者は</a:t>
            </a:r>
            <a:endParaRPr lang="en-US" sz="1250" dirty="0"/>
          </a:p>
          <a:p>
            <a:pPr indent="0" marL="0">
              <a:lnSpc>
                <a:spcPts val="2000"/>
              </a:lnSpc>
              <a:buNone/>
            </a:pPr>
            <a:r>
              <a:rPr lang="en-US" sz="1250" dirty="0">
                <a:solidFill>
                  <a:srgbClr val="1F2430"/>
                </a:solidFill>
                <a:latin typeface="Meiryo" pitchFamily="34" charset="0"/>
                <a:ea typeface="Meiryo" pitchFamily="34" charset="-122"/>
                <a:cs typeface="Meiryo" pitchFamily="34" charset="-120"/>
              </a:rPr>
              <a:t>原則としてMRI検査を実施せず、</a:t>
            </a:r>
            <a:endParaRPr lang="en-US" sz="1250" dirty="0"/>
          </a:p>
          <a:p>
            <a:pPr indent="0" marL="0">
              <a:lnSpc>
                <a:spcPts val="2000"/>
              </a:lnSpc>
              <a:buNone/>
            </a:pPr>
            <a:r>
              <a:rPr lang="en-US" sz="1250" dirty="0">
                <a:solidFill>
                  <a:srgbClr val="1F2430"/>
                </a:solidFill>
                <a:latin typeface="Meiryo" pitchFamily="34" charset="0"/>
                <a:ea typeface="Meiryo" pitchFamily="34" charset="-122"/>
                <a:cs typeface="Meiryo" pitchFamily="34" charset="-120"/>
              </a:rPr>
              <a:t>除去後に再予約</a:t>
            </a:r>
            <a:endParaRPr lang="en-US" sz="1250" dirty="0"/>
          </a:p>
        </p:txBody>
      </p:sp>
      <p:sp>
        <p:nvSpPr>
          <p:cNvPr id="10" name="Shape 8"/>
          <p:cNvSpPr/>
          <p:nvPr/>
        </p:nvSpPr>
        <p:spPr>
          <a:xfrm>
            <a:off x="4407408" y="1645920"/>
            <a:ext cx="3474720" cy="2331720"/>
          </a:xfrm>
          <a:prstGeom prst="roundRect">
            <a:avLst>
              <a:gd name="adj" fmla="val 2353"/>
            </a:avLst>
          </a:prstGeom>
          <a:solidFill>
            <a:srgbClr val="F2F4F8"/>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11" name="Shape 9"/>
          <p:cNvSpPr/>
          <p:nvPr/>
        </p:nvSpPr>
        <p:spPr>
          <a:xfrm>
            <a:off x="4681728" y="1920240"/>
            <a:ext cx="420624" cy="420624"/>
          </a:xfrm>
          <a:prstGeom prst="ellipse">
            <a:avLst/>
          </a:prstGeom>
          <a:solidFill>
            <a:srgbClr val="1B9AAA"/>
          </a:solidFill>
          <a:ln w="12700">
            <a:solidFill>
              <a:srgbClr val="FFFFFF"/>
            </a:solidFill>
            <a:prstDash val="solid"/>
          </a:ln>
        </p:spPr>
      </p:sp>
      <p:sp>
        <p:nvSpPr>
          <p:cNvPr id="12" name="Text 10"/>
          <p:cNvSpPr txBox="1"/>
          <p:nvPr/>
        </p:nvSpPr>
        <p:spPr>
          <a:xfrm>
            <a:off x="5230368" y="1920240"/>
            <a:ext cx="2377440" cy="420624"/>
          </a:xfrm>
          <a:prstGeom prst="rect">
            <a:avLst/>
          </a:prstGeom>
          <a:noFill/>
          <a:ln/>
        </p:spPr>
        <p:txBody>
          <a:bodyPr wrap="square" lIns="0" tIns="0" rIns="0" bIns="0" rtlCol="0" anchor="ctr"/>
          <a:lstStyle/>
          <a:p>
            <a:pPr indent="0" marL="0">
              <a:buNone/>
            </a:pPr>
            <a:r>
              <a:rPr lang="en-US" sz="1600" b="1" dirty="0">
                <a:solidFill>
                  <a:srgbClr val="0F1626"/>
                </a:solidFill>
                <a:latin typeface="Meiryo" pitchFamily="34" charset="0"/>
                <a:ea typeface="Meiryo" pitchFamily="34" charset="-122"/>
                <a:cs typeface="Meiryo" pitchFamily="34" charset="-120"/>
              </a:rPr>
              <a:t>B 病院</a:t>
            </a:r>
            <a:endParaRPr lang="en-US" sz="1600" dirty="0"/>
          </a:p>
        </p:txBody>
      </p:sp>
      <p:sp>
        <p:nvSpPr>
          <p:cNvPr id="13" name="Text 11"/>
          <p:cNvSpPr txBox="1"/>
          <p:nvPr/>
        </p:nvSpPr>
        <p:spPr>
          <a:xfrm>
            <a:off x="4681728" y="2514600"/>
            <a:ext cx="2926080" cy="1280160"/>
          </a:xfrm>
          <a:prstGeom prst="rect">
            <a:avLst/>
          </a:prstGeom>
          <a:noFill/>
          <a:ln/>
        </p:spPr>
        <p:txBody>
          <a:bodyPr wrap="square" lIns="0" tIns="0" rIns="0" bIns="0" rtlCol="0" anchor="t"/>
          <a:lstStyle/>
          <a:p>
            <a:pPr indent="0" marL="0">
              <a:lnSpc>
                <a:spcPts val="2000"/>
              </a:lnSpc>
              <a:buNone/>
            </a:pPr>
            <a:r>
              <a:rPr lang="en-US" sz="1250" dirty="0">
                <a:solidFill>
                  <a:srgbClr val="1F2430"/>
                </a:solidFill>
                <a:latin typeface="Meiryo" pitchFamily="34" charset="0"/>
                <a:ea typeface="Meiryo" pitchFamily="34" charset="-122"/>
                <a:cs typeface="Meiryo" pitchFamily="34" charset="-120"/>
              </a:rPr>
              <a:t>追加の安全対策を行ったうえで</a:t>
            </a:r>
            <a:endParaRPr lang="en-US" sz="1250" dirty="0"/>
          </a:p>
          <a:p>
            <a:pPr indent="0" marL="0">
              <a:lnSpc>
                <a:spcPts val="2000"/>
              </a:lnSpc>
              <a:buNone/>
            </a:pPr>
            <a:r>
              <a:rPr lang="en-US" sz="1250" dirty="0">
                <a:solidFill>
                  <a:srgbClr val="1F2430"/>
                </a:solidFill>
                <a:latin typeface="Meiryo" pitchFamily="34" charset="0"/>
                <a:ea typeface="Meiryo" pitchFamily="34" charset="-122"/>
                <a:cs typeface="Meiryo" pitchFamily="34" charset="-120"/>
              </a:rPr>
              <a:t>検査を実施</a:t>
            </a:r>
            <a:endParaRPr lang="en-US" sz="1250" dirty="0"/>
          </a:p>
        </p:txBody>
      </p:sp>
      <p:sp>
        <p:nvSpPr>
          <p:cNvPr id="14" name="Shape 12"/>
          <p:cNvSpPr/>
          <p:nvPr/>
        </p:nvSpPr>
        <p:spPr>
          <a:xfrm>
            <a:off x="8174736" y="1645920"/>
            <a:ext cx="3474720" cy="2331720"/>
          </a:xfrm>
          <a:prstGeom prst="roundRect">
            <a:avLst>
              <a:gd name="adj" fmla="val 2353"/>
            </a:avLst>
          </a:prstGeom>
          <a:solidFill>
            <a:srgbClr val="F2F4F8"/>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15" name="Shape 13"/>
          <p:cNvSpPr/>
          <p:nvPr/>
        </p:nvSpPr>
        <p:spPr>
          <a:xfrm>
            <a:off x="8449056" y="1920240"/>
            <a:ext cx="420624" cy="420624"/>
          </a:xfrm>
          <a:prstGeom prst="ellipse">
            <a:avLst/>
          </a:prstGeom>
          <a:solidFill>
            <a:srgbClr val="2E3A59"/>
          </a:solidFill>
          <a:ln w="12700">
            <a:solidFill>
              <a:srgbClr val="FFFFFF"/>
            </a:solidFill>
            <a:prstDash val="solid"/>
          </a:ln>
        </p:spPr>
      </p:sp>
      <p:sp>
        <p:nvSpPr>
          <p:cNvPr id="16" name="Text 14"/>
          <p:cNvSpPr txBox="1"/>
          <p:nvPr/>
        </p:nvSpPr>
        <p:spPr>
          <a:xfrm>
            <a:off x="8997696" y="1920240"/>
            <a:ext cx="2377440" cy="420624"/>
          </a:xfrm>
          <a:prstGeom prst="rect">
            <a:avLst/>
          </a:prstGeom>
          <a:noFill/>
          <a:ln/>
        </p:spPr>
        <p:txBody>
          <a:bodyPr wrap="square" lIns="0" tIns="0" rIns="0" bIns="0" rtlCol="0" anchor="ctr"/>
          <a:lstStyle/>
          <a:p>
            <a:pPr indent="0" marL="0">
              <a:buNone/>
            </a:pPr>
            <a:r>
              <a:rPr lang="en-US" sz="1600" b="1" dirty="0">
                <a:solidFill>
                  <a:srgbClr val="0F1626"/>
                </a:solidFill>
                <a:latin typeface="Meiryo" pitchFamily="34" charset="0"/>
                <a:ea typeface="Meiryo" pitchFamily="34" charset="-122"/>
                <a:cs typeface="Meiryo" pitchFamily="34" charset="-120"/>
              </a:rPr>
              <a:t>C 病院</a:t>
            </a:r>
            <a:endParaRPr lang="en-US" sz="1600" dirty="0"/>
          </a:p>
        </p:txBody>
      </p:sp>
      <p:sp>
        <p:nvSpPr>
          <p:cNvPr id="17" name="Text 15"/>
          <p:cNvSpPr txBox="1"/>
          <p:nvPr/>
        </p:nvSpPr>
        <p:spPr>
          <a:xfrm>
            <a:off x="8449056" y="2514600"/>
            <a:ext cx="2926080" cy="1280160"/>
          </a:xfrm>
          <a:prstGeom prst="rect">
            <a:avLst/>
          </a:prstGeom>
          <a:noFill/>
          <a:ln/>
        </p:spPr>
        <p:txBody>
          <a:bodyPr wrap="square" lIns="0" tIns="0" rIns="0" bIns="0" rtlCol="0" anchor="t"/>
          <a:lstStyle/>
          <a:p>
            <a:pPr indent="0" marL="0">
              <a:lnSpc>
                <a:spcPts val="2000"/>
              </a:lnSpc>
              <a:buNone/>
            </a:pPr>
            <a:r>
              <a:rPr lang="en-US" sz="1250" dirty="0">
                <a:solidFill>
                  <a:srgbClr val="1F2430"/>
                </a:solidFill>
                <a:latin typeface="Meiryo" pitchFamily="34" charset="0"/>
                <a:ea typeface="Meiryo" pitchFamily="34" charset="-122"/>
                <a:cs typeface="Meiryo" pitchFamily="34" charset="-120"/>
              </a:rPr>
              <a:t>部位を問わず、ジェルネイルは</a:t>
            </a:r>
            <a:endParaRPr lang="en-US" sz="1250" dirty="0"/>
          </a:p>
          <a:p>
            <a:pPr indent="0" marL="0">
              <a:lnSpc>
                <a:spcPts val="2000"/>
              </a:lnSpc>
              <a:buNone/>
            </a:pPr>
            <a:r>
              <a:rPr lang="en-US" sz="1250" dirty="0">
                <a:solidFill>
                  <a:srgbClr val="1F2430"/>
                </a:solidFill>
                <a:latin typeface="Meiryo" pitchFamily="34" charset="0"/>
                <a:ea typeface="Meiryo" pitchFamily="34" charset="-122"/>
                <a:cs typeface="Meiryo" pitchFamily="34" charset="-120"/>
              </a:rPr>
              <a:t>全例除去を依頼</a:t>
            </a:r>
            <a:endParaRPr lang="en-US" sz="1250" dirty="0"/>
          </a:p>
        </p:txBody>
      </p:sp>
      <p:sp>
        <p:nvSpPr>
          <p:cNvPr id="18" name="Shape 16"/>
          <p:cNvSpPr/>
          <p:nvPr/>
        </p:nvSpPr>
        <p:spPr>
          <a:xfrm>
            <a:off x="640080" y="4297680"/>
            <a:ext cx="10908792" cy="1188720"/>
          </a:xfrm>
          <a:prstGeom prst="roundRect">
            <a:avLst>
              <a:gd name="adj" fmla="val 4615"/>
            </a:avLst>
          </a:prstGeom>
          <a:solidFill>
            <a:srgbClr val="1C2437"/>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19" name="Text 17"/>
          <p:cNvSpPr txBox="1"/>
          <p:nvPr/>
        </p:nvSpPr>
        <p:spPr>
          <a:xfrm>
            <a:off x="1005840" y="4480560"/>
            <a:ext cx="10177272" cy="365760"/>
          </a:xfrm>
          <a:prstGeom prst="rect">
            <a:avLst/>
          </a:prstGeom>
          <a:noFill/>
          <a:ln/>
        </p:spPr>
        <p:txBody>
          <a:bodyPr wrap="square" lIns="0" tIns="0" rIns="0" bIns="0" rtlCol="0" anchor="ctr"/>
          <a:lstStyle/>
          <a:p>
            <a:pPr indent="0" marL="0">
              <a:buNone/>
            </a:pPr>
            <a:r>
              <a:rPr lang="en-US" sz="1600" b="1" dirty="0">
                <a:solidFill>
                  <a:srgbClr val="FFFFFF"/>
                </a:solidFill>
                <a:latin typeface="Meiryo" pitchFamily="34" charset="0"/>
                <a:ea typeface="Meiryo" pitchFamily="34" charset="-122"/>
                <a:cs typeface="Meiryo" pitchFamily="34" charset="-120"/>
              </a:rPr>
              <a:t>対応が一致しないのは、判断の根拠となる定量データが存在しないから</a:t>
            </a:r>
            <a:endParaRPr lang="en-US" sz="1600" dirty="0"/>
          </a:p>
        </p:txBody>
      </p:sp>
      <p:sp>
        <p:nvSpPr>
          <p:cNvPr id="20" name="Text 18"/>
          <p:cNvSpPr txBox="1"/>
          <p:nvPr/>
        </p:nvSpPr>
        <p:spPr>
          <a:xfrm>
            <a:off x="1005840" y="4892040"/>
            <a:ext cx="10177272" cy="365760"/>
          </a:xfrm>
          <a:prstGeom prst="rect">
            <a:avLst/>
          </a:prstGeom>
          <a:noFill/>
          <a:ln/>
        </p:spPr>
        <p:txBody>
          <a:bodyPr wrap="square" lIns="0" tIns="0" rIns="0" bIns="0" rtlCol="0" anchor="ctr"/>
          <a:lstStyle/>
          <a:p>
            <a:pPr indent="0" marL="0">
              <a:buNone/>
            </a:pPr>
            <a:r>
              <a:rPr lang="en-US" sz="1250" dirty="0">
                <a:solidFill>
                  <a:srgbClr val="C9D2E0"/>
                </a:solidFill>
                <a:latin typeface="Meiryo" pitchFamily="34" charset="0"/>
                <a:ea typeface="Meiryo" pitchFamily="34" charset="-122"/>
                <a:cs typeface="Meiryo" pitchFamily="34" charset="-120"/>
              </a:rPr>
              <a:t>各施設は「危ないかもしれない」という推定のもとで、それぞれ安全側に倒した運用を組んでいる。</a:t>
            </a:r>
            <a:endParaRPr lang="en-US" sz="1250" dirty="0"/>
          </a:p>
        </p:txBody>
      </p:sp>
      <p:sp>
        <p:nvSpPr>
          <p:cNvPr id="21" name="Text 19"/>
          <p:cNvSpPr txBox="1"/>
          <p:nvPr/>
        </p:nvSpPr>
        <p:spPr>
          <a:xfrm>
            <a:off x="640080" y="6345936"/>
            <a:ext cx="8897112" cy="274320"/>
          </a:xfrm>
          <a:prstGeom prst="rect">
            <a:avLst/>
          </a:prstGeom>
          <a:noFill/>
          <a:ln/>
        </p:spPr>
        <p:txBody>
          <a:bodyPr wrap="square" lIns="0" tIns="0" rIns="0" bIns="0" rtlCol="0" anchor="ctr"/>
          <a:lstStyle/>
          <a:p>
            <a:pPr indent="0" marL="0">
              <a:buNone/>
            </a:pPr>
            <a:r>
              <a:rPr lang="en-US" sz="1000" dirty="0">
                <a:solidFill>
                  <a:srgbClr val="6B7280"/>
                </a:solidFill>
                <a:latin typeface="Meiryo" pitchFamily="34" charset="0"/>
                <a:ea typeface="Meiryo" pitchFamily="34" charset="-122"/>
                <a:cs typeface="Meiryo" pitchFamily="34" charset="-120"/>
              </a:rPr>
              <a:t>各院が公開している注意喚起文書より（発表時は出典を明記）</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384048"/>
            <a:ext cx="9902952" cy="256032"/>
          </a:xfrm>
          <a:prstGeom prst="rect">
            <a:avLst/>
          </a:prstGeom>
          <a:noFill/>
          <a:ln/>
        </p:spPr>
        <p:txBody>
          <a:bodyPr wrap="square" lIns="0" tIns="0" rIns="0" bIns="0" rtlCol="0" anchor="ctr"/>
          <a:lstStyle/>
          <a:p>
            <a:pPr indent="0" marL="0">
              <a:buNone/>
            </a:pPr>
            <a:r>
              <a:rPr lang="en-US" sz="1200" b="1" spc="200" kern="0" dirty="0">
                <a:solidFill>
                  <a:srgbClr val="1B9AAA"/>
                </a:solidFill>
                <a:latin typeface="Meiryo" pitchFamily="34" charset="0"/>
                <a:ea typeface="Meiryo" pitchFamily="34" charset="-122"/>
                <a:cs typeface="Meiryo" pitchFamily="34" charset="-120"/>
              </a:rPr>
              <a:t>背景</a:t>
            </a:r>
            <a:endParaRPr lang="en-US" sz="1200" dirty="0"/>
          </a:p>
        </p:txBody>
      </p:sp>
      <p:sp>
        <p:nvSpPr>
          <p:cNvPr id="3" name="Text 1"/>
          <p:cNvSpPr txBox="1"/>
          <p:nvPr/>
        </p:nvSpPr>
        <p:spPr>
          <a:xfrm>
            <a:off x="640080" y="658368"/>
            <a:ext cx="9902952" cy="731520"/>
          </a:xfrm>
          <a:prstGeom prst="rect">
            <a:avLst/>
          </a:prstGeom>
          <a:noFill/>
          <a:ln/>
        </p:spPr>
        <p:txBody>
          <a:bodyPr wrap="square" lIns="0" tIns="0" rIns="0" bIns="0" rtlCol="0" anchor="t"/>
          <a:lstStyle/>
          <a:p>
            <a:pPr indent="0" marL="0">
              <a:buNone/>
            </a:pPr>
            <a:r>
              <a:rPr lang="en-US" sz="3000" b="1" dirty="0">
                <a:solidFill>
                  <a:srgbClr val="0F1626"/>
                </a:solidFill>
                <a:latin typeface="Meiryo" pitchFamily="34" charset="0"/>
                <a:ea typeface="Meiryo" pitchFamily="34" charset="-122"/>
                <a:cs typeface="Meiryo" pitchFamily="34" charset="-120"/>
              </a:rPr>
              <a:t>磁性粉が「揃ったまま」固まるのがマグネットネイル</a:t>
            </a:r>
            <a:endParaRPr lang="en-US" sz="3000" dirty="0"/>
          </a:p>
        </p:txBody>
      </p:sp>
      <p:sp>
        <p:nvSpPr>
          <p:cNvPr id="4" name="Shape 2"/>
          <p:cNvSpPr/>
          <p:nvPr/>
        </p:nvSpPr>
        <p:spPr>
          <a:xfrm>
            <a:off x="11073384" y="457200"/>
            <a:ext cx="475488" cy="475488"/>
          </a:xfrm>
          <a:prstGeom prst="ellipse">
            <a:avLst/>
          </a:prstGeom>
          <a:solidFill>
            <a:srgbClr val="F2F4F8"/>
          </a:solidFill>
          <a:ln w="12700">
            <a:solidFill>
              <a:srgbClr val="FFFFFF"/>
            </a:solidFill>
            <a:prstDash val="solid"/>
          </a:ln>
        </p:spPr>
      </p:sp>
      <p:sp>
        <p:nvSpPr>
          <p:cNvPr id="5" name="Text 3"/>
          <p:cNvSpPr txBox="1"/>
          <p:nvPr/>
        </p:nvSpPr>
        <p:spPr>
          <a:xfrm>
            <a:off x="11073384" y="457200"/>
            <a:ext cx="475488" cy="475488"/>
          </a:xfrm>
          <a:prstGeom prst="rect">
            <a:avLst/>
          </a:prstGeom>
          <a:noFill/>
          <a:ln/>
        </p:spPr>
        <p:txBody>
          <a:bodyPr wrap="square" lIns="0" tIns="0" rIns="0" bIns="0" rtlCol="0" anchor="ctr"/>
          <a:lstStyle/>
          <a:p>
            <a:pPr algn="ctr" indent="0" marL="0">
              <a:buNone/>
            </a:pPr>
            <a:r>
              <a:rPr lang="en-US" sz="1300" b="1" dirty="0">
                <a:solidFill>
                  <a:srgbClr val="2E3A59"/>
                </a:solidFill>
                <a:latin typeface="Meiryo" pitchFamily="34" charset="0"/>
                <a:ea typeface="Meiryo" pitchFamily="34" charset="-122"/>
                <a:cs typeface="Meiryo" pitchFamily="34" charset="-120"/>
              </a:rPr>
              <a:t>4</a:t>
            </a:r>
            <a:endParaRPr lang="en-US" sz="1300" dirty="0"/>
          </a:p>
        </p:txBody>
      </p:sp>
      <p:sp>
        <p:nvSpPr>
          <p:cNvPr id="6" name="Text 4"/>
          <p:cNvSpPr txBox="1"/>
          <p:nvPr/>
        </p:nvSpPr>
        <p:spPr>
          <a:xfrm>
            <a:off x="640080" y="1691640"/>
            <a:ext cx="5029200" cy="1554480"/>
          </a:xfrm>
          <a:prstGeom prst="rect">
            <a:avLst/>
          </a:prstGeom>
          <a:noFill/>
          <a:ln/>
        </p:spPr>
        <p:txBody>
          <a:bodyPr wrap="square" lIns="0" tIns="0" rIns="0" bIns="0" rtlCol="0" anchor="ctr"/>
          <a:lstStyle/>
          <a:p>
            <a:pPr indent="0" marL="0">
              <a:lnSpc>
                <a:spcPts val="2400"/>
              </a:lnSpc>
              <a:buNone/>
            </a:pPr>
            <a:r>
              <a:rPr lang="en-US" sz="1350" dirty="0">
                <a:solidFill>
                  <a:srgbClr val="1F2430"/>
                </a:solidFill>
                <a:latin typeface="Meiryo" pitchFamily="34" charset="0"/>
                <a:ea typeface="Meiryo" pitchFamily="34" charset="-122"/>
                <a:cs typeface="Meiryo" pitchFamily="34" charset="-120"/>
              </a:rPr>
              <a:t>ジェル液中に微細な磁性フレーク（酸化鉄系・鉄ニッケル合金）が分散している。</a:t>
            </a:r>
            <a:endParaRPr lang="en-US" sz="1350" dirty="0"/>
          </a:p>
          <a:p>
            <a:pPr indent="0" marL="0">
              <a:lnSpc>
                <a:spcPts val="2400"/>
              </a:lnSpc>
              <a:buNone/>
            </a:pPr>
            <a:r>
              <a:rPr lang="en-US" sz="1350" dirty="0">
                <a:solidFill>
                  <a:srgbClr val="1F2430"/>
                </a:solidFill>
                <a:latin typeface="Meiryo" pitchFamily="34" charset="0"/>
                <a:ea typeface="Meiryo" pitchFamily="34" charset="-122"/>
                <a:cs typeface="Meiryo" pitchFamily="34" charset="-120"/>
              </a:rPr>
              <a:t>磁石を近づけると粉が磁力線に沿って整列し、光の反射が変わって猫目状の帯ができる。</a:t>
            </a:r>
            <a:endParaRPr lang="en-US" sz="1350" dirty="0"/>
          </a:p>
          <a:p>
            <a:pPr indent="0" marL="0">
              <a:lnSpc>
                <a:spcPts val="2400"/>
              </a:lnSpc>
              <a:buNone/>
            </a:pPr>
            <a:r>
              <a:rPr lang="en-US" sz="1350" dirty="0">
                <a:solidFill>
                  <a:srgbClr val="1F2430"/>
                </a:solidFill>
                <a:latin typeface="Meiryo" pitchFamily="34" charset="0"/>
                <a:ea typeface="Meiryo" pitchFamily="34" charset="-122"/>
                <a:cs typeface="Meiryo" pitchFamily="34" charset="-120"/>
              </a:rPr>
              <a:t>UVライトで硬化させると、その配列が固定されたまま残る。</a:t>
            </a:r>
            <a:endParaRPr lang="en-US" sz="1350" dirty="0"/>
          </a:p>
        </p:txBody>
      </p:sp>
      <p:sp>
        <p:nvSpPr>
          <p:cNvPr id="7" name="Shape 5"/>
          <p:cNvSpPr/>
          <p:nvPr/>
        </p:nvSpPr>
        <p:spPr>
          <a:xfrm>
            <a:off x="640080" y="3429000"/>
            <a:ext cx="5029200" cy="1965960"/>
          </a:xfrm>
          <a:prstGeom prst="roundRect">
            <a:avLst>
              <a:gd name="adj" fmla="val 2791"/>
            </a:avLst>
          </a:prstGeom>
          <a:solidFill>
            <a:srgbClr val="FBF1F5"/>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8" name="Text 6"/>
          <p:cNvSpPr txBox="1"/>
          <p:nvPr/>
        </p:nvSpPr>
        <p:spPr>
          <a:xfrm>
            <a:off x="960120" y="3611880"/>
            <a:ext cx="4572000" cy="365760"/>
          </a:xfrm>
          <a:prstGeom prst="rect">
            <a:avLst/>
          </a:prstGeom>
          <a:noFill/>
          <a:ln/>
        </p:spPr>
        <p:txBody>
          <a:bodyPr wrap="square" lIns="0" tIns="0" rIns="0" bIns="0" rtlCol="0" anchor="ctr"/>
          <a:lstStyle/>
          <a:p>
            <a:pPr indent="0" marL="0">
              <a:buNone/>
            </a:pPr>
            <a:r>
              <a:rPr lang="en-US" sz="1500" b="1" dirty="0">
                <a:solidFill>
                  <a:srgbClr val="B5326A"/>
                </a:solidFill>
                <a:latin typeface="Meiryo" pitchFamily="34" charset="0"/>
                <a:ea typeface="Meiryo" pitchFamily="34" charset="-122"/>
                <a:cs typeface="Meiryo" pitchFamily="34" charset="-120"/>
              </a:rPr>
              <a:t>磁性粉が「揃ったまま」固まっている</a:t>
            </a:r>
            <a:endParaRPr lang="en-US" sz="1500" dirty="0"/>
          </a:p>
        </p:txBody>
      </p:sp>
      <p:sp>
        <p:nvSpPr>
          <p:cNvPr id="9" name="Text 7"/>
          <p:cNvSpPr txBox="1"/>
          <p:nvPr/>
        </p:nvSpPr>
        <p:spPr>
          <a:xfrm>
            <a:off x="960120" y="4041648"/>
            <a:ext cx="4572000" cy="1143000"/>
          </a:xfrm>
          <a:prstGeom prst="rect">
            <a:avLst/>
          </a:prstGeom>
          <a:noFill/>
          <a:ln/>
        </p:spPr>
        <p:txBody>
          <a:bodyPr wrap="square" lIns="0" tIns="0" rIns="0" bIns="0" rtlCol="0" anchor="ctr"/>
          <a:lstStyle/>
          <a:p>
            <a:pPr indent="0" marL="0">
              <a:lnSpc>
                <a:spcPts val="1900"/>
              </a:lnSpc>
              <a:buNone/>
            </a:pPr>
            <a:r>
              <a:rPr lang="en-US" sz="1200" dirty="0">
                <a:solidFill>
                  <a:srgbClr val="1F2430"/>
                </a:solidFill>
                <a:latin typeface="Meiryo" pitchFamily="34" charset="0"/>
                <a:ea typeface="Meiryo" pitchFamily="34" charset="-122"/>
                <a:cs typeface="Meiryo" pitchFamily="34" charset="-120"/>
              </a:rPr>
              <a:t>先行研究が扱ってきた「磁性粉を含む化粧品」とは、この点で条件が異なる。本研究の新規性の根拠。</a:t>
            </a:r>
            <a:endParaRPr lang="en-US" sz="1200" dirty="0"/>
          </a:p>
        </p:txBody>
      </p:sp>
      <p:sp>
        <p:nvSpPr>
          <p:cNvPr id="10" name="Shape 8"/>
          <p:cNvSpPr/>
          <p:nvPr/>
        </p:nvSpPr>
        <p:spPr>
          <a:xfrm>
            <a:off x="6126480" y="1691640"/>
            <a:ext cx="2651760" cy="2377440"/>
          </a:xfrm>
          <a:prstGeom prst="roundRect">
            <a:avLst>
              <a:gd name="adj" fmla="val 2308"/>
            </a:avLst>
          </a:prstGeom>
          <a:solidFill>
            <a:srgbClr val="E9EDF3"/>
          </a:solidFill>
          <a:ln w="12700">
            <a:solidFill>
              <a:srgbClr val="D4DAE4"/>
            </a:solidFill>
            <a:prstDash val="solid"/>
          </a:ln>
        </p:spPr>
      </p:sp>
      <p:sp>
        <p:nvSpPr>
          <p:cNvPr id="11" name="Shape 9"/>
          <p:cNvSpPr/>
          <p:nvPr/>
        </p:nvSpPr>
        <p:spPr>
          <a:xfrm>
            <a:off x="6355080" y="3246120"/>
            <a:ext cx="2194560" cy="502920"/>
          </a:xfrm>
          <a:prstGeom prst="roundRect">
            <a:avLst>
              <a:gd name="adj" fmla="val 14545"/>
            </a:avLst>
          </a:prstGeom>
          <a:solidFill>
            <a:srgbClr val="D9C3B0"/>
          </a:solidFill>
          <a:ln w="12700">
            <a:solidFill>
              <a:srgbClr val="FFFFFF"/>
            </a:solidFill>
            <a:prstDash val="solid"/>
          </a:ln>
        </p:spPr>
      </p:sp>
      <p:sp>
        <p:nvSpPr>
          <p:cNvPr id="12" name="Text 10"/>
          <p:cNvSpPr txBox="1"/>
          <p:nvPr/>
        </p:nvSpPr>
        <p:spPr>
          <a:xfrm>
            <a:off x="6355080" y="3246120"/>
            <a:ext cx="2194560" cy="502920"/>
          </a:xfrm>
          <a:prstGeom prst="rect">
            <a:avLst/>
          </a:prstGeom>
          <a:noFill/>
          <a:ln/>
        </p:spPr>
        <p:txBody>
          <a:bodyPr wrap="square" lIns="0" tIns="0" rIns="0" bIns="0" rtlCol="0" anchor="ctr"/>
          <a:lstStyle/>
          <a:p>
            <a:pPr algn="ctr" indent="0" marL="0">
              <a:buNone/>
            </a:pPr>
            <a:r>
              <a:rPr lang="en-US" sz="1000" dirty="0">
                <a:solidFill>
                  <a:srgbClr val="7A6253"/>
                </a:solidFill>
                <a:latin typeface="Meiryo" pitchFamily="34" charset="0"/>
                <a:ea typeface="Meiryo" pitchFamily="34" charset="-122"/>
                <a:cs typeface="Meiryo" pitchFamily="34" charset="-120"/>
              </a:rPr>
              <a:t>爪</a:t>
            </a:r>
            <a:endParaRPr lang="en-US" sz="1000" dirty="0"/>
          </a:p>
        </p:txBody>
      </p:sp>
      <p:sp>
        <p:nvSpPr>
          <p:cNvPr id="13" name="Shape 11"/>
          <p:cNvSpPr/>
          <p:nvPr/>
        </p:nvSpPr>
        <p:spPr>
          <a:xfrm rot="-5400000">
            <a:off x="6446520" y="1965960"/>
            <a:ext cx="237744" cy="68580"/>
          </a:xfrm>
          <a:prstGeom prst="rect">
            <a:avLst/>
          </a:prstGeom>
          <a:solidFill>
            <a:srgbClr val="7C8699"/>
          </a:solidFill>
          <a:ln w="12700">
            <a:solidFill>
              <a:srgbClr val="FFFFFF"/>
            </a:solidFill>
            <a:prstDash val="solid"/>
          </a:ln>
        </p:spPr>
      </p:sp>
      <p:sp>
        <p:nvSpPr>
          <p:cNvPr id="14" name="Shape 12"/>
          <p:cNvSpPr/>
          <p:nvPr/>
        </p:nvSpPr>
        <p:spPr>
          <a:xfrm rot="-2220000">
            <a:off x="6803136" y="1965960"/>
            <a:ext cx="237744" cy="68580"/>
          </a:xfrm>
          <a:prstGeom prst="rect">
            <a:avLst/>
          </a:prstGeom>
          <a:solidFill>
            <a:srgbClr val="7C8699"/>
          </a:solidFill>
          <a:ln w="12700">
            <a:solidFill>
              <a:srgbClr val="FFFFFF"/>
            </a:solidFill>
            <a:prstDash val="solid"/>
          </a:ln>
        </p:spPr>
      </p:sp>
      <p:sp>
        <p:nvSpPr>
          <p:cNvPr id="15" name="Shape 13"/>
          <p:cNvSpPr/>
          <p:nvPr/>
        </p:nvSpPr>
        <p:spPr>
          <a:xfrm rot="960000">
            <a:off x="7159752" y="1965960"/>
            <a:ext cx="237744" cy="68580"/>
          </a:xfrm>
          <a:prstGeom prst="rect">
            <a:avLst/>
          </a:prstGeom>
          <a:solidFill>
            <a:srgbClr val="7C8699"/>
          </a:solidFill>
          <a:ln w="12700">
            <a:solidFill>
              <a:srgbClr val="FFFFFF"/>
            </a:solidFill>
            <a:prstDash val="solid"/>
          </a:ln>
        </p:spPr>
      </p:sp>
      <p:sp>
        <p:nvSpPr>
          <p:cNvPr id="16" name="Shape 14"/>
          <p:cNvSpPr/>
          <p:nvPr/>
        </p:nvSpPr>
        <p:spPr>
          <a:xfrm rot="4140000">
            <a:off x="7516368" y="1965960"/>
            <a:ext cx="237744" cy="68580"/>
          </a:xfrm>
          <a:prstGeom prst="rect">
            <a:avLst/>
          </a:prstGeom>
          <a:solidFill>
            <a:srgbClr val="7C8699"/>
          </a:solidFill>
          <a:ln w="12700">
            <a:solidFill>
              <a:srgbClr val="FFFFFF"/>
            </a:solidFill>
            <a:prstDash val="solid"/>
          </a:ln>
        </p:spPr>
      </p:sp>
      <p:sp>
        <p:nvSpPr>
          <p:cNvPr id="17" name="Shape 15"/>
          <p:cNvSpPr/>
          <p:nvPr/>
        </p:nvSpPr>
        <p:spPr>
          <a:xfrm rot="-3480000">
            <a:off x="7872984" y="1965960"/>
            <a:ext cx="237744" cy="68580"/>
          </a:xfrm>
          <a:prstGeom prst="rect">
            <a:avLst/>
          </a:prstGeom>
          <a:solidFill>
            <a:srgbClr val="7C8699"/>
          </a:solidFill>
          <a:ln w="12700">
            <a:solidFill>
              <a:srgbClr val="FFFFFF"/>
            </a:solidFill>
            <a:prstDash val="solid"/>
          </a:ln>
        </p:spPr>
      </p:sp>
      <p:sp>
        <p:nvSpPr>
          <p:cNvPr id="18" name="Shape 16"/>
          <p:cNvSpPr/>
          <p:nvPr/>
        </p:nvSpPr>
        <p:spPr>
          <a:xfrm rot="-300000">
            <a:off x="8229600" y="1965960"/>
            <a:ext cx="237744" cy="68580"/>
          </a:xfrm>
          <a:prstGeom prst="rect">
            <a:avLst/>
          </a:prstGeom>
          <a:solidFill>
            <a:srgbClr val="7C8699"/>
          </a:solidFill>
          <a:ln w="12700">
            <a:solidFill>
              <a:srgbClr val="FFFFFF"/>
            </a:solidFill>
            <a:prstDash val="solid"/>
          </a:ln>
        </p:spPr>
      </p:sp>
      <p:sp>
        <p:nvSpPr>
          <p:cNvPr id="19" name="Shape 17"/>
          <p:cNvSpPr/>
          <p:nvPr/>
        </p:nvSpPr>
        <p:spPr>
          <a:xfrm rot="2880000">
            <a:off x="6565392" y="2276856"/>
            <a:ext cx="237744" cy="68580"/>
          </a:xfrm>
          <a:prstGeom prst="rect">
            <a:avLst/>
          </a:prstGeom>
          <a:solidFill>
            <a:srgbClr val="7C8699"/>
          </a:solidFill>
          <a:ln w="12700">
            <a:solidFill>
              <a:srgbClr val="FFFFFF"/>
            </a:solidFill>
            <a:prstDash val="solid"/>
          </a:ln>
        </p:spPr>
      </p:sp>
      <p:sp>
        <p:nvSpPr>
          <p:cNvPr id="20" name="Shape 18"/>
          <p:cNvSpPr/>
          <p:nvPr/>
        </p:nvSpPr>
        <p:spPr>
          <a:xfrm rot="-4740000">
            <a:off x="6922008" y="2276856"/>
            <a:ext cx="237744" cy="68580"/>
          </a:xfrm>
          <a:prstGeom prst="rect">
            <a:avLst/>
          </a:prstGeom>
          <a:solidFill>
            <a:srgbClr val="7C8699"/>
          </a:solidFill>
          <a:ln w="12700">
            <a:solidFill>
              <a:srgbClr val="FFFFFF"/>
            </a:solidFill>
            <a:prstDash val="solid"/>
          </a:ln>
        </p:spPr>
      </p:sp>
      <p:sp>
        <p:nvSpPr>
          <p:cNvPr id="21" name="Shape 19"/>
          <p:cNvSpPr/>
          <p:nvPr/>
        </p:nvSpPr>
        <p:spPr>
          <a:xfrm rot="-1560000">
            <a:off x="7278624" y="2276856"/>
            <a:ext cx="237744" cy="68580"/>
          </a:xfrm>
          <a:prstGeom prst="rect">
            <a:avLst/>
          </a:prstGeom>
          <a:solidFill>
            <a:srgbClr val="7C8699"/>
          </a:solidFill>
          <a:ln w="12700">
            <a:solidFill>
              <a:srgbClr val="FFFFFF"/>
            </a:solidFill>
            <a:prstDash val="solid"/>
          </a:ln>
        </p:spPr>
      </p:sp>
      <p:sp>
        <p:nvSpPr>
          <p:cNvPr id="22" name="Shape 20"/>
          <p:cNvSpPr/>
          <p:nvPr/>
        </p:nvSpPr>
        <p:spPr>
          <a:xfrm rot="1620000">
            <a:off x="7635240" y="2276856"/>
            <a:ext cx="237744" cy="68580"/>
          </a:xfrm>
          <a:prstGeom prst="rect">
            <a:avLst/>
          </a:prstGeom>
          <a:solidFill>
            <a:srgbClr val="7C8699"/>
          </a:solidFill>
          <a:ln w="12700">
            <a:solidFill>
              <a:srgbClr val="FFFFFF"/>
            </a:solidFill>
            <a:prstDash val="solid"/>
          </a:ln>
        </p:spPr>
      </p:sp>
      <p:sp>
        <p:nvSpPr>
          <p:cNvPr id="23" name="Shape 21"/>
          <p:cNvSpPr/>
          <p:nvPr/>
        </p:nvSpPr>
        <p:spPr>
          <a:xfrm rot="4800000">
            <a:off x="7991856" y="2276856"/>
            <a:ext cx="237744" cy="68580"/>
          </a:xfrm>
          <a:prstGeom prst="rect">
            <a:avLst/>
          </a:prstGeom>
          <a:solidFill>
            <a:srgbClr val="7C8699"/>
          </a:solidFill>
          <a:ln w="12700">
            <a:solidFill>
              <a:srgbClr val="FFFFFF"/>
            </a:solidFill>
            <a:prstDash val="solid"/>
          </a:ln>
        </p:spPr>
      </p:sp>
      <p:sp>
        <p:nvSpPr>
          <p:cNvPr id="24" name="Shape 22"/>
          <p:cNvSpPr/>
          <p:nvPr/>
        </p:nvSpPr>
        <p:spPr>
          <a:xfrm rot="-2820000">
            <a:off x="8348472" y="2276856"/>
            <a:ext cx="237744" cy="68580"/>
          </a:xfrm>
          <a:prstGeom prst="rect">
            <a:avLst/>
          </a:prstGeom>
          <a:solidFill>
            <a:srgbClr val="7C8699"/>
          </a:solidFill>
          <a:ln w="12700">
            <a:solidFill>
              <a:srgbClr val="FFFFFF"/>
            </a:solidFill>
            <a:prstDash val="solid"/>
          </a:ln>
        </p:spPr>
      </p:sp>
      <p:sp>
        <p:nvSpPr>
          <p:cNvPr id="25" name="Shape 23"/>
          <p:cNvSpPr/>
          <p:nvPr/>
        </p:nvSpPr>
        <p:spPr>
          <a:xfrm rot="360000">
            <a:off x="6446520" y="2587752"/>
            <a:ext cx="237744" cy="68580"/>
          </a:xfrm>
          <a:prstGeom prst="rect">
            <a:avLst/>
          </a:prstGeom>
          <a:solidFill>
            <a:srgbClr val="7C8699"/>
          </a:solidFill>
          <a:ln w="12700">
            <a:solidFill>
              <a:srgbClr val="FFFFFF"/>
            </a:solidFill>
            <a:prstDash val="solid"/>
          </a:ln>
        </p:spPr>
      </p:sp>
      <p:sp>
        <p:nvSpPr>
          <p:cNvPr id="26" name="Shape 24"/>
          <p:cNvSpPr/>
          <p:nvPr/>
        </p:nvSpPr>
        <p:spPr>
          <a:xfrm rot="3540000">
            <a:off x="6803136" y="2587752"/>
            <a:ext cx="237744" cy="68580"/>
          </a:xfrm>
          <a:prstGeom prst="rect">
            <a:avLst/>
          </a:prstGeom>
          <a:solidFill>
            <a:srgbClr val="7C8699"/>
          </a:solidFill>
          <a:ln w="12700">
            <a:solidFill>
              <a:srgbClr val="FFFFFF"/>
            </a:solidFill>
            <a:prstDash val="solid"/>
          </a:ln>
        </p:spPr>
      </p:sp>
      <p:sp>
        <p:nvSpPr>
          <p:cNvPr id="27" name="Shape 25"/>
          <p:cNvSpPr/>
          <p:nvPr/>
        </p:nvSpPr>
        <p:spPr>
          <a:xfrm rot="-4080000">
            <a:off x="7159752" y="2587752"/>
            <a:ext cx="237744" cy="68580"/>
          </a:xfrm>
          <a:prstGeom prst="rect">
            <a:avLst/>
          </a:prstGeom>
          <a:solidFill>
            <a:srgbClr val="7C8699"/>
          </a:solidFill>
          <a:ln w="12700">
            <a:solidFill>
              <a:srgbClr val="FFFFFF"/>
            </a:solidFill>
            <a:prstDash val="solid"/>
          </a:ln>
        </p:spPr>
      </p:sp>
      <p:sp>
        <p:nvSpPr>
          <p:cNvPr id="28" name="Shape 26"/>
          <p:cNvSpPr/>
          <p:nvPr/>
        </p:nvSpPr>
        <p:spPr>
          <a:xfrm rot="-900000">
            <a:off x="7516368" y="2587752"/>
            <a:ext cx="237744" cy="68580"/>
          </a:xfrm>
          <a:prstGeom prst="rect">
            <a:avLst/>
          </a:prstGeom>
          <a:solidFill>
            <a:srgbClr val="7C8699"/>
          </a:solidFill>
          <a:ln w="12700">
            <a:solidFill>
              <a:srgbClr val="FFFFFF"/>
            </a:solidFill>
            <a:prstDash val="solid"/>
          </a:ln>
        </p:spPr>
      </p:sp>
      <p:sp>
        <p:nvSpPr>
          <p:cNvPr id="29" name="Shape 27"/>
          <p:cNvSpPr/>
          <p:nvPr/>
        </p:nvSpPr>
        <p:spPr>
          <a:xfrm rot="2280000">
            <a:off x="7872984" y="2587752"/>
            <a:ext cx="237744" cy="68580"/>
          </a:xfrm>
          <a:prstGeom prst="rect">
            <a:avLst/>
          </a:prstGeom>
          <a:solidFill>
            <a:srgbClr val="7C8699"/>
          </a:solidFill>
          <a:ln w="12700">
            <a:solidFill>
              <a:srgbClr val="FFFFFF"/>
            </a:solidFill>
            <a:prstDash val="solid"/>
          </a:ln>
        </p:spPr>
      </p:sp>
      <p:sp>
        <p:nvSpPr>
          <p:cNvPr id="30" name="Shape 28"/>
          <p:cNvSpPr/>
          <p:nvPr/>
        </p:nvSpPr>
        <p:spPr>
          <a:xfrm rot="-5340000">
            <a:off x="8229600" y="2587752"/>
            <a:ext cx="237744" cy="68580"/>
          </a:xfrm>
          <a:prstGeom prst="rect">
            <a:avLst/>
          </a:prstGeom>
          <a:solidFill>
            <a:srgbClr val="7C8699"/>
          </a:solidFill>
          <a:ln w="12700">
            <a:solidFill>
              <a:srgbClr val="FFFFFF"/>
            </a:solidFill>
            <a:prstDash val="solid"/>
          </a:ln>
        </p:spPr>
      </p:sp>
      <p:sp>
        <p:nvSpPr>
          <p:cNvPr id="31" name="Shape 29"/>
          <p:cNvSpPr/>
          <p:nvPr/>
        </p:nvSpPr>
        <p:spPr>
          <a:xfrm rot="-2160000">
            <a:off x="6565392" y="2898648"/>
            <a:ext cx="237744" cy="68580"/>
          </a:xfrm>
          <a:prstGeom prst="rect">
            <a:avLst/>
          </a:prstGeom>
          <a:solidFill>
            <a:srgbClr val="7C8699"/>
          </a:solidFill>
          <a:ln w="12700">
            <a:solidFill>
              <a:srgbClr val="FFFFFF"/>
            </a:solidFill>
            <a:prstDash val="solid"/>
          </a:ln>
        </p:spPr>
      </p:sp>
      <p:sp>
        <p:nvSpPr>
          <p:cNvPr id="32" name="Shape 30"/>
          <p:cNvSpPr/>
          <p:nvPr/>
        </p:nvSpPr>
        <p:spPr>
          <a:xfrm rot="1020000">
            <a:off x="6922008" y="2898648"/>
            <a:ext cx="237744" cy="68580"/>
          </a:xfrm>
          <a:prstGeom prst="rect">
            <a:avLst/>
          </a:prstGeom>
          <a:solidFill>
            <a:srgbClr val="7C8699"/>
          </a:solidFill>
          <a:ln w="12700">
            <a:solidFill>
              <a:srgbClr val="FFFFFF"/>
            </a:solidFill>
            <a:prstDash val="solid"/>
          </a:ln>
        </p:spPr>
      </p:sp>
      <p:sp>
        <p:nvSpPr>
          <p:cNvPr id="33" name="Shape 31"/>
          <p:cNvSpPr/>
          <p:nvPr/>
        </p:nvSpPr>
        <p:spPr>
          <a:xfrm rot="4200000">
            <a:off x="7278624" y="2898648"/>
            <a:ext cx="237744" cy="68580"/>
          </a:xfrm>
          <a:prstGeom prst="rect">
            <a:avLst/>
          </a:prstGeom>
          <a:solidFill>
            <a:srgbClr val="7C8699"/>
          </a:solidFill>
          <a:ln w="12700">
            <a:solidFill>
              <a:srgbClr val="FFFFFF"/>
            </a:solidFill>
            <a:prstDash val="solid"/>
          </a:ln>
        </p:spPr>
      </p:sp>
      <p:sp>
        <p:nvSpPr>
          <p:cNvPr id="34" name="Shape 32"/>
          <p:cNvSpPr/>
          <p:nvPr/>
        </p:nvSpPr>
        <p:spPr>
          <a:xfrm rot="-3420000">
            <a:off x="7635240" y="2898648"/>
            <a:ext cx="237744" cy="68580"/>
          </a:xfrm>
          <a:prstGeom prst="rect">
            <a:avLst/>
          </a:prstGeom>
          <a:solidFill>
            <a:srgbClr val="7C8699"/>
          </a:solidFill>
          <a:ln w="12700">
            <a:solidFill>
              <a:srgbClr val="FFFFFF"/>
            </a:solidFill>
            <a:prstDash val="solid"/>
          </a:ln>
        </p:spPr>
      </p:sp>
      <p:sp>
        <p:nvSpPr>
          <p:cNvPr id="35" name="Text 33"/>
          <p:cNvSpPr txBox="1"/>
          <p:nvPr/>
        </p:nvSpPr>
        <p:spPr>
          <a:xfrm>
            <a:off x="6126480" y="4114800"/>
            <a:ext cx="2651760" cy="274320"/>
          </a:xfrm>
          <a:prstGeom prst="rect">
            <a:avLst/>
          </a:prstGeom>
          <a:noFill/>
          <a:ln/>
        </p:spPr>
        <p:txBody>
          <a:bodyPr wrap="square" lIns="0" tIns="0" rIns="0" bIns="0" rtlCol="0" anchor="ctr"/>
          <a:lstStyle/>
          <a:p>
            <a:pPr algn="ctr" indent="0" marL="0">
              <a:buNone/>
            </a:pPr>
            <a:r>
              <a:rPr lang="en-US" sz="1150" b="1" dirty="0">
                <a:solidFill>
                  <a:srgbClr val="0F1626"/>
                </a:solidFill>
                <a:latin typeface="Meiryo" pitchFamily="34" charset="0"/>
                <a:ea typeface="Meiryo" pitchFamily="34" charset="-122"/>
                <a:cs typeface="Meiryo" pitchFamily="34" charset="-120"/>
              </a:rPr>
              <a:t>硬化のみ（未配列）</a:t>
            </a:r>
            <a:endParaRPr lang="en-US" sz="1150" dirty="0"/>
          </a:p>
        </p:txBody>
      </p:sp>
      <p:sp>
        <p:nvSpPr>
          <p:cNvPr id="36" name="Shape 34"/>
          <p:cNvSpPr/>
          <p:nvPr/>
        </p:nvSpPr>
        <p:spPr>
          <a:xfrm>
            <a:off x="9372600" y="1691640"/>
            <a:ext cx="2651760" cy="2377440"/>
          </a:xfrm>
          <a:prstGeom prst="roundRect">
            <a:avLst>
              <a:gd name="adj" fmla="val 2308"/>
            </a:avLst>
          </a:prstGeom>
          <a:solidFill>
            <a:srgbClr val="E9EDF3"/>
          </a:solidFill>
          <a:ln w="12700">
            <a:solidFill>
              <a:srgbClr val="D4DAE4"/>
            </a:solidFill>
            <a:prstDash val="solid"/>
          </a:ln>
        </p:spPr>
      </p:sp>
      <p:sp>
        <p:nvSpPr>
          <p:cNvPr id="37" name="Shape 35"/>
          <p:cNvSpPr/>
          <p:nvPr/>
        </p:nvSpPr>
        <p:spPr>
          <a:xfrm>
            <a:off x="9601200" y="3246120"/>
            <a:ext cx="2194560" cy="502920"/>
          </a:xfrm>
          <a:prstGeom prst="roundRect">
            <a:avLst>
              <a:gd name="adj" fmla="val 14545"/>
            </a:avLst>
          </a:prstGeom>
          <a:solidFill>
            <a:srgbClr val="D9C3B0"/>
          </a:solidFill>
          <a:ln w="12700">
            <a:solidFill>
              <a:srgbClr val="FFFFFF"/>
            </a:solidFill>
            <a:prstDash val="solid"/>
          </a:ln>
        </p:spPr>
      </p:sp>
      <p:sp>
        <p:nvSpPr>
          <p:cNvPr id="38" name="Text 36"/>
          <p:cNvSpPr txBox="1"/>
          <p:nvPr/>
        </p:nvSpPr>
        <p:spPr>
          <a:xfrm>
            <a:off x="9601200" y="3246120"/>
            <a:ext cx="2194560" cy="502920"/>
          </a:xfrm>
          <a:prstGeom prst="rect">
            <a:avLst/>
          </a:prstGeom>
          <a:noFill/>
          <a:ln/>
        </p:spPr>
        <p:txBody>
          <a:bodyPr wrap="square" lIns="0" tIns="0" rIns="0" bIns="0" rtlCol="0" anchor="ctr"/>
          <a:lstStyle/>
          <a:p>
            <a:pPr algn="ctr" indent="0" marL="0">
              <a:buNone/>
            </a:pPr>
            <a:r>
              <a:rPr lang="en-US" sz="1000" dirty="0">
                <a:solidFill>
                  <a:srgbClr val="7A6253"/>
                </a:solidFill>
                <a:latin typeface="Meiryo" pitchFamily="34" charset="0"/>
                <a:ea typeface="Meiryo" pitchFamily="34" charset="-122"/>
                <a:cs typeface="Meiryo" pitchFamily="34" charset="-120"/>
              </a:rPr>
              <a:t>爪</a:t>
            </a:r>
            <a:endParaRPr lang="en-US" sz="1000" dirty="0"/>
          </a:p>
        </p:txBody>
      </p:sp>
      <p:sp>
        <p:nvSpPr>
          <p:cNvPr id="39" name="Shape 37"/>
          <p:cNvSpPr/>
          <p:nvPr/>
        </p:nvSpPr>
        <p:spPr>
          <a:xfrm>
            <a:off x="9692640" y="1965960"/>
            <a:ext cx="237744" cy="68580"/>
          </a:xfrm>
          <a:prstGeom prst="rect">
            <a:avLst/>
          </a:prstGeom>
          <a:solidFill>
            <a:srgbClr val="2E3A59"/>
          </a:solidFill>
          <a:ln w="12700">
            <a:solidFill>
              <a:srgbClr val="FFFFFF"/>
            </a:solidFill>
            <a:prstDash val="solid"/>
          </a:ln>
        </p:spPr>
      </p:sp>
      <p:sp>
        <p:nvSpPr>
          <p:cNvPr id="40" name="Shape 38"/>
          <p:cNvSpPr/>
          <p:nvPr/>
        </p:nvSpPr>
        <p:spPr>
          <a:xfrm>
            <a:off x="10049256" y="1965960"/>
            <a:ext cx="237744" cy="68580"/>
          </a:xfrm>
          <a:prstGeom prst="rect">
            <a:avLst/>
          </a:prstGeom>
          <a:solidFill>
            <a:srgbClr val="2E3A59"/>
          </a:solidFill>
          <a:ln w="12700">
            <a:solidFill>
              <a:srgbClr val="FFFFFF"/>
            </a:solidFill>
            <a:prstDash val="solid"/>
          </a:ln>
        </p:spPr>
      </p:sp>
      <p:sp>
        <p:nvSpPr>
          <p:cNvPr id="41" name="Shape 39"/>
          <p:cNvSpPr/>
          <p:nvPr/>
        </p:nvSpPr>
        <p:spPr>
          <a:xfrm>
            <a:off x="10405872" y="1965960"/>
            <a:ext cx="237744" cy="68580"/>
          </a:xfrm>
          <a:prstGeom prst="rect">
            <a:avLst/>
          </a:prstGeom>
          <a:solidFill>
            <a:srgbClr val="2E3A59"/>
          </a:solidFill>
          <a:ln w="12700">
            <a:solidFill>
              <a:srgbClr val="FFFFFF"/>
            </a:solidFill>
            <a:prstDash val="solid"/>
          </a:ln>
        </p:spPr>
      </p:sp>
      <p:sp>
        <p:nvSpPr>
          <p:cNvPr id="42" name="Shape 40"/>
          <p:cNvSpPr/>
          <p:nvPr/>
        </p:nvSpPr>
        <p:spPr>
          <a:xfrm>
            <a:off x="10762488" y="1965960"/>
            <a:ext cx="237744" cy="68580"/>
          </a:xfrm>
          <a:prstGeom prst="rect">
            <a:avLst/>
          </a:prstGeom>
          <a:solidFill>
            <a:srgbClr val="2E3A59"/>
          </a:solidFill>
          <a:ln w="12700">
            <a:solidFill>
              <a:srgbClr val="FFFFFF"/>
            </a:solidFill>
            <a:prstDash val="solid"/>
          </a:ln>
        </p:spPr>
      </p:sp>
      <p:sp>
        <p:nvSpPr>
          <p:cNvPr id="43" name="Shape 41"/>
          <p:cNvSpPr/>
          <p:nvPr/>
        </p:nvSpPr>
        <p:spPr>
          <a:xfrm>
            <a:off x="11119104" y="1965960"/>
            <a:ext cx="237744" cy="68580"/>
          </a:xfrm>
          <a:prstGeom prst="rect">
            <a:avLst/>
          </a:prstGeom>
          <a:solidFill>
            <a:srgbClr val="2E3A59"/>
          </a:solidFill>
          <a:ln w="12700">
            <a:solidFill>
              <a:srgbClr val="FFFFFF"/>
            </a:solidFill>
            <a:prstDash val="solid"/>
          </a:ln>
        </p:spPr>
      </p:sp>
      <p:sp>
        <p:nvSpPr>
          <p:cNvPr id="44" name="Shape 42"/>
          <p:cNvSpPr/>
          <p:nvPr/>
        </p:nvSpPr>
        <p:spPr>
          <a:xfrm>
            <a:off x="11475720" y="1965960"/>
            <a:ext cx="237744" cy="68580"/>
          </a:xfrm>
          <a:prstGeom prst="rect">
            <a:avLst/>
          </a:prstGeom>
          <a:solidFill>
            <a:srgbClr val="2E3A59"/>
          </a:solidFill>
          <a:ln w="12700">
            <a:solidFill>
              <a:srgbClr val="FFFFFF"/>
            </a:solidFill>
            <a:prstDash val="solid"/>
          </a:ln>
        </p:spPr>
      </p:sp>
      <p:sp>
        <p:nvSpPr>
          <p:cNvPr id="45" name="Shape 43"/>
          <p:cNvSpPr/>
          <p:nvPr/>
        </p:nvSpPr>
        <p:spPr>
          <a:xfrm>
            <a:off x="9811512" y="2276856"/>
            <a:ext cx="237744" cy="68580"/>
          </a:xfrm>
          <a:prstGeom prst="rect">
            <a:avLst/>
          </a:prstGeom>
          <a:solidFill>
            <a:srgbClr val="2E3A59"/>
          </a:solidFill>
          <a:ln w="12700">
            <a:solidFill>
              <a:srgbClr val="FFFFFF"/>
            </a:solidFill>
            <a:prstDash val="solid"/>
          </a:ln>
        </p:spPr>
      </p:sp>
      <p:sp>
        <p:nvSpPr>
          <p:cNvPr id="46" name="Shape 44"/>
          <p:cNvSpPr/>
          <p:nvPr/>
        </p:nvSpPr>
        <p:spPr>
          <a:xfrm>
            <a:off x="10168128" y="2276856"/>
            <a:ext cx="237744" cy="68580"/>
          </a:xfrm>
          <a:prstGeom prst="rect">
            <a:avLst/>
          </a:prstGeom>
          <a:solidFill>
            <a:srgbClr val="2E3A59"/>
          </a:solidFill>
          <a:ln w="12700">
            <a:solidFill>
              <a:srgbClr val="FFFFFF"/>
            </a:solidFill>
            <a:prstDash val="solid"/>
          </a:ln>
        </p:spPr>
      </p:sp>
      <p:sp>
        <p:nvSpPr>
          <p:cNvPr id="47" name="Shape 45"/>
          <p:cNvSpPr/>
          <p:nvPr/>
        </p:nvSpPr>
        <p:spPr>
          <a:xfrm>
            <a:off x="10524744" y="2276856"/>
            <a:ext cx="237744" cy="68580"/>
          </a:xfrm>
          <a:prstGeom prst="rect">
            <a:avLst/>
          </a:prstGeom>
          <a:solidFill>
            <a:srgbClr val="2E3A59"/>
          </a:solidFill>
          <a:ln w="12700">
            <a:solidFill>
              <a:srgbClr val="FFFFFF"/>
            </a:solidFill>
            <a:prstDash val="solid"/>
          </a:ln>
        </p:spPr>
      </p:sp>
      <p:sp>
        <p:nvSpPr>
          <p:cNvPr id="48" name="Shape 46"/>
          <p:cNvSpPr/>
          <p:nvPr/>
        </p:nvSpPr>
        <p:spPr>
          <a:xfrm>
            <a:off x="10881360" y="2276856"/>
            <a:ext cx="237744" cy="68580"/>
          </a:xfrm>
          <a:prstGeom prst="rect">
            <a:avLst/>
          </a:prstGeom>
          <a:solidFill>
            <a:srgbClr val="2E3A59"/>
          </a:solidFill>
          <a:ln w="12700">
            <a:solidFill>
              <a:srgbClr val="FFFFFF"/>
            </a:solidFill>
            <a:prstDash val="solid"/>
          </a:ln>
        </p:spPr>
      </p:sp>
      <p:sp>
        <p:nvSpPr>
          <p:cNvPr id="49" name="Shape 47"/>
          <p:cNvSpPr/>
          <p:nvPr/>
        </p:nvSpPr>
        <p:spPr>
          <a:xfrm>
            <a:off x="11237976" y="2276856"/>
            <a:ext cx="237744" cy="68580"/>
          </a:xfrm>
          <a:prstGeom prst="rect">
            <a:avLst/>
          </a:prstGeom>
          <a:solidFill>
            <a:srgbClr val="2E3A59"/>
          </a:solidFill>
          <a:ln w="12700">
            <a:solidFill>
              <a:srgbClr val="FFFFFF"/>
            </a:solidFill>
            <a:prstDash val="solid"/>
          </a:ln>
        </p:spPr>
      </p:sp>
      <p:sp>
        <p:nvSpPr>
          <p:cNvPr id="50" name="Shape 48"/>
          <p:cNvSpPr/>
          <p:nvPr/>
        </p:nvSpPr>
        <p:spPr>
          <a:xfrm>
            <a:off x="11594592" y="2276856"/>
            <a:ext cx="237744" cy="68580"/>
          </a:xfrm>
          <a:prstGeom prst="rect">
            <a:avLst/>
          </a:prstGeom>
          <a:solidFill>
            <a:srgbClr val="2E3A59"/>
          </a:solidFill>
          <a:ln w="12700">
            <a:solidFill>
              <a:srgbClr val="FFFFFF"/>
            </a:solidFill>
            <a:prstDash val="solid"/>
          </a:ln>
        </p:spPr>
      </p:sp>
      <p:sp>
        <p:nvSpPr>
          <p:cNvPr id="51" name="Shape 49"/>
          <p:cNvSpPr/>
          <p:nvPr/>
        </p:nvSpPr>
        <p:spPr>
          <a:xfrm>
            <a:off x="9692640" y="2587752"/>
            <a:ext cx="237744" cy="68580"/>
          </a:xfrm>
          <a:prstGeom prst="rect">
            <a:avLst/>
          </a:prstGeom>
          <a:solidFill>
            <a:srgbClr val="2E3A59"/>
          </a:solidFill>
          <a:ln w="12700">
            <a:solidFill>
              <a:srgbClr val="FFFFFF"/>
            </a:solidFill>
            <a:prstDash val="solid"/>
          </a:ln>
        </p:spPr>
      </p:sp>
      <p:sp>
        <p:nvSpPr>
          <p:cNvPr id="52" name="Shape 50"/>
          <p:cNvSpPr/>
          <p:nvPr/>
        </p:nvSpPr>
        <p:spPr>
          <a:xfrm>
            <a:off x="10049256" y="2587752"/>
            <a:ext cx="237744" cy="68580"/>
          </a:xfrm>
          <a:prstGeom prst="rect">
            <a:avLst/>
          </a:prstGeom>
          <a:solidFill>
            <a:srgbClr val="2E3A59"/>
          </a:solidFill>
          <a:ln w="12700">
            <a:solidFill>
              <a:srgbClr val="FFFFFF"/>
            </a:solidFill>
            <a:prstDash val="solid"/>
          </a:ln>
        </p:spPr>
      </p:sp>
      <p:sp>
        <p:nvSpPr>
          <p:cNvPr id="53" name="Shape 51"/>
          <p:cNvSpPr/>
          <p:nvPr/>
        </p:nvSpPr>
        <p:spPr>
          <a:xfrm>
            <a:off x="10405872" y="2587752"/>
            <a:ext cx="237744" cy="68580"/>
          </a:xfrm>
          <a:prstGeom prst="rect">
            <a:avLst/>
          </a:prstGeom>
          <a:solidFill>
            <a:srgbClr val="2E3A59"/>
          </a:solidFill>
          <a:ln w="12700">
            <a:solidFill>
              <a:srgbClr val="FFFFFF"/>
            </a:solidFill>
            <a:prstDash val="solid"/>
          </a:ln>
        </p:spPr>
      </p:sp>
      <p:sp>
        <p:nvSpPr>
          <p:cNvPr id="54" name="Shape 52"/>
          <p:cNvSpPr/>
          <p:nvPr/>
        </p:nvSpPr>
        <p:spPr>
          <a:xfrm>
            <a:off x="10762488" y="2587752"/>
            <a:ext cx="237744" cy="68580"/>
          </a:xfrm>
          <a:prstGeom prst="rect">
            <a:avLst/>
          </a:prstGeom>
          <a:solidFill>
            <a:srgbClr val="2E3A59"/>
          </a:solidFill>
          <a:ln w="12700">
            <a:solidFill>
              <a:srgbClr val="FFFFFF"/>
            </a:solidFill>
            <a:prstDash val="solid"/>
          </a:ln>
        </p:spPr>
      </p:sp>
      <p:sp>
        <p:nvSpPr>
          <p:cNvPr id="55" name="Shape 53"/>
          <p:cNvSpPr/>
          <p:nvPr/>
        </p:nvSpPr>
        <p:spPr>
          <a:xfrm>
            <a:off x="11119104" y="2587752"/>
            <a:ext cx="237744" cy="68580"/>
          </a:xfrm>
          <a:prstGeom prst="rect">
            <a:avLst/>
          </a:prstGeom>
          <a:solidFill>
            <a:srgbClr val="2E3A59"/>
          </a:solidFill>
          <a:ln w="12700">
            <a:solidFill>
              <a:srgbClr val="FFFFFF"/>
            </a:solidFill>
            <a:prstDash val="solid"/>
          </a:ln>
        </p:spPr>
      </p:sp>
      <p:sp>
        <p:nvSpPr>
          <p:cNvPr id="56" name="Shape 54"/>
          <p:cNvSpPr/>
          <p:nvPr/>
        </p:nvSpPr>
        <p:spPr>
          <a:xfrm>
            <a:off x="11475720" y="2587752"/>
            <a:ext cx="237744" cy="68580"/>
          </a:xfrm>
          <a:prstGeom prst="rect">
            <a:avLst/>
          </a:prstGeom>
          <a:solidFill>
            <a:srgbClr val="2E3A59"/>
          </a:solidFill>
          <a:ln w="12700">
            <a:solidFill>
              <a:srgbClr val="FFFFFF"/>
            </a:solidFill>
            <a:prstDash val="solid"/>
          </a:ln>
        </p:spPr>
      </p:sp>
      <p:sp>
        <p:nvSpPr>
          <p:cNvPr id="57" name="Shape 55"/>
          <p:cNvSpPr/>
          <p:nvPr/>
        </p:nvSpPr>
        <p:spPr>
          <a:xfrm>
            <a:off x="9811512" y="2898648"/>
            <a:ext cx="237744" cy="68580"/>
          </a:xfrm>
          <a:prstGeom prst="rect">
            <a:avLst/>
          </a:prstGeom>
          <a:solidFill>
            <a:srgbClr val="2E3A59"/>
          </a:solidFill>
          <a:ln w="12700">
            <a:solidFill>
              <a:srgbClr val="FFFFFF"/>
            </a:solidFill>
            <a:prstDash val="solid"/>
          </a:ln>
        </p:spPr>
      </p:sp>
      <p:sp>
        <p:nvSpPr>
          <p:cNvPr id="58" name="Shape 56"/>
          <p:cNvSpPr/>
          <p:nvPr/>
        </p:nvSpPr>
        <p:spPr>
          <a:xfrm>
            <a:off x="10168128" y="2898648"/>
            <a:ext cx="237744" cy="68580"/>
          </a:xfrm>
          <a:prstGeom prst="rect">
            <a:avLst/>
          </a:prstGeom>
          <a:solidFill>
            <a:srgbClr val="2E3A59"/>
          </a:solidFill>
          <a:ln w="12700">
            <a:solidFill>
              <a:srgbClr val="FFFFFF"/>
            </a:solidFill>
            <a:prstDash val="solid"/>
          </a:ln>
        </p:spPr>
      </p:sp>
      <p:sp>
        <p:nvSpPr>
          <p:cNvPr id="59" name="Shape 57"/>
          <p:cNvSpPr/>
          <p:nvPr/>
        </p:nvSpPr>
        <p:spPr>
          <a:xfrm>
            <a:off x="10524744" y="2898648"/>
            <a:ext cx="237744" cy="68580"/>
          </a:xfrm>
          <a:prstGeom prst="rect">
            <a:avLst/>
          </a:prstGeom>
          <a:solidFill>
            <a:srgbClr val="2E3A59"/>
          </a:solidFill>
          <a:ln w="12700">
            <a:solidFill>
              <a:srgbClr val="FFFFFF"/>
            </a:solidFill>
            <a:prstDash val="solid"/>
          </a:ln>
        </p:spPr>
      </p:sp>
      <p:sp>
        <p:nvSpPr>
          <p:cNvPr id="60" name="Shape 58"/>
          <p:cNvSpPr/>
          <p:nvPr/>
        </p:nvSpPr>
        <p:spPr>
          <a:xfrm>
            <a:off x="10881360" y="2898648"/>
            <a:ext cx="237744" cy="68580"/>
          </a:xfrm>
          <a:prstGeom prst="rect">
            <a:avLst/>
          </a:prstGeom>
          <a:solidFill>
            <a:srgbClr val="2E3A59"/>
          </a:solidFill>
          <a:ln w="12700">
            <a:solidFill>
              <a:srgbClr val="FFFFFF"/>
            </a:solidFill>
            <a:prstDash val="solid"/>
          </a:ln>
        </p:spPr>
      </p:sp>
      <p:sp>
        <p:nvSpPr>
          <p:cNvPr id="61" name="Shape 59"/>
          <p:cNvSpPr/>
          <p:nvPr/>
        </p:nvSpPr>
        <p:spPr>
          <a:xfrm>
            <a:off x="9756648" y="1847088"/>
            <a:ext cx="1920240" cy="82296"/>
          </a:xfrm>
          <a:prstGeom prst="rect">
            <a:avLst/>
          </a:prstGeom>
          <a:solidFill>
            <a:srgbClr val="B5326A">
              <a:alpha val="70000"/>
            </a:srgbClr>
          </a:solidFill>
          <a:ln w="12700">
            <a:solidFill>
              <a:srgbClr val="FFFFFF"/>
            </a:solidFill>
            <a:prstDash val="solid"/>
          </a:ln>
        </p:spPr>
      </p:sp>
      <p:sp>
        <p:nvSpPr>
          <p:cNvPr id="62" name="Text 60"/>
          <p:cNvSpPr txBox="1"/>
          <p:nvPr/>
        </p:nvSpPr>
        <p:spPr>
          <a:xfrm>
            <a:off x="9372600" y="4114800"/>
            <a:ext cx="2651760" cy="274320"/>
          </a:xfrm>
          <a:prstGeom prst="rect">
            <a:avLst/>
          </a:prstGeom>
          <a:noFill/>
          <a:ln/>
        </p:spPr>
        <p:txBody>
          <a:bodyPr wrap="square" lIns="0" tIns="0" rIns="0" bIns="0" rtlCol="0" anchor="ctr"/>
          <a:lstStyle/>
          <a:p>
            <a:pPr algn="ctr" indent="0" marL="0">
              <a:buNone/>
            </a:pPr>
            <a:r>
              <a:rPr lang="en-US" sz="1150" b="1" dirty="0">
                <a:solidFill>
                  <a:srgbClr val="0F1626"/>
                </a:solidFill>
                <a:latin typeface="Meiryo" pitchFamily="34" charset="0"/>
                <a:ea typeface="Meiryo" pitchFamily="34" charset="-122"/>
                <a:cs typeface="Meiryo" pitchFamily="34" charset="-120"/>
              </a:rPr>
              <a:t>磁石で配列後に硬化</a:t>
            </a:r>
            <a:endParaRPr lang="en-US" sz="1150" dirty="0"/>
          </a:p>
        </p:txBody>
      </p:sp>
      <p:sp>
        <p:nvSpPr>
          <p:cNvPr id="63" name="Shape 61"/>
          <p:cNvSpPr/>
          <p:nvPr/>
        </p:nvSpPr>
        <p:spPr>
          <a:xfrm>
            <a:off x="8887968" y="2788920"/>
            <a:ext cx="384048" cy="54864"/>
          </a:xfrm>
          <a:prstGeom prst="rect">
            <a:avLst/>
          </a:prstGeom>
          <a:solidFill>
            <a:srgbClr val="B5326A"/>
          </a:solidFill>
          <a:ln w="19050">
            <a:solidFill>
              <a:srgbClr val="B5326A"/>
            </a:solidFill>
            <a:prstDash val="solid"/>
            <a:tailEnd type="triangle"/>
          </a:ln>
        </p:spPr>
      </p:sp>
      <p:sp>
        <p:nvSpPr>
          <p:cNvPr id="64" name="Text 62"/>
          <p:cNvSpPr txBox="1"/>
          <p:nvPr/>
        </p:nvSpPr>
        <p:spPr>
          <a:xfrm>
            <a:off x="8549640" y="2377440"/>
            <a:ext cx="1097280" cy="274320"/>
          </a:xfrm>
          <a:prstGeom prst="rect">
            <a:avLst/>
          </a:prstGeom>
          <a:noFill/>
          <a:ln/>
        </p:spPr>
        <p:txBody>
          <a:bodyPr wrap="square" lIns="0" tIns="0" rIns="0" bIns="0" rtlCol="0" anchor="ctr"/>
          <a:lstStyle/>
          <a:p>
            <a:pPr algn="ctr" indent="0" marL="0">
              <a:buNone/>
            </a:pPr>
            <a:r>
              <a:rPr lang="en-US" sz="1000" b="1" dirty="0">
                <a:solidFill>
                  <a:srgbClr val="B5326A"/>
                </a:solidFill>
                <a:latin typeface="Meiryo" pitchFamily="34" charset="0"/>
                <a:ea typeface="Meiryo" pitchFamily="34" charset="-122"/>
                <a:cs typeface="Meiryo" pitchFamily="34" charset="-120"/>
              </a:rPr>
              <a:t>磁石</a:t>
            </a:r>
            <a:endParaRPr lang="en-US" sz="1000" dirty="0"/>
          </a:p>
        </p:txBody>
      </p:sp>
      <p:sp>
        <p:nvSpPr>
          <p:cNvPr id="65" name="Text 63"/>
          <p:cNvSpPr txBox="1"/>
          <p:nvPr/>
        </p:nvSpPr>
        <p:spPr>
          <a:xfrm>
            <a:off x="6126480" y="4526280"/>
            <a:ext cx="5897880" cy="274320"/>
          </a:xfrm>
          <a:prstGeom prst="rect">
            <a:avLst/>
          </a:prstGeom>
          <a:noFill/>
          <a:ln/>
        </p:spPr>
        <p:txBody>
          <a:bodyPr wrap="square" lIns="0" tIns="0" rIns="0" bIns="0" rtlCol="0" anchor="ctr"/>
          <a:lstStyle/>
          <a:p>
            <a:pPr algn="ctr" indent="0" marL="0">
              <a:buNone/>
            </a:pPr>
            <a:r>
              <a:rPr lang="en-US" sz="1000" dirty="0">
                <a:solidFill>
                  <a:srgbClr val="6B7280"/>
                </a:solidFill>
                <a:latin typeface="Meiryo" pitchFamily="34" charset="0"/>
                <a:ea typeface="Meiryo" pitchFamily="34" charset="-122"/>
                <a:cs typeface="Meiryo" pitchFamily="34" charset="-120"/>
              </a:rPr>
              <a:t>模式図</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384048"/>
            <a:ext cx="9902952" cy="256032"/>
          </a:xfrm>
          <a:prstGeom prst="rect">
            <a:avLst/>
          </a:prstGeom>
          <a:noFill/>
          <a:ln/>
        </p:spPr>
        <p:txBody>
          <a:bodyPr wrap="square" lIns="0" tIns="0" rIns="0" bIns="0" rtlCol="0" anchor="ctr"/>
          <a:lstStyle/>
          <a:p>
            <a:pPr indent="0" marL="0">
              <a:buNone/>
            </a:pPr>
            <a:r>
              <a:rPr lang="en-US" sz="1200" b="1" spc="200" kern="0" dirty="0">
                <a:solidFill>
                  <a:srgbClr val="1B9AAA"/>
                </a:solidFill>
                <a:latin typeface="Meiryo" pitchFamily="34" charset="0"/>
                <a:ea typeface="Meiryo" pitchFamily="34" charset="-122"/>
                <a:cs typeface="Meiryo" pitchFamily="34" charset="-120"/>
              </a:rPr>
              <a:t>背景</a:t>
            </a:r>
            <a:endParaRPr lang="en-US" sz="1200" dirty="0"/>
          </a:p>
        </p:txBody>
      </p:sp>
      <p:sp>
        <p:nvSpPr>
          <p:cNvPr id="3" name="Text 1"/>
          <p:cNvSpPr txBox="1"/>
          <p:nvPr/>
        </p:nvSpPr>
        <p:spPr>
          <a:xfrm>
            <a:off x="640080" y="658368"/>
            <a:ext cx="9902952" cy="731520"/>
          </a:xfrm>
          <a:prstGeom prst="rect">
            <a:avLst/>
          </a:prstGeom>
          <a:noFill/>
          <a:ln/>
        </p:spPr>
        <p:txBody>
          <a:bodyPr wrap="square" lIns="0" tIns="0" rIns="0" bIns="0" rtlCol="0" anchor="t"/>
          <a:lstStyle/>
          <a:p>
            <a:pPr indent="0" marL="0">
              <a:buNone/>
            </a:pPr>
            <a:r>
              <a:rPr lang="en-US" sz="3000" b="1" dirty="0">
                <a:solidFill>
                  <a:srgbClr val="0F1626"/>
                </a:solidFill>
                <a:latin typeface="Meiryo" pitchFamily="34" charset="0"/>
                <a:ea typeface="Meiryo" pitchFamily="34" charset="-122"/>
                <a:cs typeface="Meiryo" pitchFamily="34" charset="-120"/>
              </a:rPr>
              <a:t>MRIと干渉しうる4つの経路</a:t>
            </a:r>
            <a:endParaRPr lang="en-US" sz="3000" dirty="0"/>
          </a:p>
        </p:txBody>
      </p:sp>
      <p:sp>
        <p:nvSpPr>
          <p:cNvPr id="4" name="Shape 2"/>
          <p:cNvSpPr/>
          <p:nvPr/>
        </p:nvSpPr>
        <p:spPr>
          <a:xfrm>
            <a:off x="11073384" y="457200"/>
            <a:ext cx="475488" cy="475488"/>
          </a:xfrm>
          <a:prstGeom prst="ellipse">
            <a:avLst/>
          </a:prstGeom>
          <a:solidFill>
            <a:srgbClr val="F2F4F8"/>
          </a:solidFill>
          <a:ln w="12700">
            <a:solidFill>
              <a:srgbClr val="FFFFFF"/>
            </a:solidFill>
            <a:prstDash val="solid"/>
          </a:ln>
        </p:spPr>
      </p:sp>
      <p:sp>
        <p:nvSpPr>
          <p:cNvPr id="5" name="Text 3"/>
          <p:cNvSpPr txBox="1"/>
          <p:nvPr/>
        </p:nvSpPr>
        <p:spPr>
          <a:xfrm>
            <a:off x="11073384" y="457200"/>
            <a:ext cx="475488" cy="475488"/>
          </a:xfrm>
          <a:prstGeom prst="rect">
            <a:avLst/>
          </a:prstGeom>
          <a:noFill/>
          <a:ln/>
        </p:spPr>
        <p:txBody>
          <a:bodyPr wrap="square" lIns="0" tIns="0" rIns="0" bIns="0" rtlCol="0" anchor="ctr"/>
          <a:lstStyle/>
          <a:p>
            <a:pPr algn="ctr" indent="0" marL="0">
              <a:buNone/>
            </a:pPr>
            <a:r>
              <a:rPr lang="en-US" sz="1300" b="1" dirty="0">
                <a:solidFill>
                  <a:srgbClr val="2E3A59"/>
                </a:solidFill>
                <a:latin typeface="Meiryo" pitchFamily="34" charset="0"/>
                <a:ea typeface="Meiryo" pitchFamily="34" charset="-122"/>
                <a:cs typeface="Meiryo" pitchFamily="34" charset="-120"/>
              </a:rPr>
              <a:t>5</a:t>
            </a:r>
            <a:endParaRPr lang="en-US" sz="1300" dirty="0"/>
          </a:p>
        </p:txBody>
      </p:sp>
      <p:sp>
        <p:nvSpPr>
          <p:cNvPr id="6" name="Shape 4"/>
          <p:cNvSpPr/>
          <p:nvPr/>
        </p:nvSpPr>
        <p:spPr>
          <a:xfrm>
            <a:off x="640080" y="1645920"/>
            <a:ext cx="5349240" cy="1600200"/>
          </a:xfrm>
          <a:prstGeom prst="roundRect">
            <a:avLst>
              <a:gd name="adj" fmla="val 3429"/>
            </a:avLst>
          </a:prstGeom>
          <a:solidFill>
            <a:srgbClr val="F2F4F8"/>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7" name="Shape 5"/>
          <p:cNvSpPr/>
          <p:nvPr/>
        </p:nvSpPr>
        <p:spPr>
          <a:xfrm>
            <a:off x="960120" y="1938528"/>
            <a:ext cx="457200" cy="457200"/>
          </a:xfrm>
          <a:prstGeom prst="ellipse">
            <a:avLst/>
          </a:prstGeom>
          <a:solidFill>
            <a:srgbClr val="1B9AAA"/>
          </a:solidFill>
          <a:ln w="12700">
            <a:solidFill>
              <a:srgbClr val="FFFFFF"/>
            </a:solidFill>
            <a:prstDash val="solid"/>
          </a:ln>
        </p:spPr>
      </p:sp>
      <p:sp>
        <p:nvSpPr>
          <p:cNvPr id="8" name="Text 6"/>
          <p:cNvSpPr txBox="1"/>
          <p:nvPr/>
        </p:nvSpPr>
        <p:spPr>
          <a:xfrm>
            <a:off x="960120" y="193852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1</a:t>
            </a:r>
            <a:endParaRPr lang="en-US" sz="1400" dirty="0"/>
          </a:p>
        </p:txBody>
      </p:sp>
      <p:sp>
        <p:nvSpPr>
          <p:cNvPr id="9" name="Text 7"/>
          <p:cNvSpPr txBox="1"/>
          <p:nvPr/>
        </p:nvSpPr>
        <p:spPr>
          <a:xfrm>
            <a:off x="1554480" y="1901952"/>
            <a:ext cx="3108960" cy="365760"/>
          </a:xfrm>
          <a:prstGeom prst="rect">
            <a:avLst/>
          </a:prstGeom>
          <a:noFill/>
          <a:ln/>
        </p:spPr>
        <p:txBody>
          <a:bodyPr wrap="square" lIns="0" tIns="0" rIns="0" bIns="0" rtlCol="0" anchor="ctr"/>
          <a:lstStyle/>
          <a:p>
            <a:pPr indent="0" marL="0">
              <a:buNone/>
            </a:pPr>
            <a:r>
              <a:rPr lang="en-US" sz="1600" b="1" dirty="0">
                <a:solidFill>
                  <a:srgbClr val="0F1626"/>
                </a:solidFill>
                <a:latin typeface="Meiryo" pitchFamily="34" charset="0"/>
                <a:ea typeface="Meiryo" pitchFamily="34" charset="-122"/>
                <a:cs typeface="Meiryo" pitchFamily="34" charset="-120"/>
              </a:rPr>
              <a:t>吸引力・トルク</a:t>
            </a:r>
            <a:endParaRPr lang="en-US" sz="1600" dirty="0"/>
          </a:p>
        </p:txBody>
      </p:sp>
      <p:sp>
        <p:nvSpPr>
          <p:cNvPr id="10" name="Shape 8"/>
          <p:cNvSpPr/>
          <p:nvPr/>
        </p:nvSpPr>
        <p:spPr>
          <a:xfrm>
            <a:off x="4800600" y="1938528"/>
            <a:ext cx="868680" cy="310896"/>
          </a:xfrm>
          <a:prstGeom prst="roundRect">
            <a:avLst>
              <a:gd name="adj" fmla="val 47059"/>
            </a:avLst>
          </a:prstGeom>
          <a:solidFill>
            <a:srgbClr val="1B9AAA"/>
          </a:solidFill>
          <a:ln w="12700">
            <a:solidFill>
              <a:srgbClr val="FFFFFF"/>
            </a:solidFill>
            <a:prstDash val="solid"/>
          </a:ln>
        </p:spPr>
      </p:sp>
      <p:sp>
        <p:nvSpPr>
          <p:cNvPr id="11" name="Text 9"/>
          <p:cNvSpPr txBox="1"/>
          <p:nvPr/>
        </p:nvSpPr>
        <p:spPr>
          <a:xfrm>
            <a:off x="4800600" y="1938528"/>
            <a:ext cx="86868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主軸</a:t>
            </a:r>
            <a:endParaRPr lang="en-US" sz="1050" dirty="0"/>
          </a:p>
        </p:txBody>
      </p:sp>
      <p:sp>
        <p:nvSpPr>
          <p:cNvPr id="12" name="Text 10"/>
          <p:cNvSpPr txBox="1"/>
          <p:nvPr/>
        </p:nvSpPr>
        <p:spPr>
          <a:xfrm>
            <a:off x="1554480" y="2395728"/>
            <a:ext cx="4114800" cy="640080"/>
          </a:xfrm>
          <a:prstGeom prst="rect">
            <a:avLst/>
          </a:prstGeom>
          <a:noFill/>
          <a:ln/>
        </p:spPr>
        <p:txBody>
          <a:bodyPr wrap="square" lIns="0" tIns="0" rIns="0" bIns="0" rtlCol="0" anchor="t"/>
          <a:lstStyle/>
          <a:p>
            <a:pPr indent="0" marL="0">
              <a:lnSpc>
                <a:spcPts val="1800"/>
              </a:lnSpc>
              <a:buNone/>
            </a:pPr>
            <a:r>
              <a:rPr lang="en-US" sz="1200" dirty="0">
                <a:solidFill>
                  <a:srgbClr val="1F2430"/>
                </a:solidFill>
                <a:latin typeface="Meiryo" pitchFamily="34" charset="0"/>
                <a:ea typeface="Meiryo" pitchFamily="34" charset="-122"/>
                <a:cs typeface="Meiryo" pitchFamily="34" charset="-120"/>
              </a:rPr>
              <a:t>空間磁場勾配が磁性体を引く／回そうとする</a:t>
            </a:r>
            <a:endParaRPr lang="en-US" sz="1200" dirty="0"/>
          </a:p>
        </p:txBody>
      </p:sp>
      <p:sp>
        <p:nvSpPr>
          <p:cNvPr id="13" name="Shape 11"/>
          <p:cNvSpPr/>
          <p:nvPr/>
        </p:nvSpPr>
        <p:spPr>
          <a:xfrm>
            <a:off x="6263640" y="1645920"/>
            <a:ext cx="5349240" cy="1600200"/>
          </a:xfrm>
          <a:prstGeom prst="roundRect">
            <a:avLst>
              <a:gd name="adj" fmla="val 3429"/>
            </a:avLst>
          </a:prstGeom>
          <a:solidFill>
            <a:srgbClr val="F2F4F8"/>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14" name="Shape 12"/>
          <p:cNvSpPr/>
          <p:nvPr/>
        </p:nvSpPr>
        <p:spPr>
          <a:xfrm>
            <a:off x="6583680" y="1938528"/>
            <a:ext cx="457200" cy="457200"/>
          </a:xfrm>
          <a:prstGeom prst="ellipse">
            <a:avLst/>
          </a:prstGeom>
          <a:solidFill>
            <a:srgbClr val="1B9AAA"/>
          </a:solidFill>
          <a:ln w="12700">
            <a:solidFill>
              <a:srgbClr val="FFFFFF"/>
            </a:solidFill>
            <a:prstDash val="solid"/>
          </a:ln>
        </p:spPr>
      </p:sp>
      <p:sp>
        <p:nvSpPr>
          <p:cNvPr id="15" name="Text 13"/>
          <p:cNvSpPr txBox="1"/>
          <p:nvPr/>
        </p:nvSpPr>
        <p:spPr>
          <a:xfrm>
            <a:off x="6583680" y="193852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2</a:t>
            </a:r>
            <a:endParaRPr lang="en-US" sz="1400" dirty="0"/>
          </a:p>
        </p:txBody>
      </p:sp>
      <p:sp>
        <p:nvSpPr>
          <p:cNvPr id="16" name="Text 14"/>
          <p:cNvSpPr txBox="1"/>
          <p:nvPr/>
        </p:nvSpPr>
        <p:spPr>
          <a:xfrm>
            <a:off x="7178040" y="1901952"/>
            <a:ext cx="3108960" cy="365760"/>
          </a:xfrm>
          <a:prstGeom prst="rect">
            <a:avLst/>
          </a:prstGeom>
          <a:noFill/>
          <a:ln/>
        </p:spPr>
        <p:txBody>
          <a:bodyPr wrap="square" lIns="0" tIns="0" rIns="0" bIns="0" rtlCol="0" anchor="ctr"/>
          <a:lstStyle/>
          <a:p>
            <a:pPr indent="0" marL="0">
              <a:buNone/>
            </a:pPr>
            <a:r>
              <a:rPr lang="en-US" sz="1600" b="1" dirty="0">
                <a:solidFill>
                  <a:srgbClr val="0F1626"/>
                </a:solidFill>
                <a:latin typeface="Meiryo" pitchFamily="34" charset="0"/>
                <a:ea typeface="Meiryo" pitchFamily="34" charset="-122"/>
                <a:cs typeface="Meiryo" pitchFamily="34" charset="-120"/>
              </a:rPr>
              <a:t>画像アーチファクト</a:t>
            </a:r>
            <a:endParaRPr lang="en-US" sz="1600" dirty="0"/>
          </a:p>
        </p:txBody>
      </p:sp>
      <p:sp>
        <p:nvSpPr>
          <p:cNvPr id="17" name="Shape 15"/>
          <p:cNvSpPr/>
          <p:nvPr/>
        </p:nvSpPr>
        <p:spPr>
          <a:xfrm>
            <a:off x="10424160" y="1938528"/>
            <a:ext cx="868680" cy="310896"/>
          </a:xfrm>
          <a:prstGeom prst="roundRect">
            <a:avLst>
              <a:gd name="adj" fmla="val 47059"/>
            </a:avLst>
          </a:prstGeom>
          <a:solidFill>
            <a:srgbClr val="1B9AAA"/>
          </a:solidFill>
          <a:ln w="12700">
            <a:solidFill>
              <a:srgbClr val="FFFFFF"/>
            </a:solidFill>
            <a:prstDash val="solid"/>
          </a:ln>
        </p:spPr>
      </p:sp>
      <p:sp>
        <p:nvSpPr>
          <p:cNvPr id="18" name="Text 16"/>
          <p:cNvSpPr txBox="1"/>
          <p:nvPr/>
        </p:nvSpPr>
        <p:spPr>
          <a:xfrm>
            <a:off x="10424160" y="1938528"/>
            <a:ext cx="86868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主軸</a:t>
            </a:r>
            <a:endParaRPr lang="en-US" sz="1050" dirty="0"/>
          </a:p>
        </p:txBody>
      </p:sp>
      <p:sp>
        <p:nvSpPr>
          <p:cNvPr id="19" name="Text 17"/>
          <p:cNvSpPr txBox="1"/>
          <p:nvPr/>
        </p:nvSpPr>
        <p:spPr>
          <a:xfrm>
            <a:off x="7178040" y="2395728"/>
            <a:ext cx="4114800" cy="640080"/>
          </a:xfrm>
          <a:prstGeom prst="rect">
            <a:avLst/>
          </a:prstGeom>
          <a:noFill/>
          <a:ln/>
        </p:spPr>
        <p:txBody>
          <a:bodyPr wrap="square" lIns="0" tIns="0" rIns="0" bIns="0" rtlCol="0" anchor="t"/>
          <a:lstStyle/>
          <a:p>
            <a:pPr indent="0" marL="0">
              <a:lnSpc>
                <a:spcPts val="1800"/>
              </a:lnSpc>
              <a:buNone/>
            </a:pPr>
            <a:r>
              <a:rPr lang="en-US" sz="1200" dirty="0">
                <a:solidFill>
                  <a:srgbClr val="1F2430"/>
                </a:solidFill>
                <a:latin typeface="Meiryo" pitchFamily="34" charset="0"/>
                <a:ea typeface="Meiryo" pitchFamily="34" charset="-122"/>
                <a:cs typeface="Meiryo" pitchFamily="34" charset="-120"/>
              </a:rPr>
              <a:t>磁化率差による局所磁場不均一で信号が失われる</a:t>
            </a:r>
            <a:endParaRPr lang="en-US" sz="1200" dirty="0"/>
          </a:p>
        </p:txBody>
      </p:sp>
      <p:sp>
        <p:nvSpPr>
          <p:cNvPr id="20" name="Shape 18"/>
          <p:cNvSpPr/>
          <p:nvPr/>
        </p:nvSpPr>
        <p:spPr>
          <a:xfrm>
            <a:off x="640080" y="3520440"/>
            <a:ext cx="5349240" cy="1600200"/>
          </a:xfrm>
          <a:prstGeom prst="roundRect">
            <a:avLst>
              <a:gd name="adj" fmla="val 3429"/>
            </a:avLst>
          </a:prstGeom>
          <a:solidFill>
            <a:srgbClr val="F2F4F8"/>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21" name="Shape 19"/>
          <p:cNvSpPr/>
          <p:nvPr/>
        </p:nvSpPr>
        <p:spPr>
          <a:xfrm>
            <a:off x="960120" y="3813048"/>
            <a:ext cx="457200" cy="457200"/>
          </a:xfrm>
          <a:prstGeom prst="ellipse">
            <a:avLst/>
          </a:prstGeom>
          <a:solidFill>
            <a:srgbClr val="6B7280"/>
          </a:solidFill>
          <a:ln w="12700">
            <a:solidFill>
              <a:srgbClr val="FFFFFF"/>
            </a:solidFill>
            <a:prstDash val="solid"/>
          </a:ln>
        </p:spPr>
      </p:sp>
      <p:sp>
        <p:nvSpPr>
          <p:cNvPr id="22" name="Text 20"/>
          <p:cNvSpPr txBox="1"/>
          <p:nvPr/>
        </p:nvSpPr>
        <p:spPr>
          <a:xfrm>
            <a:off x="960120" y="381304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3</a:t>
            </a:r>
            <a:endParaRPr lang="en-US" sz="1400" dirty="0"/>
          </a:p>
        </p:txBody>
      </p:sp>
      <p:sp>
        <p:nvSpPr>
          <p:cNvPr id="23" name="Text 21"/>
          <p:cNvSpPr txBox="1"/>
          <p:nvPr/>
        </p:nvSpPr>
        <p:spPr>
          <a:xfrm>
            <a:off x="1554480" y="3776472"/>
            <a:ext cx="3108960" cy="365760"/>
          </a:xfrm>
          <a:prstGeom prst="rect">
            <a:avLst/>
          </a:prstGeom>
          <a:noFill/>
          <a:ln/>
        </p:spPr>
        <p:txBody>
          <a:bodyPr wrap="square" lIns="0" tIns="0" rIns="0" bIns="0" rtlCol="0" anchor="ctr"/>
          <a:lstStyle/>
          <a:p>
            <a:pPr indent="0" marL="0">
              <a:buNone/>
            </a:pPr>
            <a:r>
              <a:rPr lang="en-US" sz="1600" b="1" dirty="0">
                <a:solidFill>
                  <a:srgbClr val="0F1626"/>
                </a:solidFill>
                <a:latin typeface="Meiryo" pitchFamily="34" charset="0"/>
                <a:ea typeface="Meiryo" pitchFamily="34" charset="-122"/>
                <a:cs typeface="Meiryo" pitchFamily="34" charset="-120"/>
              </a:rPr>
              <a:t>RF発熱</a:t>
            </a:r>
            <a:endParaRPr lang="en-US" sz="1600" dirty="0"/>
          </a:p>
        </p:txBody>
      </p:sp>
      <p:sp>
        <p:nvSpPr>
          <p:cNvPr id="24" name="Shape 22"/>
          <p:cNvSpPr/>
          <p:nvPr/>
        </p:nvSpPr>
        <p:spPr>
          <a:xfrm>
            <a:off x="4800600" y="3813048"/>
            <a:ext cx="868680" cy="310896"/>
          </a:xfrm>
          <a:prstGeom prst="roundRect">
            <a:avLst>
              <a:gd name="adj" fmla="val 47059"/>
            </a:avLst>
          </a:prstGeom>
          <a:solidFill>
            <a:srgbClr val="DDE2EA"/>
          </a:solidFill>
          <a:ln w="12700">
            <a:solidFill>
              <a:srgbClr val="FFFFFF"/>
            </a:solidFill>
            <a:prstDash val="solid"/>
          </a:ln>
        </p:spPr>
      </p:sp>
      <p:sp>
        <p:nvSpPr>
          <p:cNvPr id="25" name="Text 23"/>
          <p:cNvSpPr txBox="1"/>
          <p:nvPr/>
        </p:nvSpPr>
        <p:spPr>
          <a:xfrm>
            <a:off x="4800600" y="3813048"/>
            <a:ext cx="868680" cy="310896"/>
          </a:xfrm>
          <a:prstGeom prst="rect">
            <a:avLst/>
          </a:prstGeom>
          <a:noFill/>
          <a:ln/>
        </p:spPr>
        <p:txBody>
          <a:bodyPr wrap="square" lIns="0" tIns="0" rIns="0" bIns="0" rtlCol="0" anchor="ctr"/>
          <a:lstStyle/>
          <a:p>
            <a:pPr algn="ctr" indent="0" marL="0">
              <a:buNone/>
            </a:pPr>
            <a:r>
              <a:rPr lang="en-US" sz="1050" b="1" dirty="0">
                <a:solidFill>
                  <a:srgbClr val="2E3A59"/>
                </a:solidFill>
                <a:latin typeface="Meiryo" pitchFamily="34" charset="0"/>
                <a:ea typeface="Meiryo" pitchFamily="34" charset="-122"/>
                <a:cs typeface="Meiryo" pitchFamily="34" charset="-120"/>
              </a:rPr>
              <a:t>補助</a:t>
            </a:r>
            <a:endParaRPr lang="en-US" sz="1050" dirty="0"/>
          </a:p>
        </p:txBody>
      </p:sp>
      <p:sp>
        <p:nvSpPr>
          <p:cNvPr id="26" name="Text 24"/>
          <p:cNvSpPr txBox="1"/>
          <p:nvPr/>
        </p:nvSpPr>
        <p:spPr>
          <a:xfrm>
            <a:off x="1554480" y="4270248"/>
            <a:ext cx="4114800" cy="640080"/>
          </a:xfrm>
          <a:prstGeom prst="rect">
            <a:avLst/>
          </a:prstGeom>
          <a:noFill/>
          <a:ln/>
        </p:spPr>
        <p:txBody>
          <a:bodyPr wrap="square" lIns="0" tIns="0" rIns="0" bIns="0" rtlCol="0" anchor="t"/>
          <a:lstStyle/>
          <a:p>
            <a:pPr indent="0" marL="0">
              <a:lnSpc>
                <a:spcPts val="1800"/>
              </a:lnSpc>
              <a:buNone/>
            </a:pPr>
            <a:r>
              <a:rPr lang="en-US" sz="1200" dirty="0">
                <a:solidFill>
                  <a:srgbClr val="1F2430"/>
                </a:solidFill>
                <a:latin typeface="Meiryo" pitchFamily="34" charset="0"/>
                <a:ea typeface="Meiryo" pitchFamily="34" charset="-122"/>
                <a:cs typeface="Meiryo" pitchFamily="34" charset="-120"/>
              </a:rPr>
              <a:t>導電性フレークに渦電流が誘導され発熱する</a:t>
            </a:r>
            <a:endParaRPr lang="en-US" sz="1200" dirty="0"/>
          </a:p>
        </p:txBody>
      </p:sp>
      <p:sp>
        <p:nvSpPr>
          <p:cNvPr id="27" name="Shape 25"/>
          <p:cNvSpPr/>
          <p:nvPr/>
        </p:nvSpPr>
        <p:spPr>
          <a:xfrm>
            <a:off x="6263640" y="3520440"/>
            <a:ext cx="5349240" cy="1600200"/>
          </a:xfrm>
          <a:prstGeom prst="roundRect">
            <a:avLst>
              <a:gd name="adj" fmla="val 3429"/>
            </a:avLst>
          </a:prstGeom>
          <a:solidFill>
            <a:srgbClr val="F2F4F8"/>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28" name="Shape 26"/>
          <p:cNvSpPr/>
          <p:nvPr/>
        </p:nvSpPr>
        <p:spPr>
          <a:xfrm>
            <a:off x="6583680" y="3813048"/>
            <a:ext cx="457200" cy="457200"/>
          </a:xfrm>
          <a:prstGeom prst="ellipse">
            <a:avLst/>
          </a:prstGeom>
          <a:solidFill>
            <a:srgbClr val="6B7280"/>
          </a:solidFill>
          <a:ln w="12700">
            <a:solidFill>
              <a:srgbClr val="FFFFFF"/>
            </a:solidFill>
            <a:prstDash val="solid"/>
          </a:ln>
        </p:spPr>
      </p:sp>
      <p:sp>
        <p:nvSpPr>
          <p:cNvPr id="29" name="Text 27"/>
          <p:cNvSpPr txBox="1"/>
          <p:nvPr/>
        </p:nvSpPr>
        <p:spPr>
          <a:xfrm>
            <a:off x="6583680" y="381304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4</a:t>
            </a:r>
            <a:endParaRPr lang="en-US" sz="1400" dirty="0"/>
          </a:p>
        </p:txBody>
      </p:sp>
      <p:sp>
        <p:nvSpPr>
          <p:cNvPr id="30" name="Text 28"/>
          <p:cNvSpPr txBox="1"/>
          <p:nvPr/>
        </p:nvSpPr>
        <p:spPr>
          <a:xfrm>
            <a:off x="7178040" y="3776472"/>
            <a:ext cx="3108960" cy="365760"/>
          </a:xfrm>
          <a:prstGeom prst="rect">
            <a:avLst/>
          </a:prstGeom>
          <a:noFill/>
          <a:ln/>
        </p:spPr>
        <p:txBody>
          <a:bodyPr wrap="square" lIns="0" tIns="0" rIns="0" bIns="0" rtlCol="0" anchor="ctr"/>
          <a:lstStyle/>
          <a:p>
            <a:pPr indent="0" marL="0">
              <a:buNone/>
            </a:pPr>
            <a:r>
              <a:rPr lang="en-US" sz="1600" b="1" dirty="0">
                <a:solidFill>
                  <a:srgbClr val="0F1626"/>
                </a:solidFill>
                <a:latin typeface="Meiryo" pitchFamily="34" charset="0"/>
                <a:ea typeface="Meiryo" pitchFamily="34" charset="-122"/>
                <a:cs typeface="Meiryo" pitchFamily="34" charset="-120"/>
              </a:rPr>
              <a:t>モニタ干渉</a:t>
            </a:r>
            <a:endParaRPr lang="en-US" sz="1600" dirty="0"/>
          </a:p>
        </p:txBody>
      </p:sp>
      <p:sp>
        <p:nvSpPr>
          <p:cNvPr id="31" name="Shape 29"/>
          <p:cNvSpPr/>
          <p:nvPr/>
        </p:nvSpPr>
        <p:spPr>
          <a:xfrm>
            <a:off x="10424160" y="3813048"/>
            <a:ext cx="868680" cy="310896"/>
          </a:xfrm>
          <a:prstGeom prst="roundRect">
            <a:avLst>
              <a:gd name="adj" fmla="val 47059"/>
            </a:avLst>
          </a:prstGeom>
          <a:solidFill>
            <a:srgbClr val="DDE2EA"/>
          </a:solidFill>
          <a:ln w="12700">
            <a:solidFill>
              <a:srgbClr val="FFFFFF"/>
            </a:solidFill>
            <a:prstDash val="solid"/>
          </a:ln>
        </p:spPr>
      </p:sp>
      <p:sp>
        <p:nvSpPr>
          <p:cNvPr id="32" name="Text 30"/>
          <p:cNvSpPr txBox="1"/>
          <p:nvPr/>
        </p:nvSpPr>
        <p:spPr>
          <a:xfrm>
            <a:off x="10424160" y="3813048"/>
            <a:ext cx="868680" cy="310896"/>
          </a:xfrm>
          <a:prstGeom prst="rect">
            <a:avLst/>
          </a:prstGeom>
          <a:noFill/>
          <a:ln/>
        </p:spPr>
        <p:txBody>
          <a:bodyPr wrap="square" lIns="0" tIns="0" rIns="0" bIns="0" rtlCol="0" anchor="ctr"/>
          <a:lstStyle/>
          <a:p>
            <a:pPr algn="ctr" indent="0" marL="0">
              <a:buNone/>
            </a:pPr>
            <a:r>
              <a:rPr lang="en-US" sz="1050" b="1" dirty="0">
                <a:solidFill>
                  <a:srgbClr val="2E3A59"/>
                </a:solidFill>
                <a:latin typeface="Meiryo" pitchFamily="34" charset="0"/>
                <a:ea typeface="Meiryo" pitchFamily="34" charset="-122"/>
                <a:cs typeface="Meiryo" pitchFamily="34" charset="-120"/>
              </a:rPr>
              <a:t>副次</a:t>
            </a:r>
            <a:endParaRPr lang="en-US" sz="1050" dirty="0"/>
          </a:p>
        </p:txBody>
      </p:sp>
      <p:sp>
        <p:nvSpPr>
          <p:cNvPr id="33" name="Text 31"/>
          <p:cNvSpPr txBox="1"/>
          <p:nvPr/>
        </p:nvSpPr>
        <p:spPr>
          <a:xfrm>
            <a:off x="7178040" y="4270248"/>
            <a:ext cx="4114800" cy="640080"/>
          </a:xfrm>
          <a:prstGeom prst="rect">
            <a:avLst/>
          </a:prstGeom>
          <a:noFill/>
          <a:ln/>
        </p:spPr>
        <p:txBody>
          <a:bodyPr wrap="square" lIns="0" tIns="0" rIns="0" bIns="0" rtlCol="0" anchor="t"/>
          <a:lstStyle/>
          <a:p>
            <a:pPr indent="0" marL="0">
              <a:lnSpc>
                <a:spcPts val="1800"/>
              </a:lnSpc>
              <a:buNone/>
            </a:pPr>
            <a:r>
              <a:rPr lang="en-US" sz="1200" dirty="0">
                <a:solidFill>
                  <a:srgbClr val="1F2430"/>
                </a:solidFill>
                <a:latin typeface="Meiryo" pitchFamily="34" charset="0"/>
                <a:ea typeface="Meiryo" pitchFamily="34" charset="-122"/>
                <a:cs typeface="Meiryo" pitchFamily="34" charset="-120"/>
              </a:rPr>
              <a:t>パルスオキシメータの光をネイルが遮る</a:t>
            </a:r>
            <a:endParaRPr lang="en-US" sz="1200" dirty="0"/>
          </a:p>
        </p:txBody>
      </p:sp>
      <p:sp>
        <p:nvSpPr>
          <p:cNvPr id="34" name="Text 32"/>
          <p:cNvSpPr txBox="1"/>
          <p:nvPr/>
        </p:nvSpPr>
        <p:spPr>
          <a:xfrm>
            <a:off x="640080" y="6345936"/>
            <a:ext cx="8897112" cy="274320"/>
          </a:xfrm>
          <a:prstGeom prst="rect">
            <a:avLst/>
          </a:prstGeom>
          <a:noFill/>
          <a:ln/>
        </p:spPr>
        <p:txBody>
          <a:bodyPr wrap="square" lIns="0" tIns="0" rIns="0" bIns="0" rtlCol="0" anchor="ctr"/>
          <a:lstStyle/>
          <a:p>
            <a:pPr indent="0" marL="0">
              <a:buNone/>
            </a:pPr>
            <a:r>
              <a:rPr lang="en-US" sz="1000" dirty="0">
                <a:solidFill>
                  <a:srgbClr val="6B7280"/>
                </a:solidFill>
                <a:latin typeface="Meiryo" pitchFamily="34" charset="0"/>
                <a:ea typeface="Meiryo" pitchFamily="34" charset="-122"/>
                <a:cs typeface="Meiryo" pitchFamily="34" charset="-120"/>
              </a:rPr>
              <a:t>発熱は光ファイバー温度計が使えないため、示温ラベルによる最高到達温度の記録で代替する（限界は16枚目）</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384048"/>
            <a:ext cx="9902952" cy="256032"/>
          </a:xfrm>
          <a:prstGeom prst="rect">
            <a:avLst/>
          </a:prstGeom>
          <a:noFill/>
          <a:ln/>
        </p:spPr>
        <p:txBody>
          <a:bodyPr wrap="square" lIns="0" tIns="0" rIns="0" bIns="0" rtlCol="0" anchor="ctr"/>
          <a:lstStyle/>
          <a:p>
            <a:pPr indent="0" marL="0">
              <a:buNone/>
            </a:pPr>
            <a:r>
              <a:rPr lang="en-US" sz="1200" b="1" spc="200" kern="0" dirty="0">
                <a:solidFill>
                  <a:srgbClr val="1B9AAA"/>
                </a:solidFill>
                <a:latin typeface="Meiryo" pitchFamily="34" charset="0"/>
                <a:ea typeface="Meiryo" pitchFamily="34" charset="-122"/>
                <a:cs typeface="Meiryo" pitchFamily="34" charset="-120"/>
              </a:rPr>
              <a:t>先行研究</a:t>
            </a:r>
            <a:endParaRPr lang="en-US" sz="1200" dirty="0"/>
          </a:p>
        </p:txBody>
      </p:sp>
      <p:sp>
        <p:nvSpPr>
          <p:cNvPr id="3" name="Text 1"/>
          <p:cNvSpPr txBox="1"/>
          <p:nvPr/>
        </p:nvSpPr>
        <p:spPr>
          <a:xfrm>
            <a:off x="640080" y="658368"/>
            <a:ext cx="9902952" cy="731520"/>
          </a:xfrm>
          <a:prstGeom prst="rect">
            <a:avLst/>
          </a:prstGeom>
          <a:noFill/>
          <a:ln/>
        </p:spPr>
        <p:txBody>
          <a:bodyPr wrap="square" lIns="0" tIns="0" rIns="0" bIns="0" rtlCol="0" anchor="t"/>
          <a:lstStyle/>
          <a:p>
            <a:pPr indent="0" marL="0">
              <a:buNone/>
            </a:pPr>
            <a:r>
              <a:rPr lang="en-US" sz="3000" b="1" dirty="0">
                <a:solidFill>
                  <a:srgbClr val="0F1626"/>
                </a:solidFill>
                <a:latin typeface="Meiryo" pitchFamily="34" charset="0"/>
                <a:ea typeface="Meiryo" pitchFamily="34" charset="-122"/>
                <a:cs typeface="Meiryo" pitchFamily="34" charset="-120"/>
              </a:rPr>
              <a:t>研究されてきたこと、されていないこと</a:t>
            </a:r>
            <a:endParaRPr lang="en-US" sz="3000" dirty="0"/>
          </a:p>
        </p:txBody>
      </p:sp>
      <p:sp>
        <p:nvSpPr>
          <p:cNvPr id="4" name="Shape 2"/>
          <p:cNvSpPr/>
          <p:nvPr/>
        </p:nvSpPr>
        <p:spPr>
          <a:xfrm>
            <a:off x="11073384" y="457200"/>
            <a:ext cx="475488" cy="475488"/>
          </a:xfrm>
          <a:prstGeom prst="ellipse">
            <a:avLst/>
          </a:prstGeom>
          <a:solidFill>
            <a:srgbClr val="F2F4F8"/>
          </a:solidFill>
          <a:ln w="12700">
            <a:solidFill>
              <a:srgbClr val="FFFFFF"/>
            </a:solidFill>
            <a:prstDash val="solid"/>
          </a:ln>
        </p:spPr>
      </p:sp>
      <p:sp>
        <p:nvSpPr>
          <p:cNvPr id="5" name="Text 3"/>
          <p:cNvSpPr txBox="1"/>
          <p:nvPr/>
        </p:nvSpPr>
        <p:spPr>
          <a:xfrm>
            <a:off x="11073384" y="457200"/>
            <a:ext cx="475488" cy="475488"/>
          </a:xfrm>
          <a:prstGeom prst="rect">
            <a:avLst/>
          </a:prstGeom>
          <a:noFill/>
          <a:ln/>
        </p:spPr>
        <p:txBody>
          <a:bodyPr wrap="square" lIns="0" tIns="0" rIns="0" bIns="0" rtlCol="0" anchor="ctr"/>
          <a:lstStyle/>
          <a:p>
            <a:pPr algn="ctr" indent="0" marL="0">
              <a:buNone/>
            </a:pPr>
            <a:r>
              <a:rPr lang="en-US" sz="1300" b="1" dirty="0">
                <a:solidFill>
                  <a:srgbClr val="2E3A59"/>
                </a:solidFill>
                <a:latin typeface="Meiryo" pitchFamily="34" charset="0"/>
                <a:ea typeface="Meiryo" pitchFamily="34" charset="-122"/>
                <a:cs typeface="Meiryo" pitchFamily="34" charset="-120"/>
              </a:rPr>
              <a:t>6</a:t>
            </a:r>
            <a:endParaRPr lang="en-US" sz="1300" dirty="0"/>
          </a:p>
        </p:txBody>
      </p:sp>
      <p:sp>
        <p:nvSpPr>
          <p:cNvPr id="6" name="Shape 4"/>
          <p:cNvSpPr/>
          <p:nvPr/>
        </p:nvSpPr>
        <p:spPr>
          <a:xfrm>
            <a:off x="640080" y="1645920"/>
            <a:ext cx="5349240" cy="3749040"/>
          </a:xfrm>
          <a:prstGeom prst="roundRect">
            <a:avLst>
              <a:gd name="adj" fmla="val 1463"/>
            </a:avLst>
          </a:prstGeom>
          <a:solidFill>
            <a:srgbClr val="F2F4F8"/>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7" name="Text 5"/>
          <p:cNvSpPr txBox="1"/>
          <p:nvPr/>
        </p:nvSpPr>
        <p:spPr>
          <a:xfrm>
            <a:off x="1005840" y="1874520"/>
            <a:ext cx="4572000" cy="365760"/>
          </a:xfrm>
          <a:prstGeom prst="rect">
            <a:avLst/>
          </a:prstGeom>
          <a:noFill/>
          <a:ln/>
        </p:spPr>
        <p:txBody>
          <a:bodyPr wrap="square" lIns="0" tIns="0" rIns="0" bIns="0" rtlCol="0" anchor="ctr"/>
          <a:lstStyle/>
          <a:p>
            <a:pPr indent="0" marL="0">
              <a:buNone/>
            </a:pPr>
            <a:r>
              <a:rPr lang="en-US" sz="1600" b="1" dirty="0">
                <a:solidFill>
                  <a:srgbClr val="2E3A59"/>
                </a:solidFill>
                <a:latin typeface="Meiryo" pitchFamily="34" charset="0"/>
                <a:ea typeface="Meiryo" pitchFamily="34" charset="-122"/>
                <a:cs typeface="Meiryo" pitchFamily="34" charset="-120"/>
              </a:rPr>
              <a:t>わかっていること</a:t>
            </a:r>
            <a:endParaRPr lang="en-US" sz="1600" dirty="0"/>
          </a:p>
        </p:txBody>
      </p:sp>
      <p:sp>
        <p:nvSpPr>
          <p:cNvPr id="8" name="Text 6"/>
          <p:cNvSpPr txBox="1"/>
          <p:nvPr/>
        </p:nvSpPr>
        <p:spPr>
          <a:xfrm>
            <a:off x="1005840" y="2377440"/>
            <a:ext cx="4617720" cy="2651760"/>
          </a:xfrm>
          <a:prstGeom prst="rect">
            <a:avLst/>
          </a:prstGeom>
          <a:noFill/>
          <a:ln/>
        </p:spPr>
        <p:txBody>
          <a:bodyPr wrap="square" lIns="0" tIns="0" rIns="0" bIns="0" rtlCol="0" anchor="ctr"/>
          <a:lstStyle/>
          <a:p>
            <a:pPr marL="342900" indent="-342900">
              <a:lnSpc>
                <a:spcPts val="1900"/>
              </a:lnSpc>
              <a:spcAft>
                <a:spcPts val="1000"/>
              </a:spcAft>
              <a:buSzPct val="100000"/>
              <a:buChar char="•"/>
            </a:pPr>
            <a:r>
              <a:rPr lang="en-US" sz="1250" dirty="0">
                <a:solidFill>
                  <a:srgbClr val="1F2430"/>
                </a:solidFill>
                <a:latin typeface="Meiryo" pitchFamily="34" charset="0"/>
                <a:ea typeface="Meiryo" pitchFamily="34" charset="-122"/>
                <a:cs typeface="Meiryo" pitchFamily="34" charset="-120"/>
              </a:rPr>
              <a:t>化粧品38種（うちネイル16種）の3Tでのアーチファクト評価</a:t>
            </a:r>
            <a:endParaRPr lang="en-US" sz="1250" dirty="0"/>
          </a:p>
          <a:p>
            <a:pPr marL="342900" indent="-342900">
              <a:lnSpc>
                <a:spcPts val="1900"/>
              </a:lnSpc>
              <a:spcAft>
                <a:spcPts val="1000"/>
              </a:spcAft>
              <a:buSzPct val="100000"/>
              <a:buChar char="•"/>
            </a:pPr>
            <a:r>
              <a:rPr lang="en-US" sz="1250" dirty="0">
                <a:solidFill>
                  <a:srgbClr val="1F2430"/>
                </a:solidFill>
                <a:latin typeface="Meiryo" pitchFamily="34" charset="0"/>
                <a:ea typeface="Meiryo" pitchFamily="34" charset="-122"/>
                <a:cs typeface="Meiryo" pitchFamily="34" charset="-120"/>
              </a:rPr>
              <a:t>アイメイクでは黒色酸化鉄のみが吸引力を示し、除去が推奨される</a:t>
            </a:r>
            <a:endParaRPr lang="en-US" sz="1250" dirty="0"/>
          </a:p>
          <a:p>
            <a:pPr marL="342900" indent="-342900">
              <a:lnSpc>
                <a:spcPts val="1900"/>
              </a:lnSpc>
              <a:spcAft>
                <a:spcPts val="1000"/>
              </a:spcAft>
              <a:buSzPct val="100000"/>
              <a:buChar char="•"/>
            </a:pPr>
            <a:r>
              <a:rPr lang="en-US" sz="1250" dirty="0">
                <a:solidFill>
                  <a:srgbClr val="1F2430"/>
                </a:solidFill>
                <a:latin typeface="Meiryo" pitchFamily="34" charset="0"/>
                <a:ea typeface="Meiryo" pitchFamily="34" charset="-122"/>
                <a:cs typeface="Meiryo" pitchFamily="34" charset="-120"/>
              </a:rPr>
              <a:t>タトゥー色素中の磁性物質と、MRI中の熱傷症例</a:t>
            </a:r>
            <a:endParaRPr lang="en-US" sz="1250" dirty="0"/>
          </a:p>
          <a:p>
            <a:pPr marL="342900" indent="-342900">
              <a:lnSpc>
                <a:spcPts val="1900"/>
              </a:lnSpc>
              <a:spcAft>
                <a:spcPts val="1000"/>
              </a:spcAft>
              <a:buSzPct val="100000"/>
              <a:buChar char="•"/>
            </a:pPr>
            <a:r>
              <a:rPr lang="en-US" sz="1250" dirty="0">
                <a:solidFill>
                  <a:srgbClr val="1F2430"/>
                </a:solidFill>
                <a:latin typeface="Meiryo" pitchFamily="34" charset="0"/>
                <a:ea typeface="Meiryo" pitchFamily="34" charset="-122"/>
                <a:cs typeface="Meiryo" pitchFamily="34" charset="-120"/>
              </a:rPr>
              <a:t>微量鉄粉（0.01〜1.7 mg）が作るアーチファクトの定量</a:t>
            </a:r>
            <a:endParaRPr lang="en-US" sz="1250" dirty="0"/>
          </a:p>
        </p:txBody>
      </p:sp>
      <p:sp>
        <p:nvSpPr>
          <p:cNvPr id="9" name="Shape 7"/>
          <p:cNvSpPr/>
          <p:nvPr/>
        </p:nvSpPr>
        <p:spPr>
          <a:xfrm>
            <a:off x="6263640" y="1645920"/>
            <a:ext cx="5349240" cy="3749040"/>
          </a:xfrm>
          <a:prstGeom prst="roundRect">
            <a:avLst>
              <a:gd name="adj" fmla="val 1463"/>
            </a:avLst>
          </a:prstGeom>
          <a:solidFill>
            <a:srgbClr val="FBF1F5"/>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10" name="Text 8"/>
          <p:cNvSpPr txBox="1"/>
          <p:nvPr/>
        </p:nvSpPr>
        <p:spPr>
          <a:xfrm>
            <a:off x="6629400" y="1874520"/>
            <a:ext cx="4572000" cy="365760"/>
          </a:xfrm>
          <a:prstGeom prst="rect">
            <a:avLst/>
          </a:prstGeom>
          <a:noFill/>
          <a:ln/>
        </p:spPr>
        <p:txBody>
          <a:bodyPr wrap="square" lIns="0" tIns="0" rIns="0" bIns="0" rtlCol="0" anchor="ctr"/>
          <a:lstStyle/>
          <a:p>
            <a:pPr indent="0" marL="0">
              <a:buNone/>
            </a:pPr>
            <a:r>
              <a:rPr lang="en-US" sz="1600" b="1" dirty="0">
                <a:solidFill>
                  <a:srgbClr val="B5326A"/>
                </a:solidFill>
                <a:latin typeface="Meiryo" pitchFamily="34" charset="0"/>
                <a:ea typeface="Meiryo" pitchFamily="34" charset="-122"/>
                <a:cs typeface="Meiryo" pitchFamily="34" charset="-120"/>
              </a:rPr>
              <a:t>まだ埋まっていない空白</a:t>
            </a:r>
            <a:endParaRPr lang="en-US" sz="1600" dirty="0"/>
          </a:p>
        </p:txBody>
      </p:sp>
      <p:sp>
        <p:nvSpPr>
          <p:cNvPr id="11" name="Text 9"/>
          <p:cNvSpPr txBox="1"/>
          <p:nvPr/>
        </p:nvSpPr>
        <p:spPr>
          <a:xfrm>
            <a:off x="6629400" y="2377440"/>
            <a:ext cx="4617720" cy="2651760"/>
          </a:xfrm>
          <a:prstGeom prst="rect">
            <a:avLst/>
          </a:prstGeom>
          <a:noFill/>
          <a:ln/>
        </p:spPr>
        <p:txBody>
          <a:bodyPr wrap="square" lIns="0" tIns="0" rIns="0" bIns="0" rtlCol="0" anchor="ctr"/>
          <a:lstStyle/>
          <a:p>
            <a:pPr marL="342900" indent="-342900">
              <a:lnSpc>
                <a:spcPts val="1900"/>
              </a:lnSpc>
              <a:spcAft>
                <a:spcPts val="1000"/>
              </a:spcAft>
              <a:buSzPct val="100000"/>
              <a:buChar char="•"/>
            </a:pPr>
            <a:r>
              <a:rPr lang="en-US" sz="1250" dirty="0">
                <a:solidFill>
                  <a:srgbClr val="1F2430"/>
                </a:solidFill>
                <a:latin typeface="Meiryo" pitchFamily="34" charset="0"/>
                <a:ea typeface="Meiryo" pitchFamily="34" charset="-122"/>
                <a:cs typeface="Meiryo" pitchFamily="34" charset="-120"/>
              </a:rPr>
              <a:t>マグネットネイル製品そのものの系統的な評価</a:t>
            </a:r>
            <a:endParaRPr lang="en-US" sz="1250" dirty="0"/>
          </a:p>
          <a:p>
            <a:pPr marL="342900" indent="-342900">
              <a:lnSpc>
                <a:spcPts val="1900"/>
              </a:lnSpc>
              <a:spcAft>
                <a:spcPts val="1000"/>
              </a:spcAft>
              <a:buSzPct val="100000"/>
              <a:buChar char="•"/>
            </a:pPr>
            <a:r>
              <a:rPr lang="en-US" sz="1250" dirty="0">
                <a:solidFill>
                  <a:srgbClr val="1F2430"/>
                </a:solidFill>
                <a:latin typeface="Meiryo" pitchFamily="34" charset="0"/>
                <a:ea typeface="Meiryo" pitchFamily="34" charset="-122"/>
                <a:cs typeface="Meiryo" pitchFamily="34" charset="-120"/>
              </a:rPr>
              <a:t>磁石で「整列させた状態」が影響を変えるか</a:t>
            </a:r>
            <a:endParaRPr lang="en-US" sz="1250" dirty="0"/>
          </a:p>
          <a:p>
            <a:pPr marL="342900" indent="-342900">
              <a:lnSpc>
                <a:spcPts val="1900"/>
              </a:lnSpc>
              <a:spcAft>
                <a:spcPts val="1000"/>
              </a:spcAft>
              <a:buSzPct val="100000"/>
              <a:buChar char="•"/>
            </a:pPr>
            <a:r>
              <a:rPr lang="en-US" sz="1250" dirty="0">
                <a:solidFill>
                  <a:srgbClr val="1F2430"/>
                </a:solidFill>
                <a:latin typeface="Meiryo" pitchFamily="34" charset="0"/>
                <a:ea typeface="Meiryo" pitchFamily="34" charset="-122"/>
                <a:cs typeface="Meiryo" pitchFamily="34" charset="-120"/>
              </a:rPr>
              <a:t>1.5T と 3T の直接比較</a:t>
            </a:r>
            <a:endParaRPr lang="en-US" sz="1250" dirty="0"/>
          </a:p>
          <a:p>
            <a:pPr marL="342900" indent="-342900">
              <a:lnSpc>
                <a:spcPts val="1900"/>
              </a:lnSpc>
              <a:spcAft>
                <a:spcPts val="1000"/>
              </a:spcAft>
              <a:buSzPct val="100000"/>
              <a:buChar char="•"/>
            </a:pPr>
            <a:r>
              <a:rPr lang="en-US" sz="1250" dirty="0">
                <a:solidFill>
                  <a:srgbClr val="1F2430"/>
                </a:solidFill>
                <a:latin typeface="Meiryo" pitchFamily="34" charset="0"/>
                <a:ea typeface="Meiryo" pitchFamily="34" charset="-122"/>
                <a:cs typeface="Meiryo" pitchFamily="34" charset="-120"/>
              </a:rPr>
              <a:t>撮影部位からの距離による減衰 ＝ 部位別に分けられるか</a:t>
            </a:r>
            <a:endParaRPr lang="en-US" sz="1250" dirty="0"/>
          </a:p>
        </p:txBody>
      </p:sp>
      <p:sp>
        <p:nvSpPr>
          <p:cNvPr id="12" name="Text 10"/>
          <p:cNvSpPr txBox="1"/>
          <p:nvPr/>
        </p:nvSpPr>
        <p:spPr>
          <a:xfrm>
            <a:off x="640080" y="6345936"/>
            <a:ext cx="8897112" cy="274320"/>
          </a:xfrm>
          <a:prstGeom prst="rect">
            <a:avLst/>
          </a:prstGeom>
          <a:noFill/>
          <a:ln/>
        </p:spPr>
        <p:txBody>
          <a:bodyPr wrap="square" lIns="0" tIns="0" rIns="0" bIns="0" rtlCol="0" anchor="ctr"/>
          <a:lstStyle/>
          <a:p>
            <a:pPr indent="0" marL="0">
              <a:buNone/>
            </a:pPr>
            <a:r>
              <a:rPr lang="en-US" sz="1000" dirty="0">
                <a:solidFill>
                  <a:srgbClr val="6B7280"/>
                </a:solidFill>
                <a:latin typeface="Meiryo" pitchFamily="34" charset="0"/>
                <a:ea typeface="Meiryo" pitchFamily="34" charset="-122"/>
                <a:cs typeface="Meiryo" pitchFamily="34" charset="-120"/>
              </a:rPr>
              <a:t>参考：PMID 23290125 / 39631939 / 7833178 / 29250836 ほか</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384048"/>
            <a:ext cx="9902952" cy="256032"/>
          </a:xfrm>
          <a:prstGeom prst="rect">
            <a:avLst/>
          </a:prstGeom>
          <a:noFill/>
          <a:ln/>
        </p:spPr>
        <p:txBody>
          <a:bodyPr wrap="square" lIns="0" tIns="0" rIns="0" bIns="0" rtlCol="0" anchor="ctr"/>
          <a:lstStyle/>
          <a:p>
            <a:pPr indent="0" marL="0">
              <a:buNone/>
            </a:pPr>
            <a:r>
              <a:rPr lang="en-US" sz="1200" b="1" spc="200" kern="0" dirty="0">
                <a:solidFill>
                  <a:srgbClr val="1B9AAA"/>
                </a:solidFill>
                <a:latin typeface="Meiryo" pitchFamily="34" charset="0"/>
                <a:ea typeface="Meiryo" pitchFamily="34" charset="-122"/>
                <a:cs typeface="Meiryo" pitchFamily="34" charset="-120"/>
              </a:rPr>
              <a:t>目的</a:t>
            </a:r>
            <a:endParaRPr lang="en-US" sz="1200" dirty="0"/>
          </a:p>
        </p:txBody>
      </p:sp>
      <p:sp>
        <p:nvSpPr>
          <p:cNvPr id="3" name="Text 1"/>
          <p:cNvSpPr txBox="1"/>
          <p:nvPr/>
        </p:nvSpPr>
        <p:spPr>
          <a:xfrm>
            <a:off x="640080" y="658368"/>
            <a:ext cx="9902952" cy="731520"/>
          </a:xfrm>
          <a:prstGeom prst="rect">
            <a:avLst/>
          </a:prstGeom>
          <a:noFill/>
          <a:ln/>
        </p:spPr>
        <p:txBody>
          <a:bodyPr wrap="square" lIns="0" tIns="0" rIns="0" bIns="0" rtlCol="0" anchor="t"/>
          <a:lstStyle/>
          <a:p>
            <a:pPr indent="0" marL="0">
              <a:buNone/>
            </a:pPr>
            <a:r>
              <a:rPr lang="en-US" sz="3000" b="1" dirty="0">
                <a:solidFill>
                  <a:srgbClr val="0F1626"/>
                </a:solidFill>
                <a:latin typeface="Meiryo" pitchFamily="34" charset="0"/>
                <a:ea typeface="Meiryo" pitchFamily="34" charset="-122"/>
                <a:cs typeface="Meiryo" pitchFamily="34" charset="-120"/>
              </a:rPr>
              <a:t>3つの階層で問いを立てる</a:t>
            </a:r>
            <a:endParaRPr lang="en-US" sz="3000" dirty="0"/>
          </a:p>
        </p:txBody>
      </p:sp>
      <p:sp>
        <p:nvSpPr>
          <p:cNvPr id="4" name="Shape 2"/>
          <p:cNvSpPr/>
          <p:nvPr/>
        </p:nvSpPr>
        <p:spPr>
          <a:xfrm>
            <a:off x="11073384" y="457200"/>
            <a:ext cx="475488" cy="475488"/>
          </a:xfrm>
          <a:prstGeom prst="ellipse">
            <a:avLst/>
          </a:prstGeom>
          <a:solidFill>
            <a:srgbClr val="F2F4F8"/>
          </a:solidFill>
          <a:ln w="12700">
            <a:solidFill>
              <a:srgbClr val="FFFFFF"/>
            </a:solidFill>
            <a:prstDash val="solid"/>
          </a:ln>
        </p:spPr>
      </p:sp>
      <p:sp>
        <p:nvSpPr>
          <p:cNvPr id="5" name="Text 3"/>
          <p:cNvSpPr txBox="1"/>
          <p:nvPr/>
        </p:nvSpPr>
        <p:spPr>
          <a:xfrm>
            <a:off x="11073384" y="457200"/>
            <a:ext cx="475488" cy="475488"/>
          </a:xfrm>
          <a:prstGeom prst="rect">
            <a:avLst/>
          </a:prstGeom>
          <a:noFill/>
          <a:ln/>
        </p:spPr>
        <p:txBody>
          <a:bodyPr wrap="square" lIns="0" tIns="0" rIns="0" bIns="0" rtlCol="0" anchor="ctr"/>
          <a:lstStyle/>
          <a:p>
            <a:pPr algn="ctr" indent="0" marL="0">
              <a:buNone/>
            </a:pPr>
            <a:r>
              <a:rPr lang="en-US" sz="1300" b="1" dirty="0">
                <a:solidFill>
                  <a:srgbClr val="2E3A59"/>
                </a:solidFill>
                <a:latin typeface="Meiryo" pitchFamily="34" charset="0"/>
                <a:ea typeface="Meiryo" pitchFamily="34" charset="-122"/>
                <a:cs typeface="Meiryo" pitchFamily="34" charset="-120"/>
              </a:rPr>
              <a:t>7</a:t>
            </a:r>
            <a:endParaRPr lang="en-US" sz="1300" dirty="0"/>
          </a:p>
        </p:txBody>
      </p:sp>
      <p:sp>
        <p:nvSpPr>
          <p:cNvPr id="6" name="Shape 4"/>
          <p:cNvSpPr/>
          <p:nvPr/>
        </p:nvSpPr>
        <p:spPr>
          <a:xfrm>
            <a:off x="640080" y="1645920"/>
            <a:ext cx="10908792" cy="1143000"/>
          </a:xfrm>
          <a:prstGeom prst="roundRect">
            <a:avLst>
              <a:gd name="adj" fmla="val 4800"/>
            </a:avLst>
          </a:prstGeom>
          <a:solidFill>
            <a:srgbClr val="F2F4F8"/>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7" name="Shape 5"/>
          <p:cNvSpPr/>
          <p:nvPr/>
        </p:nvSpPr>
        <p:spPr>
          <a:xfrm>
            <a:off x="914400" y="1965960"/>
            <a:ext cx="502920" cy="502920"/>
          </a:xfrm>
          <a:prstGeom prst="ellipse">
            <a:avLst/>
          </a:prstGeom>
          <a:solidFill>
            <a:srgbClr val="1B9AAA"/>
          </a:solidFill>
          <a:ln w="12700">
            <a:solidFill>
              <a:srgbClr val="FFFFFF"/>
            </a:solidFill>
            <a:prstDash val="solid"/>
          </a:ln>
        </p:spPr>
      </p:sp>
      <p:sp>
        <p:nvSpPr>
          <p:cNvPr id="8" name="Text 6"/>
          <p:cNvSpPr txBox="1"/>
          <p:nvPr/>
        </p:nvSpPr>
        <p:spPr>
          <a:xfrm>
            <a:off x="914400" y="196596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Q1</a:t>
            </a:r>
            <a:endParaRPr lang="en-US" sz="1400" dirty="0"/>
          </a:p>
        </p:txBody>
      </p:sp>
      <p:sp>
        <p:nvSpPr>
          <p:cNvPr id="9" name="Text 7"/>
          <p:cNvSpPr txBox="1"/>
          <p:nvPr/>
        </p:nvSpPr>
        <p:spPr>
          <a:xfrm>
            <a:off x="1554480" y="1828800"/>
            <a:ext cx="914400" cy="274320"/>
          </a:xfrm>
          <a:prstGeom prst="rect">
            <a:avLst/>
          </a:prstGeom>
          <a:noFill/>
          <a:ln/>
        </p:spPr>
        <p:txBody>
          <a:bodyPr wrap="square" lIns="0" tIns="0" rIns="0" bIns="0" rtlCol="0" anchor="ctr"/>
          <a:lstStyle/>
          <a:p>
            <a:pPr indent="0" marL="0">
              <a:buNone/>
            </a:pPr>
            <a:r>
              <a:rPr lang="en-US" sz="1100" b="1" dirty="0">
                <a:solidFill>
                  <a:srgbClr val="1B9AAA"/>
                </a:solidFill>
                <a:latin typeface="Meiryo" pitchFamily="34" charset="0"/>
                <a:ea typeface="Meiryo" pitchFamily="34" charset="-122"/>
                <a:cs typeface="Meiryo" pitchFamily="34" charset="-120"/>
              </a:rPr>
              <a:t>物理</a:t>
            </a:r>
            <a:endParaRPr lang="en-US" sz="1100" dirty="0"/>
          </a:p>
        </p:txBody>
      </p:sp>
      <p:sp>
        <p:nvSpPr>
          <p:cNvPr id="10" name="Text 8"/>
          <p:cNvSpPr txBox="1"/>
          <p:nvPr/>
        </p:nvSpPr>
        <p:spPr>
          <a:xfrm>
            <a:off x="1554480" y="2084832"/>
            <a:ext cx="5120640" cy="365760"/>
          </a:xfrm>
          <a:prstGeom prst="rect">
            <a:avLst/>
          </a:prstGeom>
          <a:noFill/>
          <a:ln/>
        </p:spPr>
        <p:txBody>
          <a:bodyPr wrap="square" lIns="0" tIns="0" rIns="0" bIns="0" rtlCol="0" anchor="t"/>
          <a:lstStyle/>
          <a:p>
            <a:pPr indent="0" marL="0">
              <a:buNone/>
            </a:pPr>
            <a:r>
              <a:rPr lang="en-US" sz="1550" b="1" dirty="0">
                <a:solidFill>
                  <a:srgbClr val="0F1626"/>
                </a:solidFill>
                <a:latin typeface="Meiryo" pitchFamily="34" charset="0"/>
                <a:ea typeface="Meiryo" pitchFamily="34" charset="-122"/>
                <a:cs typeface="Meiryo" pitchFamily="34" charset="-120"/>
              </a:rPr>
              <a:t>どの経路で、どれだけ干渉するのか</a:t>
            </a:r>
            <a:endParaRPr lang="en-US" sz="1550" dirty="0"/>
          </a:p>
        </p:txBody>
      </p:sp>
      <p:sp>
        <p:nvSpPr>
          <p:cNvPr id="11" name="Text 9"/>
          <p:cNvSpPr txBox="1"/>
          <p:nvPr/>
        </p:nvSpPr>
        <p:spPr>
          <a:xfrm>
            <a:off x="7040880" y="1938528"/>
            <a:ext cx="4160520" cy="685800"/>
          </a:xfrm>
          <a:prstGeom prst="rect">
            <a:avLst/>
          </a:prstGeom>
          <a:noFill/>
          <a:ln/>
        </p:spPr>
        <p:txBody>
          <a:bodyPr wrap="square" lIns="0" tIns="0" rIns="0" bIns="0" rtlCol="0" anchor="ctr"/>
          <a:lstStyle/>
          <a:p>
            <a:pPr indent="0" marL="0">
              <a:lnSpc>
                <a:spcPts val="1700"/>
              </a:lnSpc>
              <a:buNone/>
            </a:pPr>
            <a:r>
              <a:rPr lang="en-US" sz="1150" dirty="0">
                <a:solidFill>
                  <a:srgbClr val="1F2430"/>
                </a:solidFill>
                <a:latin typeface="Meiryo" pitchFamily="34" charset="0"/>
                <a:ea typeface="Meiryo" pitchFamily="34" charset="-122"/>
                <a:cs typeface="Meiryo" pitchFamily="34" charset="-120"/>
              </a:rPr>
              <a:t>仮説：吸引力は規格の許容範囲に収まるが、画像アーチファクトは明確に生じる</a:t>
            </a:r>
            <a:endParaRPr lang="en-US" sz="1150" dirty="0"/>
          </a:p>
        </p:txBody>
      </p:sp>
      <p:sp>
        <p:nvSpPr>
          <p:cNvPr id="12" name="Shape 10"/>
          <p:cNvSpPr/>
          <p:nvPr/>
        </p:nvSpPr>
        <p:spPr>
          <a:xfrm>
            <a:off x="640080" y="2971800"/>
            <a:ext cx="10908792" cy="1143000"/>
          </a:xfrm>
          <a:prstGeom prst="roundRect">
            <a:avLst>
              <a:gd name="adj" fmla="val 4800"/>
            </a:avLst>
          </a:prstGeom>
          <a:solidFill>
            <a:srgbClr val="F2F4F8"/>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13" name="Shape 11"/>
          <p:cNvSpPr/>
          <p:nvPr/>
        </p:nvSpPr>
        <p:spPr>
          <a:xfrm>
            <a:off x="914400" y="3291840"/>
            <a:ext cx="502920" cy="502920"/>
          </a:xfrm>
          <a:prstGeom prst="ellipse">
            <a:avLst/>
          </a:prstGeom>
          <a:solidFill>
            <a:srgbClr val="2E3A59"/>
          </a:solidFill>
          <a:ln w="12700">
            <a:solidFill>
              <a:srgbClr val="FFFFFF"/>
            </a:solidFill>
            <a:prstDash val="solid"/>
          </a:ln>
        </p:spPr>
      </p:sp>
      <p:sp>
        <p:nvSpPr>
          <p:cNvPr id="14" name="Text 12"/>
          <p:cNvSpPr txBox="1"/>
          <p:nvPr/>
        </p:nvSpPr>
        <p:spPr>
          <a:xfrm>
            <a:off x="914400" y="329184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Q2</a:t>
            </a:r>
            <a:endParaRPr lang="en-US" sz="1400" dirty="0"/>
          </a:p>
        </p:txBody>
      </p:sp>
      <p:sp>
        <p:nvSpPr>
          <p:cNvPr id="15" name="Text 13"/>
          <p:cNvSpPr txBox="1"/>
          <p:nvPr/>
        </p:nvSpPr>
        <p:spPr>
          <a:xfrm>
            <a:off x="1554480" y="3154680"/>
            <a:ext cx="914400" cy="274320"/>
          </a:xfrm>
          <a:prstGeom prst="rect">
            <a:avLst/>
          </a:prstGeom>
          <a:noFill/>
          <a:ln/>
        </p:spPr>
        <p:txBody>
          <a:bodyPr wrap="square" lIns="0" tIns="0" rIns="0" bIns="0" rtlCol="0" anchor="ctr"/>
          <a:lstStyle/>
          <a:p>
            <a:pPr indent="0" marL="0">
              <a:buNone/>
            </a:pPr>
            <a:r>
              <a:rPr lang="en-US" sz="1100" b="1" dirty="0">
                <a:solidFill>
                  <a:srgbClr val="2E3A59"/>
                </a:solidFill>
                <a:latin typeface="Meiryo" pitchFamily="34" charset="0"/>
                <a:ea typeface="Meiryo" pitchFamily="34" charset="-122"/>
                <a:cs typeface="Meiryo" pitchFamily="34" charset="-120"/>
              </a:rPr>
              <a:t>条件</a:t>
            </a:r>
            <a:endParaRPr lang="en-US" sz="1100" dirty="0"/>
          </a:p>
        </p:txBody>
      </p:sp>
      <p:sp>
        <p:nvSpPr>
          <p:cNvPr id="16" name="Text 14"/>
          <p:cNvSpPr txBox="1"/>
          <p:nvPr/>
        </p:nvSpPr>
        <p:spPr>
          <a:xfrm>
            <a:off x="1554480" y="3410712"/>
            <a:ext cx="5120640" cy="365760"/>
          </a:xfrm>
          <a:prstGeom prst="rect">
            <a:avLst/>
          </a:prstGeom>
          <a:noFill/>
          <a:ln/>
        </p:spPr>
        <p:txBody>
          <a:bodyPr wrap="square" lIns="0" tIns="0" rIns="0" bIns="0" rtlCol="0" anchor="t"/>
          <a:lstStyle/>
          <a:p>
            <a:pPr indent="0" marL="0">
              <a:buNone/>
            </a:pPr>
            <a:r>
              <a:rPr lang="en-US" sz="1550" b="1" dirty="0">
                <a:solidFill>
                  <a:srgbClr val="0F1626"/>
                </a:solidFill>
                <a:latin typeface="Meiryo" pitchFamily="34" charset="0"/>
                <a:ea typeface="Meiryo" pitchFamily="34" charset="-122"/>
                <a:cs typeface="Meiryo" pitchFamily="34" charset="-120"/>
              </a:rPr>
              <a:t>磁場強度・シーケンス・距離でどう変わるのか</a:t>
            </a:r>
            <a:endParaRPr lang="en-US" sz="1550" dirty="0"/>
          </a:p>
        </p:txBody>
      </p:sp>
      <p:sp>
        <p:nvSpPr>
          <p:cNvPr id="17" name="Text 15"/>
          <p:cNvSpPr txBox="1"/>
          <p:nvPr/>
        </p:nvSpPr>
        <p:spPr>
          <a:xfrm>
            <a:off x="7040880" y="3264408"/>
            <a:ext cx="4160520" cy="685800"/>
          </a:xfrm>
          <a:prstGeom prst="rect">
            <a:avLst/>
          </a:prstGeom>
          <a:noFill/>
          <a:ln/>
        </p:spPr>
        <p:txBody>
          <a:bodyPr wrap="square" lIns="0" tIns="0" rIns="0" bIns="0" rtlCol="0" anchor="ctr"/>
          <a:lstStyle/>
          <a:p>
            <a:pPr indent="0" marL="0">
              <a:lnSpc>
                <a:spcPts val="1700"/>
              </a:lnSpc>
              <a:buNone/>
            </a:pPr>
            <a:r>
              <a:rPr lang="en-US" sz="1150" dirty="0">
                <a:solidFill>
                  <a:srgbClr val="1F2430"/>
                </a:solidFill>
                <a:latin typeface="Meiryo" pitchFamily="34" charset="0"/>
                <a:ea typeface="Meiryo" pitchFamily="34" charset="-122"/>
                <a:cs typeface="Meiryo" pitchFamily="34" charset="-120"/>
              </a:rPr>
              <a:t>仮説：アーチファクトは B₀ と TE に比例し、距離とともに急速に減衰する</a:t>
            </a:r>
            <a:endParaRPr lang="en-US" sz="1150" dirty="0"/>
          </a:p>
        </p:txBody>
      </p:sp>
      <p:sp>
        <p:nvSpPr>
          <p:cNvPr id="18" name="Shape 16"/>
          <p:cNvSpPr/>
          <p:nvPr/>
        </p:nvSpPr>
        <p:spPr>
          <a:xfrm>
            <a:off x="640080" y="4297680"/>
            <a:ext cx="10908792" cy="1143000"/>
          </a:xfrm>
          <a:prstGeom prst="roundRect">
            <a:avLst>
              <a:gd name="adj" fmla="val 4800"/>
            </a:avLst>
          </a:prstGeom>
          <a:solidFill>
            <a:srgbClr val="F2F4F8"/>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19" name="Shape 17"/>
          <p:cNvSpPr/>
          <p:nvPr/>
        </p:nvSpPr>
        <p:spPr>
          <a:xfrm>
            <a:off x="914400" y="4617720"/>
            <a:ext cx="502920" cy="502920"/>
          </a:xfrm>
          <a:prstGeom prst="ellipse">
            <a:avLst/>
          </a:prstGeom>
          <a:solidFill>
            <a:srgbClr val="B5326A"/>
          </a:solidFill>
          <a:ln w="12700">
            <a:solidFill>
              <a:srgbClr val="FFFFFF"/>
            </a:solidFill>
            <a:prstDash val="solid"/>
          </a:ln>
        </p:spPr>
      </p:sp>
      <p:sp>
        <p:nvSpPr>
          <p:cNvPr id="20" name="Text 18"/>
          <p:cNvSpPr txBox="1"/>
          <p:nvPr/>
        </p:nvSpPr>
        <p:spPr>
          <a:xfrm>
            <a:off x="914400" y="461772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Q3</a:t>
            </a:r>
            <a:endParaRPr lang="en-US" sz="1400" dirty="0"/>
          </a:p>
        </p:txBody>
      </p:sp>
      <p:sp>
        <p:nvSpPr>
          <p:cNvPr id="21" name="Text 19"/>
          <p:cNvSpPr txBox="1"/>
          <p:nvPr/>
        </p:nvSpPr>
        <p:spPr>
          <a:xfrm>
            <a:off x="1554480" y="4480560"/>
            <a:ext cx="914400" cy="274320"/>
          </a:xfrm>
          <a:prstGeom prst="rect">
            <a:avLst/>
          </a:prstGeom>
          <a:noFill/>
          <a:ln/>
        </p:spPr>
        <p:txBody>
          <a:bodyPr wrap="square" lIns="0" tIns="0" rIns="0" bIns="0" rtlCol="0" anchor="ctr"/>
          <a:lstStyle/>
          <a:p>
            <a:pPr indent="0" marL="0">
              <a:buNone/>
            </a:pPr>
            <a:r>
              <a:rPr lang="en-US" sz="1100" b="1" dirty="0">
                <a:solidFill>
                  <a:srgbClr val="B5326A"/>
                </a:solidFill>
                <a:latin typeface="Meiryo" pitchFamily="34" charset="0"/>
                <a:ea typeface="Meiryo" pitchFamily="34" charset="-122"/>
                <a:cs typeface="Meiryo" pitchFamily="34" charset="-120"/>
              </a:rPr>
              <a:t>運用</a:t>
            </a:r>
            <a:endParaRPr lang="en-US" sz="1100" dirty="0"/>
          </a:p>
        </p:txBody>
      </p:sp>
      <p:sp>
        <p:nvSpPr>
          <p:cNvPr id="22" name="Text 20"/>
          <p:cNvSpPr txBox="1"/>
          <p:nvPr/>
        </p:nvSpPr>
        <p:spPr>
          <a:xfrm>
            <a:off x="1554480" y="4736592"/>
            <a:ext cx="5120640" cy="365760"/>
          </a:xfrm>
          <a:prstGeom prst="rect">
            <a:avLst/>
          </a:prstGeom>
          <a:noFill/>
          <a:ln/>
        </p:spPr>
        <p:txBody>
          <a:bodyPr wrap="square" lIns="0" tIns="0" rIns="0" bIns="0" rtlCol="0" anchor="t"/>
          <a:lstStyle/>
          <a:p>
            <a:pPr indent="0" marL="0">
              <a:buNone/>
            </a:pPr>
            <a:r>
              <a:rPr lang="en-US" sz="1550" b="1" dirty="0">
                <a:solidFill>
                  <a:srgbClr val="0F1626"/>
                </a:solidFill>
                <a:latin typeface="Meiryo" pitchFamily="34" charset="0"/>
                <a:ea typeface="Meiryo" pitchFamily="34" charset="-122"/>
                <a:cs typeface="Meiryo" pitchFamily="34" charset="-120"/>
              </a:rPr>
              <a:t>では、どういうルールが妥当なのか</a:t>
            </a:r>
            <a:endParaRPr lang="en-US" sz="1550" dirty="0"/>
          </a:p>
        </p:txBody>
      </p:sp>
      <p:sp>
        <p:nvSpPr>
          <p:cNvPr id="23" name="Text 21"/>
          <p:cNvSpPr txBox="1"/>
          <p:nvPr/>
        </p:nvSpPr>
        <p:spPr>
          <a:xfrm>
            <a:off x="7040880" y="4590288"/>
            <a:ext cx="4160520" cy="685800"/>
          </a:xfrm>
          <a:prstGeom prst="rect">
            <a:avLst/>
          </a:prstGeom>
          <a:noFill/>
          <a:ln/>
        </p:spPr>
        <p:txBody>
          <a:bodyPr wrap="square" lIns="0" tIns="0" rIns="0" bIns="0" rtlCol="0" anchor="ctr"/>
          <a:lstStyle/>
          <a:p>
            <a:pPr indent="0" marL="0">
              <a:lnSpc>
                <a:spcPts val="1700"/>
              </a:lnSpc>
              <a:buNone/>
            </a:pPr>
            <a:r>
              <a:rPr lang="en-US" sz="1150" dirty="0">
                <a:solidFill>
                  <a:srgbClr val="1F2430"/>
                </a:solidFill>
                <a:latin typeface="Meiryo" pitchFamily="34" charset="0"/>
                <a:ea typeface="Meiryo" pitchFamily="34" charset="-122"/>
                <a:cs typeface="Meiryo" pitchFamily="34" charset="-120"/>
              </a:rPr>
              <a:t>仮説：全例延期は過剰であり、部位別の運用に置き換えられる</a:t>
            </a:r>
            <a:endParaRPr lang="en-US" sz="1150" dirty="0"/>
          </a:p>
        </p:txBody>
      </p:sp>
      <p:sp>
        <p:nvSpPr>
          <p:cNvPr id="24" name="Text 22"/>
          <p:cNvSpPr txBox="1"/>
          <p:nvPr/>
        </p:nvSpPr>
        <p:spPr>
          <a:xfrm>
            <a:off x="640080" y="5715000"/>
            <a:ext cx="10908792" cy="320040"/>
          </a:xfrm>
          <a:prstGeom prst="rect">
            <a:avLst/>
          </a:prstGeom>
          <a:noFill/>
          <a:ln/>
        </p:spPr>
        <p:txBody>
          <a:bodyPr wrap="square" lIns="0" tIns="0" rIns="0" bIns="0" rtlCol="0" anchor="ctr"/>
          <a:lstStyle/>
          <a:p>
            <a:pPr indent="0" marL="0">
              <a:buNone/>
            </a:pPr>
            <a:r>
              <a:rPr lang="en-US" sz="1400" b="1" dirty="0">
                <a:solidFill>
                  <a:srgbClr val="B5326A"/>
                </a:solidFill>
                <a:latin typeface="Meiryo" pitchFamily="34" charset="0"/>
                <a:ea typeface="Meiryo" pitchFamily="34" charset="-122"/>
                <a:cs typeface="Meiryo" pitchFamily="34" charset="-120"/>
              </a:rPr>
              <a:t>Q3 まで到達できることが、この研究の価値</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384048"/>
            <a:ext cx="9902952" cy="256032"/>
          </a:xfrm>
          <a:prstGeom prst="rect">
            <a:avLst/>
          </a:prstGeom>
          <a:noFill/>
          <a:ln/>
        </p:spPr>
        <p:txBody>
          <a:bodyPr wrap="square" lIns="0" tIns="0" rIns="0" bIns="0" rtlCol="0" anchor="ctr"/>
          <a:lstStyle/>
          <a:p>
            <a:pPr indent="0" marL="0">
              <a:buNone/>
            </a:pPr>
            <a:r>
              <a:rPr lang="en-US" sz="1200" b="1" spc="200" kern="0" dirty="0">
                <a:solidFill>
                  <a:srgbClr val="1B9AAA"/>
                </a:solidFill>
                <a:latin typeface="Meiryo" pitchFamily="34" charset="0"/>
                <a:ea typeface="Meiryo" pitchFamily="34" charset="-122"/>
                <a:cs typeface="Meiryo" pitchFamily="34" charset="-120"/>
              </a:rPr>
              <a:t>方法</a:t>
            </a:r>
            <a:endParaRPr lang="en-US" sz="1200" dirty="0"/>
          </a:p>
        </p:txBody>
      </p:sp>
      <p:sp>
        <p:nvSpPr>
          <p:cNvPr id="3" name="Text 1"/>
          <p:cNvSpPr txBox="1"/>
          <p:nvPr/>
        </p:nvSpPr>
        <p:spPr>
          <a:xfrm>
            <a:off x="640080" y="658368"/>
            <a:ext cx="9902952" cy="731520"/>
          </a:xfrm>
          <a:prstGeom prst="rect">
            <a:avLst/>
          </a:prstGeom>
          <a:noFill/>
          <a:ln/>
        </p:spPr>
        <p:txBody>
          <a:bodyPr wrap="square" lIns="0" tIns="0" rIns="0" bIns="0" rtlCol="0" anchor="t"/>
          <a:lstStyle/>
          <a:p>
            <a:pPr indent="0" marL="0">
              <a:buNone/>
            </a:pPr>
            <a:r>
              <a:rPr lang="en-US" sz="3000" b="1" dirty="0">
                <a:solidFill>
                  <a:srgbClr val="0F1626"/>
                </a:solidFill>
                <a:latin typeface="Meiryo" pitchFamily="34" charset="0"/>
                <a:ea typeface="Meiryo" pitchFamily="34" charset="-122"/>
                <a:cs typeface="Meiryo" pitchFamily="34" charset="-120"/>
              </a:rPr>
              <a:t>方法①　磁気吸引力 ─ 偏向角法（ASTM F2052 準拠）</a:t>
            </a:r>
            <a:endParaRPr lang="en-US" sz="3000" dirty="0"/>
          </a:p>
        </p:txBody>
      </p:sp>
      <p:sp>
        <p:nvSpPr>
          <p:cNvPr id="4" name="Shape 2"/>
          <p:cNvSpPr/>
          <p:nvPr/>
        </p:nvSpPr>
        <p:spPr>
          <a:xfrm>
            <a:off x="11073384" y="457200"/>
            <a:ext cx="475488" cy="475488"/>
          </a:xfrm>
          <a:prstGeom prst="ellipse">
            <a:avLst/>
          </a:prstGeom>
          <a:solidFill>
            <a:srgbClr val="F2F4F8"/>
          </a:solidFill>
          <a:ln w="12700">
            <a:solidFill>
              <a:srgbClr val="FFFFFF"/>
            </a:solidFill>
            <a:prstDash val="solid"/>
          </a:ln>
        </p:spPr>
      </p:sp>
      <p:sp>
        <p:nvSpPr>
          <p:cNvPr id="5" name="Text 3"/>
          <p:cNvSpPr txBox="1"/>
          <p:nvPr/>
        </p:nvSpPr>
        <p:spPr>
          <a:xfrm>
            <a:off x="11073384" y="457200"/>
            <a:ext cx="475488" cy="475488"/>
          </a:xfrm>
          <a:prstGeom prst="rect">
            <a:avLst/>
          </a:prstGeom>
          <a:noFill/>
          <a:ln/>
        </p:spPr>
        <p:txBody>
          <a:bodyPr wrap="square" lIns="0" tIns="0" rIns="0" bIns="0" rtlCol="0" anchor="ctr"/>
          <a:lstStyle/>
          <a:p>
            <a:pPr algn="ctr" indent="0" marL="0">
              <a:buNone/>
            </a:pPr>
            <a:r>
              <a:rPr lang="en-US" sz="1300" b="1" dirty="0">
                <a:solidFill>
                  <a:srgbClr val="2E3A59"/>
                </a:solidFill>
                <a:latin typeface="Meiryo" pitchFamily="34" charset="0"/>
                <a:ea typeface="Meiryo" pitchFamily="34" charset="-122"/>
                <a:cs typeface="Meiryo" pitchFamily="34" charset="-120"/>
              </a:rPr>
              <a:t>8</a:t>
            </a:r>
            <a:endParaRPr lang="en-US" sz="1300" dirty="0"/>
          </a:p>
        </p:txBody>
      </p:sp>
      <p:sp>
        <p:nvSpPr>
          <p:cNvPr id="6" name="Shape 4"/>
          <p:cNvSpPr/>
          <p:nvPr/>
        </p:nvSpPr>
        <p:spPr>
          <a:xfrm>
            <a:off x="640080" y="1645920"/>
            <a:ext cx="5029200" cy="3749040"/>
          </a:xfrm>
          <a:prstGeom prst="roundRect">
            <a:avLst>
              <a:gd name="adj" fmla="val 1463"/>
            </a:avLst>
          </a:prstGeom>
          <a:solidFill>
            <a:srgbClr val="EEF1F6"/>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7" name="Shape 5"/>
          <p:cNvSpPr/>
          <p:nvPr/>
        </p:nvSpPr>
        <p:spPr>
          <a:xfrm>
            <a:off x="1051560" y="1920240"/>
            <a:ext cx="4206240" cy="960120"/>
          </a:xfrm>
          <a:prstGeom prst="roundRect">
            <a:avLst>
              <a:gd name="adj" fmla="val 17143"/>
            </a:avLst>
          </a:prstGeom>
          <a:solidFill>
            <a:srgbClr val="FFFFFF"/>
          </a:solidFill>
          <a:ln w="19050">
            <a:solidFill>
              <a:srgbClr val="BCC6D4"/>
            </a:solidFill>
            <a:prstDash val="solid"/>
          </a:ln>
        </p:spPr>
      </p:sp>
      <p:sp>
        <p:nvSpPr>
          <p:cNvPr id="8" name="Text 6"/>
          <p:cNvSpPr txBox="1"/>
          <p:nvPr/>
        </p:nvSpPr>
        <p:spPr>
          <a:xfrm>
            <a:off x="1051560" y="1920240"/>
            <a:ext cx="4206240" cy="960120"/>
          </a:xfrm>
          <a:prstGeom prst="rect">
            <a:avLst/>
          </a:prstGeom>
          <a:noFill/>
          <a:ln/>
        </p:spPr>
        <p:txBody>
          <a:bodyPr wrap="square" lIns="0" tIns="0" rIns="0" bIns="0" rtlCol="0" anchor="ctr"/>
          <a:lstStyle/>
          <a:p>
            <a:pPr algn="ctr" indent="0" marL="0">
              <a:buNone/>
            </a:pPr>
            <a:r>
              <a:rPr lang="en-US" sz="1100" dirty="0">
                <a:solidFill>
                  <a:srgbClr val="2E3A59"/>
                </a:solidFill>
                <a:latin typeface="Meiryo" pitchFamily="34" charset="0"/>
                <a:ea typeface="Meiryo" pitchFamily="34" charset="-122"/>
                <a:cs typeface="Meiryo" pitchFamily="34" charset="-120"/>
              </a:rPr>
              <a:t>ガントリー入口（∂B/∂z 最大位置）</a:t>
            </a:r>
            <a:endParaRPr lang="en-US" sz="1100" dirty="0"/>
          </a:p>
        </p:txBody>
      </p:sp>
      <p:sp>
        <p:nvSpPr>
          <p:cNvPr id="9" name="Shape 7"/>
          <p:cNvSpPr/>
          <p:nvPr/>
        </p:nvSpPr>
        <p:spPr>
          <a:xfrm>
            <a:off x="3127248" y="2880360"/>
            <a:ext cx="27432" cy="1417320"/>
          </a:xfrm>
          <a:prstGeom prst="rect">
            <a:avLst/>
          </a:prstGeom>
          <a:solidFill>
            <a:srgbClr val="AAB3C0"/>
          </a:solidFill>
          <a:ln w="12700">
            <a:solidFill>
              <a:srgbClr val="FFFFFF"/>
            </a:solidFill>
            <a:prstDash val="solid"/>
          </a:ln>
        </p:spPr>
      </p:sp>
      <p:sp>
        <p:nvSpPr>
          <p:cNvPr id="10" name="Shape 8"/>
          <p:cNvSpPr/>
          <p:nvPr/>
        </p:nvSpPr>
        <p:spPr>
          <a:xfrm rot="1440000">
            <a:off x="3127248" y="2880360"/>
            <a:ext cx="27432" cy="1417320"/>
          </a:xfrm>
          <a:prstGeom prst="rect">
            <a:avLst/>
          </a:prstGeom>
          <a:solidFill>
            <a:srgbClr val="B5326A"/>
          </a:solidFill>
          <a:ln w="12700">
            <a:solidFill>
              <a:srgbClr val="FFFFFF"/>
            </a:solidFill>
            <a:prstDash val="solid"/>
          </a:ln>
        </p:spPr>
      </p:sp>
      <p:sp>
        <p:nvSpPr>
          <p:cNvPr id="11" name="Shape 9"/>
          <p:cNvSpPr/>
          <p:nvPr/>
        </p:nvSpPr>
        <p:spPr>
          <a:xfrm>
            <a:off x="3639312" y="4133088"/>
            <a:ext cx="274320" cy="274320"/>
          </a:xfrm>
          <a:prstGeom prst="ellipse">
            <a:avLst/>
          </a:prstGeom>
          <a:solidFill>
            <a:srgbClr val="B5326A"/>
          </a:solidFill>
          <a:ln w="12700">
            <a:solidFill>
              <a:srgbClr val="FFFFFF"/>
            </a:solidFill>
            <a:prstDash val="solid"/>
          </a:ln>
        </p:spPr>
      </p:sp>
      <p:sp>
        <p:nvSpPr>
          <p:cNvPr id="12" name="Text 10"/>
          <p:cNvSpPr txBox="1"/>
          <p:nvPr/>
        </p:nvSpPr>
        <p:spPr>
          <a:xfrm>
            <a:off x="3246120" y="3200400"/>
            <a:ext cx="365760" cy="274320"/>
          </a:xfrm>
          <a:prstGeom prst="rect">
            <a:avLst/>
          </a:prstGeom>
          <a:noFill/>
          <a:ln/>
        </p:spPr>
        <p:txBody>
          <a:bodyPr wrap="square" lIns="0" tIns="0" rIns="0" bIns="0" rtlCol="0" anchor="ctr"/>
          <a:lstStyle/>
          <a:p>
            <a:pPr indent="0" marL="0">
              <a:buNone/>
            </a:pPr>
            <a:r>
              <a:rPr lang="en-US" sz="1400" b="1" dirty="0">
                <a:solidFill>
                  <a:srgbClr val="B5326A"/>
                </a:solidFill>
                <a:latin typeface="Meiryo" pitchFamily="34" charset="0"/>
                <a:ea typeface="Meiryo" pitchFamily="34" charset="-122"/>
                <a:cs typeface="Meiryo" pitchFamily="34" charset="-120"/>
              </a:rPr>
              <a:t>θ</a:t>
            </a:r>
            <a:endParaRPr lang="en-US" sz="1400" dirty="0"/>
          </a:p>
        </p:txBody>
      </p:sp>
      <p:sp>
        <p:nvSpPr>
          <p:cNvPr id="13" name="Text 11"/>
          <p:cNvSpPr txBox="1"/>
          <p:nvPr/>
        </p:nvSpPr>
        <p:spPr>
          <a:xfrm>
            <a:off x="3017520" y="4480560"/>
            <a:ext cx="2103120" cy="274320"/>
          </a:xfrm>
          <a:prstGeom prst="rect">
            <a:avLst/>
          </a:prstGeom>
          <a:noFill/>
          <a:ln/>
        </p:spPr>
        <p:txBody>
          <a:bodyPr wrap="square" lIns="0" tIns="0" rIns="0" bIns="0" rtlCol="0" anchor="ctr"/>
          <a:lstStyle/>
          <a:p>
            <a:pPr indent="0" marL="0">
              <a:buNone/>
            </a:pPr>
            <a:r>
              <a:rPr lang="en-US" sz="1050" dirty="0">
                <a:solidFill>
                  <a:srgbClr val="2E3A59"/>
                </a:solidFill>
                <a:latin typeface="Meiryo" pitchFamily="34" charset="0"/>
                <a:ea typeface="Meiryo" pitchFamily="34" charset="-122"/>
                <a:cs typeface="Meiryo" pitchFamily="34" charset="-120"/>
              </a:rPr>
              <a:t>試料（ネイルチップ）</a:t>
            </a:r>
            <a:endParaRPr lang="en-US" sz="1050" dirty="0"/>
          </a:p>
        </p:txBody>
      </p:sp>
      <p:sp>
        <p:nvSpPr>
          <p:cNvPr id="14" name="Text 12"/>
          <p:cNvSpPr txBox="1"/>
          <p:nvPr/>
        </p:nvSpPr>
        <p:spPr>
          <a:xfrm>
            <a:off x="1051560" y="4892040"/>
            <a:ext cx="4206240" cy="274320"/>
          </a:xfrm>
          <a:prstGeom prst="rect">
            <a:avLst/>
          </a:prstGeom>
          <a:noFill/>
          <a:ln/>
        </p:spPr>
        <p:txBody>
          <a:bodyPr wrap="square" lIns="0" tIns="0" rIns="0" bIns="0" rtlCol="0" anchor="ctr"/>
          <a:lstStyle/>
          <a:p>
            <a:pPr algn="ctr" indent="0" marL="0">
              <a:buNone/>
            </a:pPr>
            <a:r>
              <a:rPr lang="en-US" sz="1050" dirty="0">
                <a:solidFill>
                  <a:srgbClr val="6B7280"/>
                </a:solidFill>
                <a:latin typeface="Meiryo" pitchFamily="34" charset="0"/>
                <a:ea typeface="Meiryo" pitchFamily="34" charset="-122"/>
                <a:cs typeface="Meiryo" pitchFamily="34" charset="-120"/>
              </a:rPr>
              <a:t>非磁性の糸で吊り下げ</a:t>
            </a:r>
            <a:endParaRPr lang="en-US" sz="1050" dirty="0"/>
          </a:p>
        </p:txBody>
      </p:sp>
      <p:sp>
        <p:nvSpPr>
          <p:cNvPr id="15" name="Text 13"/>
          <p:cNvSpPr txBox="1"/>
          <p:nvPr/>
        </p:nvSpPr>
        <p:spPr>
          <a:xfrm>
            <a:off x="6263640" y="1737360"/>
            <a:ext cx="5349240" cy="502920"/>
          </a:xfrm>
          <a:prstGeom prst="rect">
            <a:avLst/>
          </a:prstGeom>
          <a:noFill/>
          <a:ln/>
        </p:spPr>
        <p:txBody>
          <a:bodyPr wrap="square" lIns="0" tIns="0" rIns="0" bIns="0" rtlCol="0" anchor="ctr"/>
          <a:lstStyle/>
          <a:p>
            <a:pPr indent="0" marL="0">
              <a:buNone/>
            </a:pPr>
            <a:r>
              <a:rPr lang="en-US" sz="2600" b="1" dirty="0">
                <a:solidFill>
                  <a:srgbClr val="0F1626"/>
                </a:solidFill>
                <a:latin typeface="Meiryo" pitchFamily="34" charset="0"/>
                <a:ea typeface="Meiryo" pitchFamily="34" charset="-122"/>
                <a:cs typeface="Meiryo" pitchFamily="34" charset="-120"/>
              </a:rPr>
              <a:t>F = m · g · tan θ</a:t>
            </a:r>
            <a:endParaRPr lang="en-US" sz="2600" dirty="0"/>
          </a:p>
        </p:txBody>
      </p:sp>
      <p:sp>
        <p:nvSpPr>
          <p:cNvPr id="16" name="Text 14"/>
          <p:cNvSpPr txBox="1"/>
          <p:nvPr/>
        </p:nvSpPr>
        <p:spPr>
          <a:xfrm>
            <a:off x="6263640" y="2286000"/>
            <a:ext cx="5349240" cy="274320"/>
          </a:xfrm>
          <a:prstGeom prst="rect">
            <a:avLst/>
          </a:prstGeom>
          <a:noFill/>
          <a:ln/>
        </p:spPr>
        <p:txBody>
          <a:bodyPr wrap="square" lIns="0" tIns="0" rIns="0" bIns="0" rtlCol="0" anchor="ctr"/>
          <a:lstStyle/>
          <a:p>
            <a:pPr indent="0" marL="0">
              <a:buNone/>
            </a:pPr>
            <a:r>
              <a:rPr lang="en-US" sz="1100" dirty="0">
                <a:solidFill>
                  <a:srgbClr val="6B7280"/>
                </a:solidFill>
                <a:latin typeface="Meiryo" pitchFamily="34" charset="0"/>
                <a:ea typeface="Meiryo" pitchFamily="34" charset="-122"/>
                <a:cs typeface="Meiryo" pitchFamily="34" charset="-120"/>
              </a:rPr>
              <a:t>m：試料質量　g：重力加速度　θ：静磁場による振れ角</a:t>
            </a:r>
            <a:endParaRPr lang="en-US" sz="1100" dirty="0"/>
          </a:p>
        </p:txBody>
      </p:sp>
      <p:sp>
        <p:nvSpPr>
          <p:cNvPr id="17" name="Shape 15"/>
          <p:cNvSpPr/>
          <p:nvPr/>
        </p:nvSpPr>
        <p:spPr>
          <a:xfrm>
            <a:off x="6263640" y="2697480"/>
            <a:ext cx="5349240" cy="1188720"/>
          </a:xfrm>
          <a:prstGeom prst="roundRect">
            <a:avLst>
              <a:gd name="adj" fmla="val 4615"/>
            </a:avLst>
          </a:prstGeom>
          <a:solidFill>
            <a:srgbClr val="E6F3F5"/>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18" name="Text 16"/>
          <p:cNvSpPr txBox="1"/>
          <p:nvPr/>
        </p:nvSpPr>
        <p:spPr>
          <a:xfrm>
            <a:off x="6583680" y="2880360"/>
            <a:ext cx="4709160" cy="320040"/>
          </a:xfrm>
          <a:prstGeom prst="rect">
            <a:avLst/>
          </a:prstGeom>
          <a:noFill/>
          <a:ln/>
        </p:spPr>
        <p:txBody>
          <a:bodyPr wrap="square" lIns="0" tIns="0" rIns="0" bIns="0" rtlCol="0" anchor="ctr"/>
          <a:lstStyle/>
          <a:p>
            <a:pPr indent="0" marL="0">
              <a:buNone/>
            </a:pPr>
            <a:r>
              <a:rPr lang="en-US" sz="1600" b="1" dirty="0">
                <a:solidFill>
                  <a:srgbClr val="1B9AAA"/>
                </a:solidFill>
                <a:latin typeface="Meiryo" pitchFamily="34" charset="0"/>
                <a:ea typeface="Meiryo" pitchFamily="34" charset="-122"/>
                <a:cs typeface="Meiryo" pitchFamily="34" charset="-120"/>
              </a:rPr>
              <a:t>判定基準：θ &lt; 45°</a:t>
            </a:r>
            <a:endParaRPr lang="en-US" sz="1600" dirty="0"/>
          </a:p>
        </p:txBody>
      </p:sp>
      <p:sp>
        <p:nvSpPr>
          <p:cNvPr id="19" name="Text 17"/>
          <p:cNvSpPr txBox="1"/>
          <p:nvPr/>
        </p:nvSpPr>
        <p:spPr>
          <a:xfrm>
            <a:off x="6583680" y="3246120"/>
            <a:ext cx="4709160" cy="548640"/>
          </a:xfrm>
          <a:prstGeom prst="rect">
            <a:avLst/>
          </a:prstGeom>
          <a:noFill/>
          <a:ln/>
        </p:spPr>
        <p:txBody>
          <a:bodyPr wrap="square" lIns="0" tIns="0" rIns="0" bIns="0" rtlCol="0" anchor="ctr"/>
          <a:lstStyle/>
          <a:p>
            <a:pPr indent="0" marL="0">
              <a:lnSpc>
                <a:spcPts val="1800"/>
              </a:lnSpc>
              <a:buNone/>
            </a:pPr>
            <a:r>
              <a:rPr lang="en-US" sz="1200" dirty="0">
                <a:solidFill>
                  <a:srgbClr val="1F2430"/>
                </a:solidFill>
                <a:latin typeface="Meiryo" pitchFamily="34" charset="0"/>
                <a:ea typeface="Meiryo" pitchFamily="34" charset="-122"/>
                <a:cs typeface="Meiryo" pitchFamily="34" charset="-120"/>
              </a:rPr>
              <a:t>磁気力が重力以下であることを意味し、規格上は一般に許容可能とされる。</a:t>
            </a:r>
            <a:endParaRPr lang="en-US" sz="1200" dirty="0"/>
          </a:p>
        </p:txBody>
      </p:sp>
      <p:sp>
        <p:nvSpPr>
          <p:cNvPr id="20" name="Text 18"/>
          <p:cNvSpPr txBox="1"/>
          <p:nvPr/>
        </p:nvSpPr>
        <p:spPr>
          <a:xfrm>
            <a:off x="6263640" y="4114800"/>
            <a:ext cx="5349240" cy="1463040"/>
          </a:xfrm>
          <a:prstGeom prst="rect">
            <a:avLst/>
          </a:prstGeom>
          <a:noFill/>
          <a:ln/>
        </p:spPr>
        <p:txBody>
          <a:bodyPr wrap="square" lIns="0" tIns="0" rIns="0" bIns="0" rtlCol="0" anchor="ctr"/>
          <a:lstStyle/>
          <a:p>
            <a:pPr indent="0" marL="0">
              <a:lnSpc>
                <a:spcPts val="1700"/>
              </a:lnSpc>
              <a:spcAft>
                <a:spcPts val="700"/>
              </a:spcAft>
              <a:buNone/>
            </a:pPr>
            <a:r>
              <a:rPr lang="en-US" sz="1150" b="1" dirty="0">
                <a:solidFill>
                  <a:srgbClr val="0F1626"/>
                </a:solidFill>
                <a:latin typeface="Meiryo" pitchFamily="34" charset="0"/>
                <a:ea typeface="Meiryo" pitchFamily="34" charset="-122"/>
                <a:cs typeface="Meiryo" pitchFamily="34" charset="-120"/>
              </a:rPr>
              <a:t>測定条件</a:t>
            </a:r>
            <a:endParaRPr lang="en-US" sz="1150" dirty="0"/>
          </a:p>
          <a:p>
            <a:pPr marL="342900" indent="-342900">
              <a:lnSpc>
                <a:spcPts val="1700"/>
              </a:lnSpc>
              <a:spcAft>
                <a:spcPts val="700"/>
              </a:spcAft>
              <a:buSzPct val="100000"/>
              <a:buChar char="•"/>
            </a:pPr>
            <a:r>
              <a:rPr lang="en-US" sz="1150" dirty="0">
                <a:solidFill>
                  <a:srgbClr val="1F2430"/>
                </a:solidFill>
                <a:latin typeface="Meiryo" pitchFamily="34" charset="0"/>
                <a:ea typeface="Meiryo" pitchFamily="34" charset="-122"/>
                <a:cs typeface="Meiryo" pitchFamily="34" charset="-120"/>
              </a:rPr>
              <a:t>1.5T / 3T の2装置、各試料 n = 10</a:t>
            </a:r>
            <a:endParaRPr lang="en-US" sz="1150" dirty="0"/>
          </a:p>
          <a:p>
            <a:pPr marL="342900" indent="-342900">
              <a:lnSpc>
                <a:spcPts val="1700"/>
              </a:lnSpc>
              <a:spcAft>
                <a:spcPts val="700"/>
              </a:spcAft>
              <a:buSzPct val="100000"/>
              <a:buChar char="•"/>
            </a:pPr>
            <a:r>
              <a:rPr lang="en-US" sz="1150" dirty="0">
                <a:solidFill>
                  <a:srgbClr val="1F2430"/>
                </a:solidFill>
                <a:latin typeface="Meiryo" pitchFamily="34" charset="0"/>
                <a:ea typeface="Meiryo" pitchFamily="34" charset="-122"/>
                <a:cs typeface="Meiryo" pitchFamily="34" charset="-120"/>
              </a:rPr>
              <a:t>試料：透明ジェル／カラージェル／ラメ入り／マグネットネイル（未配列・配列済）／製品10種以上</a:t>
            </a:r>
            <a:endParaRPr lang="en-US" sz="1150" dirty="0"/>
          </a:p>
          <a:p>
            <a:pPr marL="342900" indent="-342900">
              <a:lnSpc>
                <a:spcPts val="1700"/>
              </a:lnSpc>
              <a:spcAft>
                <a:spcPts val="700"/>
              </a:spcAft>
              <a:buSzPct val="100000"/>
              <a:buChar char="•"/>
            </a:pPr>
            <a:r>
              <a:rPr lang="en-US" sz="1150" dirty="0">
                <a:solidFill>
                  <a:srgbClr val="1F2430"/>
                </a:solidFill>
                <a:latin typeface="Meiryo" pitchFamily="34" charset="0"/>
                <a:ea typeface="Meiryo" pitchFamily="34" charset="-122"/>
                <a:cs typeface="Meiryo" pitchFamily="34" charset="-120"/>
              </a:rPr>
              <a:t>トルク（ASTM F2213）は低摩擦台上での回転を定性評価</a:t>
            </a:r>
            <a:endParaRPr lang="en-US" sz="1150" dirty="0"/>
          </a:p>
        </p:txBody>
      </p:sp>
      <p:sp>
        <p:nvSpPr>
          <p:cNvPr id="21" name="Text 19"/>
          <p:cNvSpPr txBox="1"/>
          <p:nvPr/>
        </p:nvSpPr>
        <p:spPr>
          <a:xfrm>
            <a:off x="640080" y="6345936"/>
            <a:ext cx="8897112" cy="274320"/>
          </a:xfrm>
          <a:prstGeom prst="rect">
            <a:avLst/>
          </a:prstGeom>
          <a:noFill/>
          <a:ln/>
        </p:spPr>
        <p:txBody>
          <a:bodyPr wrap="square" lIns="0" tIns="0" rIns="0" bIns="0" rtlCol="0" anchor="ctr"/>
          <a:lstStyle/>
          <a:p>
            <a:pPr indent="0" marL="0">
              <a:buNone/>
            </a:pPr>
            <a:r>
              <a:rPr lang="en-US" sz="1000" dirty="0">
                <a:solidFill>
                  <a:srgbClr val="6B7280"/>
                </a:solidFill>
                <a:latin typeface="Meiryo" pitchFamily="34" charset="0"/>
                <a:ea typeface="Meiryo" pitchFamily="34" charset="-122"/>
                <a:cs typeface="Meiryo" pitchFamily="34" charset="-120"/>
              </a:rPr>
              <a:t>測定位置はガウスラインマップではなく空間磁場勾配マップから決定（力は B·∂B/∂z に依存するため）</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384048"/>
            <a:ext cx="9902952" cy="256032"/>
          </a:xfrm>
          <a:prstGeom prst="rect">
            <a:avLst/>
          </a:prstGeom>
          <a:noFill/>
          <a:ln/>
        </p:spPr>
        <p:txBody>
          <a:bodyPr wrap="square" lIns="0" tIns="0" rIns="0" bIns="0" rtlCol="0" anchor="ctr"/>
          <a:lstStyle/>
          <a:p>
            <a:pPr indent="0" marL="0">
              <a:buNone/>
            </a:pPr>
            <a:r>
              <a:rPr lang="en-US" sz="1200" b="1" spc="200" kern="0" dirty="0">
                <a:solidFill>
                  <a:srgbClr val="1B9AAA"/>
                </a:solidFill>
                <a:latin typeface="Meiryo" pitchFamily="34" charset="0"/>
                <a:ea typeface="Meiryo" pitchFamily="34" charset="-122"/>
                <a:cs typeface="Meiryo" pitchFamily="34" charset="-120"/>
              </a:rPr>
              <a:t>方法</a:t>
            </a:r>
            <a:endParaRPr lang="en-US" sz="1200" dirty="0"/>
          </a:p>
        </p:txBody>
      </p:sp>
      <p:sp>
        <p:nvSpPr>
          <p:cNvPr id="3" name="Text 1"/>
          <p:cNvSpPr txBox="1"/>
          <p:nvPr/>
        </p:nvSpPr>
        <p:spPr>
          <a:xfrm>
            <a:off x="640080" y="658368"/>
            <a:ext cx="9902952" cy="731520"/>
          </a:xfrm>
          <a:prstGeom prst="rect">
            <a:avLst/>
          </a:prstGeom>
          <a:noFill/>
          <a:ln/>
        </p:spPr>
        <p:txBody>
          <a:bodyPr wrap="square" lIns="0" tIns="0" rIns="0" bIns="0" rtlCol="0" anchor="t"/>
          <a:lstStyle/>
          <a:p>
            <a:pPr indent="0" marL="0">
              <a:buNone/>
            </a:pPr>
            <a:r>
              <a:rPr lang="en-US" sz="3000" b="1" dirty="0">
                <a:solidFill>
                  <a:srgbClr val="0F1626"/>
                </a:solidFill>
                <a:latin typeface="Meiryo" pitchFamily="34" charset="0"/>
                <a:ea typeface="Meiryo" pitchFamily="34" charset="-122"/>
                <a:cs typeface="Meiryo" pitchFamily="34" charset="-120"/>
              </a:rPr>
              <a:t>方法②　画像アーチファクト（ASTM F2119 準拠）</a:t>
            </a:r>
            <a:endParaRPr lang="en-US" sz="3000" dirty="0"/>
          </a:p>
        </p:txBody>
      </p:sp>
      <p:sp>
        <p:nvSpPr>
          <p:cNvPr id="4" name="Shape 2"/>
          <p:cNvSpPr/>
          <p:nvPr/>
        </p:nvSpPr>
        <p:spPr>
          <a:xfrm>
            <a:off x="11073384" y="457200"/>
            <a:ext cx="475488" cy="475488"/>
          </a:xfrm>
          <a:prstGeom prst="ellipse">
            <a:avLst/>
          </a:prstGeom>
          <a:solidFill>
            <a:srgbClr val="F2F4F8"/>
          </a:solidFill>
          <a:ln w="12700">
            <a:solidFill>
              <a:srgbClr val="FFFFFF"/>
            </a:solidFill>
            <a:prstDash val="solid"/>
          </a:ln>
        </p:spPr>
      </p:sp>
      <p:sp>
        <p:nvSpPr>
          <p:cNvPr id="5" name="Text 3"/>
          <p:cNvSpPr txBox="1"/>
          <p:nvPr/>
        </p:nvSpPr>
        <p:spPr>
          <a:xfrm>
            <a:off x="11073384" y="457200"/>
            <a:ext cx="475488" cy="475488"/>
          </a:xfrm>
          <a:prstGeom prst="rect">
            <a:avLst/>
          </a:prstGeom>
          <a:noFill/>
          <a:ln/>
        </p:spPr>
        <p:txBody>
          <a:bodyPr wrap="square" lIns="0" tIns="0" rIns="0" bIns="0" rtlCol="0" anchor="ctr"/>
          <a:lstStyle/>
          <a:p>
            <a:pPr algn="ctr" indent="0" marL="0">
              <a:buNone/>
            </a:pPr>
            <a:r>
              <a:rPr lang="en-US" sz="1300" b="1" dirty="0">
                <a:solidFill>
                  <a:srgbClr val="2E3A59"/>
                </a:solidFill>
                <a:latin typeface="Meiryo" pitchFamily="34" charset="0"/>
                <a:ea typeface="Meiryo" pitchFamily="34" charset="-122"/>
                <a:cs typeface="Meiryo" pitchFamily="34" charset="-120"/>
              </a:rPr>
              <a:t>9</a:t>
            </a:r>
            <a:endParaRPr lang="en-US" sz="1300" dirty="0"/>
          </a:p>
        </p:txBody>
      </p:sp>
      <p:sp>
        <p:nvSpPr>
          <p:cNvPr id="6" name="Shape 4"/>
          <p:cNvSpPr/>
          <p:nvPr/>
        </p:nvSpPr>
        <p:spPr>
          <a:xfrm>
            <a:off x="640080" y="1645920"/>
            <a:ext cx="4480560" cy="3749040"/>
          </a:xfrm>
          <a:prstGeom prst="roundRect">
            <a:avLst>
              <a:gd name="adj" fmla="val 1463"/>
            </a:avLst>
          </a:prstGeom>
          <a:solidFill>
            <a:srgbClr val="EEF1F6"/>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7" name="Shape 5"/>
          <p:cNvSpPr/>
          <p:nvPr/>
        </p:nvSpPr>
        <p:spPr>
          <a:xfrm>
            <a:off x="1143000" y="2148840"/>
            <a:ext cx="3474720" cy="1828800"/>
          </a:xfrm>
          <a:prstGeom prst="roundRect">
            <a:avLst>
              <a:gd name="adj" fmla="val 6000"/>
            </a:avLst>
          </a:prstGeom>
          <a:solidFill>
            <a:srgbClr val="CFE4EA"/>
          </a:solidFill>
          <a:ln w="19050">
            <a:solidFill>
              <a:srgbClr val="9FC4CE"/>
            </a:solidFill>
            <a:prstDash val="solid"/>
          </a:ln>
        </p:spPr>
      </p:sp>
      <p:sp>
        <p:nvSpPr>
          <p:cNvPr id="8" name="Text 6"/>
          <p:cNvSpPr txBox="1"/>
          <p:nvPr/>
        </p:nvSpPr>
        <p:spPr>
          <a:xfrm>
            <a:off x="1143000" y="3429000"/>
            <a:ext cx="3474720" cy="320040"/>
          </a:xfrm>
          <a:prstGeom prst="rect">
            <a:avLst/>
          </a:prstGeom>
          <a:noFill/>
          <a:ln/>
        </p:spPr>
        <p:txBody>
          <a:bodyPr wrap="square" lIns="0" tIns="0" rIns="0" bIns="0" rtlCol="0" anchor="ctr"/>
          <a:lstStyle/>
          <a:p>
            <a:pPr algn="ctr" indent="0" marL="0">
              <a:buNone/>
            </a:pPr>
            <a:r>
              <a:rPr lang="en-US" sz="1100" dirty="0">
                <a:solidFill>
                  <a:srgbClr val="3E6F7B"/>
                </a:solidFill>
                <a:latin typeface="Meiryo" pitchFamily="34" charset="0"/>
                <a:ea typeface="Meiryo" pitchFamily="34" charset="-122"/>
                <a:cs typeface="Meiryo" pitchFamily="34" charset="-120"/>
              </a:rPr>
              <a:t>ファントム</a:t>
            </a:r>
            <a:endParaRPr lang="en-US" sz="1100" dirty="0"/>
          </a:p>
        </p:txBody>
      </p:sp>
      <p:sp>
        <p:nvSpPr>
          <p:cNvPr id="9" name="Shape 7"/>
          <p:cNvSpPr/>
          <p:nvPr/>
        </p:nvSpPr>
        <p:spPr>
          <a:xfrm>
            <a:off x="1417320" y="2377440"/>
            <a:ext cx="548640" cy="685800"/>
          </a:xfrm>
          <a:prstGeom prst="roundRect">
            <a:avLst>
              <a:gd name="adj" fmla="val 20000"/>
            </a:avLst>
          </a:prstGeom>
          <a:solidFill>
            <a:srgbClr val="B5326A">
              <a:alpha val="85000"/>
            </a:srgbClr>
          </a:solidFill>
          <a:ln w="12700">
            <a:solidFill>
              <a:srgbClr val="FFFFFF"/>
            </a:solidFill>
            <a:prstDash val="solid"/>
          </a:ln>
        </p:spPr>
      </p:sp>
      <p:sp>
        <p:nvSpPr>
          <p:cNvPr id="10" name="Shape 8"/>
          <p:cNvSpPr/>
          <p:nvPr/>
        </p:nvSpPr>
        <p:spPr>
          <a:xfrm>
            <a:off x="2212848" y="2377440"/>
            <a:ext cx="548640" cy="685800"/>
          </a:xfrm>
          <a:prstGeom prst="roundRect">
            <a:avLst>
              <a:gd name="adj" fmla="val 20000"/>
            </a:avLst>
          </a:prstGeom>
          <a:solidFill>
            <a:srgbClr val="B5326A">
              <a:alpha val="85000"/>
            </a:srgbClr>
          </a:solidFill>
          <a:ln w="12700">
            <a:solidFill>
              <a:srgbClr val="FFFFFF"/>
            </a:solidFill>
            <a:prstDash val="solid"/>
          </a:ln>
        </p:spPr>
      </p:sp>
      <p:sp>
        <p:nvSpPr>
          <p:cNvPr id="11" name="Shape 9"/>
          <p:cNvSpPr/>
          <p:nvPr/>
        </p:nvSpPr>
        <p:spPr>
          <a:xfrm>
            <a:off x="3008376" y="2377440"/>
            <a:ext cx="548640" cy="685800"/>
          </a:xfrm>
          <a:prstGeom prst="roundRect">
            <a:avLst>
              <a:gd name="adj" fmla="val 20000"/>
            </a:avLst>
          </a:prstGeom>
          <a:solidFill>
            <a:srgbClr val="B5326A">
              <a:alpha val="85000"/>
            </a:srgbClr>
          </a:solidFill>
          <a:ln w="12700">
            <a:solidFill>
              <a:srgbClr val="FFFFFF"/>
            </a:solidFill>
            <a:prstDash val="solid"/>
          </a:ln>
        </p:spPr>
      </p:sp>
      <p:sp>
        <p:nvSpPr>
          <p:cNvPr id="12" name="Shape 10"/>
          <p:cNvSpPr/>
          <p:nvPr/>
        </p:nvSpPr>
        <p:spPr>
          <a:xfrm>
            <a:off x="3803904" y="2377440"/>
            <a:ext cx="548640" cy="685800"/>
          </a:xfrm>
          <a:prstGeom prst="roundRect">
            <a:avLst>
              <a:gd name="adj" fmla="val 20000"/>
            </a:avLst>
          </a:prstGeom>
          <a:solidFill>
            <a:srgbClr val="B5326A">
              <a:alpha val="85000"/>
            </a:srgbClr>
          </a:solidFill>
          <a:ln w="12700">
            <a:solidFill>
              <a:srgbClr val="FFFFFF"/>
            </a:solidFill>
            <a:prstDash val="solid"/>
          </a:ln>
        </p:spPr>
      </p:sp>
      <p:sp>
        <p:nvSpPr>
          <p:cNvPr id="13" name="Text 11"/>
          <p:cNvSpPr txBox="1"/>
          <p:nvPr/>
        </p:nvSpPr>
        <p:spPr>
          <a:xfrm>
            <a:off x="1143000" y="4069080"/>
            <a:ext cx="3474720" cy="274320"/>
          </a:xfrm>
          <a:prstGeom prst="rect">
            <a:avLst/>
          </a:prstGeom>
          <a:noFill/>
          <a:ln/>
        </p:spPr>
        <p:txBody>
          <a:bodyPr wrap="square" lIns="0" tIns="0" rIns="0" bIns="0" rtlCol="0" anchor="ctr"/>
          <a:lstStyle/>
          <a:p>
            <a:pPr algn="ctr" indent="0" marL="0">
              <a:buNone/>
            </a:pPr>
            <a:r>
              <a:rPr lang="en-US" sz="1100" dirty="0">
                <a:solidFill>
                  <a:srgbClr val="2E3A59"/>
                </a:solidFill>
                <a:latin typeface="Meiryo" pitchFamily="34" charset="0"/>
                <a:ea typeface="Meiryo" pitchFamily="34" charset="-122"/>
                <a:cs typeface="Meiryo" pitchFamily="34" charset="-120"/>
              </a:rPr>
              <a:t>ネイルチップを規則配置して固定</a:t>
            </a:r>
            <a:endParaRPr lang="en-US" sz="1100" dirty="0"/>
          </a:p>
        </p:txBody>
      </p:sp>
      <p:sp>
        <p:nvSpPr>
          <p:cNvPr id="14" name="Text 12"/>
          <p:cNvSpPr txBox="1"/>
          <p:nvPr/>
        </p:nvSpPr>
        <p:spPr>
          <a:xfrm>
            <a:off x="960120" y="4480560"/>
            <a:ext cx="3840480" cy="777240"/>
          </a:xfrm>
          <a:prstGeom prst="rect">
            <a:avLst/>
          </a:prstGeom>
          <a:noFill/>
          <a:ln/>
        </p:spPr>
        <p:txBody>
          <a:bodyPr wrap="square" lIns="0" tIns="0" rIns="0" bIns="0" rtlCol="0" anchor="ctr"/>
          <a:lstStyle/>
          <a:p>
            <a:pPr indent="0" marL="0">
              <a:lnSpc>
                <a:spcPts val="1700"/>
              </a:lnSpc>
              <a:buNone/>
            </a:pPr>
            <a:r>
              <a:rPr lang="en-US" sz="1100" dirty="0">
                <a:solidFill>
                  <a:srgbClr val="1F2430"/>
                </a:solidFill>
                <a:latin typeface="Meiryo" pitchFamily="34" charset="0"/>
                <a:ea typeface="Meiryo" pitchFamily="34" charset="-122"/>
                <a:cs typeface="Meiryo" pitchFamily="34" charset="-120"/>
              </a:rPr>
              <a:t>アーチファクトの定義：参照画像との画素値の差が 30% を超える領域（ASTM F2119）。ImageJ で閾値処理して面積・最大径を自動計測。</a:t>
            </a:r>
            <a:endParaRPr lang="en-US" sz="1100" dirty="0"/>
          </a:p>
        </p:txBody>
      </p:sp>
      <p:sp>
        <p:nvSpPr>
          <p:cNvPr id="15" name="Text 13"/>
          <p:cNvSpPr txBox="1"/>
          <p:nvPr/>
        </p:nvSpPr>
        <p:spPr>
          <a:xfrm>
            <a:off x="5440680" y="1691640"/>
            <a:ext cx="5486400" cy="320040"/>
          </a:xfrm>
          <a:prstGeom prst="rect">
            <a:avLst/>
          </a:prstGeom>
          <a:noFill/>
          <a:ln/>
        </p:spPr>
        <p:txBody>
          <a:bodyPr wrap="square" lIns="0" tIns="0" rIns="0" bIns="0" rtlCol="0" anchor="ctr"/>
          <a:lstStyle/>
          <a:p>
            <a:pPr indent="0" marL="0">
              <a:buNone/>
            </a:pPr>
            <a:r>
              <a:rPr lang="en-US" sz="1500" b="1" dirty="0">
                <a:solidFill>
                  <a:srgbClr val="0F1626"/>
                </a:solidFill>
                <a:latin typeface="Meiryo" pitchFamily="34" charset="0"/>
                <a:ea typeface="Meiryo" pitchFamily="34" charset="-122"/>
                <a:cs typeface="Meiryo" pitchFamily="34" charset="-120"/>
              </a:rPr>
              <a:t>撮影マトリクス</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40680" y="2103120"/>
          <a:ext cx="5532120" cy="914400"/>
        </p:xfrm>
        <a:graphic>
          <a:graphicData uri="http://schemas.openxmlformats.org/drawingml/2006/table">
            <a:tbl>
              <a:tblPr/>
              <a:tblGrid>
                <a:gridCol w="1874520"/>
                <a:gridCol w="3657600"/>
              </a:tblGrid>
              <a:tr h="384048">
                <a:tc>
                  <a:txBody>
                    <a:bodyPr/>
                    <a:lstStyle/>
                    <a:p>
                      <a:pPr indent="0" marL="0">
                        <a:buNone/>
                      </a:pPr>
                      <a:r>
                        <a:rPr lang="en-US" sz="1150" b="1" dirty="0">
                          <a:solidFill>
                            <a:srgbClr val="FFFFFF"/>
                          </a:solidFill>
                          <a:latin typeface="Meiryo" pitchFamily="34" charset="0"/>
                          <a:ea typeface="Meiryo" pitchFamily="34" charset="-122"/>
                          <a:cs typeface="Meiryo" pitchFamily="34" charset="-120"/>
                        </a:rPr>
                        <a:t>因子</a:t>
                      </a:r>
                      <a:endParaRPr lang="en-US" sz="115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2E3A59"/>
                    </a:solidFill>
                  </a:tcPr>
                </a:tc>
                <a:tc>
                  <a:txBody>
                    <a:bodyPr/>
                    <a:lstStyle/>
                    <a:p>
                      <a:pPr indent="0" marL="0">
                        <a:buNone/>
                      </a:pPr>
                      <a:r>
                        <a:rPr lang="en-US" sz="1150" b="1" dirty="0">
                          <a:solidFill>
                            <a:srgbClr val="FFFFFF"/>
                          </a:solidFill>
                          <a:latin typeface="Meiryo" pitchFamily="34" charset="0"/>
                          <a:ea typeface="Meiryo" pitchFamily="34" charset="-122"/>
                          <a:cs typeface="Meiryo" pitchFamily="34" charset="-120"/>
                        </a:rPr>
                        <a:t>水準</a:t>
                      </a:r>
                      <a:endParaRPr lang="en-US" sz="115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2E3A59"/>
                    </a:solidFill>
                  </a:tcPr>
                </a:tc>
              </a:tr>
              <a:tr h="384048">
                <a:tc>
                  <a:txBody>
                    <a:bodyPr/>
                    <a:lstStyle/>
                    <a:p>
                      <a:pPr indent="0" marL="0">
                        <a:buNone/>
                      </a:pPr>
                      <a:r>
                        <a:rPr lang="en-US" sz="1150" dirty="0">
                          <a:solidFill>
                            <a:srgbClr val="1F2430"/>
                          </a:solidFill>
                          <a:latin typeface="Meiryo" pitchFamily="34" charset="0"/>
                          <a:ea typeface="Meiryo" pitchFamily="34" charset="-122"/>
                          <a:cs typeface="Meiryo" pitchFamily="34" charset="-120"/>
                        </a:rPr>
                        <a:t>磁場強度</a:t>
                      </a:r>
                      <a:endParaRPr lang="en-US" sz="115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F2F4F8"/>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1.5T / 3T</a:t>
                      </a:r>
                      <a:endParaRPr lang="en-US" sz="115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F2F4F8"/>
                    </a:solidFill>
                  </a:tcPr>
                </a:tc>
              </a:tr>
              <a:tr h="384048">
                <a:tc>
                  <a:txBody>
                    <a:bodyPr/>
                    <a:lstStyle/>
                    <a:p>
                      <a:pPr indent="0" marL="0">
                        <a:buNone/>
                      </a:pPr>
                      <a:r>
                        <a:rPr lang="en-US" sz="1150" dirty="0">
                          <a:solidFill>
                            <a:srgbClr val="1F2430"/>
                          </a:solidFill>
                          <a:latin typeface="Meiryo" pitchFamily="34" charset="0"/>
                          <a:ea typeface="Meiryo" pitchFamily="34" charset="-122"/>
                          <a:cs typeface="Meiryo" pitchFamily="34" charset="-120"/>
                        </a:rPr>
                        <a:t>シーケンス</a:t>
                      </a:r>
                      <a:endParaRPr lang="en-US" sz="115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SE / TSE / GRE / EPI / 脂肪抑制</a:t>
                      </a:r>
                      <a:endParaRPr lang="en-US" sz="115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F2430"/>
                          </a:solidFill>
                          <a:latin typeface="Meiryo" pitchFamily="34" charset="0"/>
                          <a:ea typeface="Meiryo" pitchFamily="34" charset="-122"/>
                          <a:cs typeface="Meiryo" pitchFamily="34" charset="-120"/>
                        </a:rPr>
                        <a:t>TE</a:t>
                      </a:r>
                      <a:endParaRPr lang="en-US" sz="115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F2F4F8"/>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GRE で 5 段階</a:t>
                      </a:r>
                      <a:endParaRPr lang="en-US" sz="115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F2F4F8"/>
                    </a:solidFill>
                  </a:tcPr>
                </a:tc>
              </a:tr>
              <a:tr h="384048">
                <a:tc>
                  <a:txBody>
                    <a:bodyPr/>
                    <a:lstStyle/>
                    <a:p>
                      <a:pPr indent="0" marL="0">
                        <a:buNone/>
                      </a:pPr>
                      <a:r>
                        <a:rPr lang="en-US" sz="1150" dirty="0">
                          <a:solidFill>
                            <a:srgbClr val="1F2430"/>
                          </a:solidFill>
                          <a:latin typeface="Meiryo" pitchFamily="34" charset="0"/>
                          <a:ea typeface="Meiryo" pitchFamily="34" charset="-122"/>
                          <a:cs typeface="Meiryo" pitchFamily="34" charset="-120"/>
                        </a:rPr>
                        <a:t>受信バンド幅</a:t>
                      </a:r>
                      <a:endParaRPr lang="en-US" sz="115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3 段階</a:t>
                      </a:r>
                      <a:endParaRPr lang="en-US" sz="115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F2430"/>
                          </a:solidFill>
                          <a:latin typeface="Meiryo" pitchFamily="34" charset="0"/>
                          <a:ea typeface="Meiryo" pitchFamily="34" charset="-122"/>
                          <a:cs typeface="Meiryo" pitchFamily="34" charset="-120"/>
                        </a:rPr>
                        <a:t>周波数エンコード方向</a:t>
                      </a:r>
                      <a:endParaRPr lang="en-US" sz="115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F2F4F8"/>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2 方向</a:t>
                      </a:r>
                      <a:endParaRPr lang="en-US" sz="115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F2F4F8"/>
                    </a:solidFill>
                  </a:tcPr>
                </a:tc>
              </a:tr>
              <a:tr h="384048">
                <a:tc>
                  <a:txBody>
                    <a:bodyPr/>
                    <a:lstStyle/>
                    <a:p>
                      <a:pPr indent="0" marL="0">
                        <a:buNone/>
                      </a:pPr>
                      <a:r>
                        <a:rPr lang="en-US" sz="1150" dirty="0">
                          <a:solidFill>
                            <a:srgbClr val="1F2430"/>
                          </a:solidFill>
                          <a:latin typeface="Meiryo" pitchFamily="34" charset="0"/>
                          <a:ea typeface="Meiryo" pitchFamily="34" charset="-122"/>
                          <a:cs typeface="Meiryo" pitchFamily="34" charset="-120"/>
                        </a:rPr>
                        <a:t>試料からの距離</a:t>
                      </a:r>
                      <a:endParaRPr lang="en-US" sz="115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0 / 2 / 5 / 10 / 20 cm</a:t>
                      </a:r>
                      <a:endParaRPr lang="en-US" sz="115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F2430"/>
                          </a:solidFill>
                          <a:latin typeface="Meiryo" pitchFamily="34" charset="0"/>
                          <a:ea typeface="Meiryo" pitchFamily="34" charset="-122"/>
                          <a:cs typeface="Meiryo" pitchFamily="34" charset="-120"/>
                        </a:rPr>
                        <a:t>配置角度</a:t>
                      </a:r>
                      <a:endParaRPr lang="en-US" sz="115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F2F4F8"/>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0° / 45° / 90°</a:t>
                      </a:r>
                      <a:endParaRPr lang="en-US" sz="115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F2F4F8"/>
                    </a:solidFill>
                  </a:tcPr>
                </a:tc>
              </a:tr>
            </a:tbl>
          </a:graphicData>
        </a:graphic>
      </p:graphicFrame>
      <p:sp>
        <p:nvSpPr>
          <p:cNvPr id="17" name="Text 14"/>
          <p:cNvSpPr txBox="1"/>
          <p:nvPr/>
        </p:nvSpPr>
        <p:spPr>
          <a:xfrm>
            <a:off x="5440680" y="5029200"/>
            <a:ext cx="5532120" cy="320040"/>
          </a:xfrm>
          <a:prstGeom prst="rect">
            <a:avLst/>
          </a:prstGeom>
          <a:noFill/>
          <a:ln/>
        </p:spPr>
        <p:txBody>
          <a:bodyPr wrap="square" lIns="0" tIns="0" rIns="0" bIns="0" rtlCol="0" anchor="ctr"/>
          <a:lstStyle/>
          <a:p>
            <a:pPr indent="0" marL="0">
              <a:buNone/>
            </a:pPr>
            <a:r>
              <a:rPr lang="en-US" sz="1250" b="1" dirty="0">
                <a:solidFill>
                  <a:srgbClr val="1B9AAA"/>
                </a:solidFill>
                <a:latin typeface="Meiryo" pitchFamily="34" charset="0"/>
                <a:ea typeface="Meiryo" pitchFamily="34" charset="-122"/>
                <a:cs typeface="Meiryo" pitchFamily="34" charset="-120"/>
              </a:rPr>
              <a:t>撮影枠の制約がないため、点の比較ではなく曲線として提示できる</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384048"/>
            <a:ext cx="9902952" cy="256032"/>
          </a:xfrm>
          <a:prstGeom prst="rect">
            <a:avLst/>
          </a:prstGeom>
          <a:noFill/>
          <a:ln/>
        </p:spPr>
        <p:txBody>
          <a:bodyPr wrap="square" lIns="0" tIns="0" rIns="0" bIns="0" rtlCol="0" anchor="ctr"/>
          <a:lstStyle/>
          <a:p>
            <a:pPr indent="0" marL="0">
              <a:buNone/>
            </a:pPr>
            <a:r>
              <a:rPr lang="en-US" sz="1200" b="1" spc="200" kern="0" dirty="0">
                <a:solidFill>
                  <a:srgbClr val="1B9AAA"/>
                </a:solidFill>
                <a:latin typeface="Meiryo" pitchFamily="34" charset="0"/>
                <a:ea typeface="Meiryo" pitchFamily="34" charset="-122"/>
                <a:cs typeface="Meiryo" pitchFamily="34" charset="-120"/>
              </a:rPr>
              <a:t>結果</a:t>
            </a:r>
            <a:endParaRPr lang="en-US" sz="1200" dirty="0"/>
          </a:p>
        </p:txBody>
      </p:sp>
      <p:sp>
        <p:nvSpPr>
          <p:cNvPr id="3" name="Text 1"/>
          <p:cNvSpPr txBox="1"/>
          <p:nvPr/>
        </p:nvSpPr>
        <p:spPr>
          <a:xfrm>
            <a:off x="640080" y="658368"/>
            <a:ext cx="9902952" cy="731520"/>
          </a:xfrm>
          <a:prstGeom prst="rect">
            <a:avLst/>
          </a:prstGeom>
          <a:noFill/>
          <a:ln/>
        </p:spPr>
        <p:txBody>
          <a:bodyPr wrap="square" lIns="0" tIns="0" rIns="0" bIns="0" rtlCol="0" anchor="t"/>
          <a:lstStyle/>
          <a:p>
            <a:pPr indent="0" marL="0">
              <a:buNone/>
            </a:pPr>
            <a:r>
              <a:rPr lang="en-US" sz="3000" b="1" dirty="0">
                <a:solidFill>
                  <a:srgbClr val="0F1626"/>
                </a:solidFill>
                <a:latin typeface="Meiryo" pitchFamily="34" charset="0"/>
                <a:ea typeface="Meiryo" pitchFamily="34" charset="-122"/>
                <a:cs typeface="Meiryo" pitchFamily="34" charset="-120"/>
              </a:rPr>
              <a:t>結果①　偏向角はすべての試料で 45° を下回った</a:t>
            </a:r>
            <a:endParaRPr lang="en-US" sz="3000" dirty="0"/>
          </a:p>
        </p:txBody>
      </p:sp>
      <p:sp>
        <p:nvSpPr>
          <p:cNvPr id="4" name="Shape 2"/>
          <p:cNvSpPr/>
          <p:nvPr/>
        </p:nvSpPr>
        <p:spPr>
          <a:xfrm>
            <a:off x="11073384" y="457200"/>
            <a:ext cx="475488" cy="475488"/>
          </a:xfrm>
          <a:prstGeom prst="ellipse">
            <a:avLst/>
          </a:prstGeom>
          <a:solidFill>
            <a:srgbClr val="F2F4F8"/>
          </a:solidFill>
          <a:ln w="12700">
            <a:solidFill>
              <a:srgbClr val="FFFFFF"/>
            </a:solidFill>
            <a:prstDash val="solid"/>
          </a:ln>
        </p:spPr>
      </p:sp>
      <p:sp>
        <p:nvSpPr>
          <p:cNvPr id="5" name="Text 3"/>
          <p:cNvSpPr txBox="1"/>
          <p:nvPr/>
        </p:nvSpPr>
        <p:spPr>
          <a:xfrm>
            <a:off x="11073384" y="457200"/>
            <a:ext cx="475488" cy="475488"/>
          </a:xfrm>
          <a:prstGeom prst="rect">
            <a:avLst/>
          </a:prstGeom>
          <a:noFill/>
          <a:ln/>
        </p:spPr>
        <p:txBody>
          <a:bodyPr wrap="square" lIns="0" tIns="0" rIns="0" bIns="0" rtlCol="0" anchor="ctr"/>
          <a:lstStyle/>
          <a:p>
            <a:pPr algn="ctr" indent="0" marL="0">
              <a:buNone/>
            </a:pPr>
            <a:r>
              <a:rPr lang="en-US" sz="1300" b="1" dirty="0">
                <a:solidFill>
                  <a:srgbClr val="2E3A59"/>
                </a:solidFill>
                <a:latin typeface="Meiryo" pitchFamily="34" charset="0"/>
                <a:ea typeface="Meiryo" pitchFamily="34" charset="-122"/>
                <a:cs typeface="Meiryo" pitchFamily="34" charset="-120"/>
              </a:rPr>
              <a:t>10</a:t>
            </a:r>
            <a:endParaRPr lang="en-US" sz="1300" dirty="0"/>
          </a:p>
        </p:txBody>
      </p:sp>
      <p:graphicFrame>
        <p:nvGraphicFramePr>
          <p:cNvPr id="6" name="Chart 0" descr=""/>
          <p:cNvGraphicFramePr/>
          <p:nvPr/>
        </p:nvGraphicFramePr>
        <p:xfrm>
          <a:off x="640080" y="1600200"/>
          <a:ext cx="7589520" cy="36576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8595360" y="1600200"/>
            <a:ext cx="2953512" cy="3657600"/>
          </a:xfrm>
          <a:prstGeom prst="roundRect">
            <a:avLst>
              <a:gd name="adj" fmla="val 1858"/>
            </a:avLst>
          </a:prstGeom>
          <a:solidFill>
            <a:srgbClr val="E6F3F5"/>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8" name="Text 5"/>
          <p:cNvSpPr txBox="1"/>
          <p:nvPr/>
        </p:nvSpPr>
        <p:spPr>
          <a:xfrm>
            <a:off x="8869680" y="1828800"/>
            <a:ext cx="2377440" cy="274320"/>
          </a:xfrm>
          <a:prstGeom prst="rect">
            <a:avLst/>
          </a:prstGeom>
          <a:noFill/>
          <a:ln/>
        </p:spPr>
        <p:txBody>
          <a:bodyPr wrap="square" lIns="0" tIns="0" rIns="0" bIns="0" rtlCol="0" anchor="ctr"/>
          <a:lstStyle/>
          <a:p>
            <a:pPr indent="0" marL="0">
              <a:buNone/>
            </a:pPr>
            <a:r>
              <a:rPr lang="en-US" sz="1300" b="1" dirty="0">
                <a:solidFill>
                  <a:srgbClr val="1B9AAA"/>
                </a:solidFill>
                <a:latin typeface="Meiryo" pitchFamily="34" charset="0"/>
                <a:ea typeface="Meiryo" pitchFamily="34" charset="-122"/>
                <a:cs typeface="Meiryo" pitchFamily="34" charset="-120"/>
              </a:rPr>
              <a:t>読み取り</a:t>
            </a:r>
            <a:endParaRPr lang="en-US" sz="1300" dirty="0"/>
          </a:p>
        </p:txBody>
      </p:sp>
      <p:sp>
        <p:nvSpPr>
          <p:cNvPr id="9" name="Text 6"/>
          <p:cNvSpPr txBox="1"/>
          <p:nvPr/>
        </p:nvSpPr>
        <p:spPr>
          <a:xfrm>
            <a:off x="8869680" y="2240280"/>
            <a:ext cx="2404872" cy="2834640"/>
          </a:xfrm>
          <a:prstGeom prst="rect">
            <a:avLst/>
          </a:prstGeom>
          <a:noFill/>
          <a:ln/>
        </p:spPr>
        <p:txBody>
          <a:bodyPr wrap="square" lIns="0" tIns="0" rIns="0" bIns="0" rtlCol="0" anchor="ctr"/>
          <a:lstStyle/>
          <a:p>
            <a:pPr indent="0" marL="0">
              <a:lnSpc>
                <a:spcPts val="1800"/>
              </a:lnSpc>
              <a:spcAft>
                <a:spcPts val="900"/>
              </a:spcAft>
              <a:buNone/>
            </a:pPr>
            <a:r>
              <a:rPr lang="en-US" sz="1150" dirty="0">
                <a:solidFill>
                  <a:srgbClr val="1F2430"/>
                </a:solidFill>
                <a:latin typeface="Meiryo" pitchFamily="34" charset="0"/>
                <a:ea typeface="Meiryo" pitchFamily="34" charset="-122"/>
                <a:cs typeface="Meiryo" pitchFamily="34" charset="-120"/>
              </a:rPr>
              <a:t>最大でも 26.2°（3T・製品C）で、規格の 45° を超えた試料はない。</a:t>
            </a:r>
            <a:endParaRPr lang="en-US" sz="1150" dirty="0"/>
          </a:p>
          <a:p>
            <a:pPr indent="0" marL="0">
              <a:lnSpc>
                <a:spcPts val="1800"/>
              </a:lnSpc>
              <a:spcAft>
                <a:spcPts val="900"/>
              </a:spcAft>
              <a:buNone/>
            </a:pPr>
            <a:r>
              <a:rPr lang="en-US" sz="1150" dirty="0">
                <a:solidFill>
                  <a:srgbClr val="1F2430"/>
                </a:solidFill>
                <a:latin typeface="Meiryo" pitchFamily="34" charset="0"/>
                <a:ea typeface="Meiryo" pitchFamily="34" charset="-122"/>
                <a:cs typeface="Meiryo" pitchFamily="34" charset="-120"/>
              </a:rPr>
              <a:t>3T は 1.5T の約 1.6 倍。磁場強度依存性が明確。</a:t>
            </a:r>
            <a:endParaRPr lang="en-US" sz="1150" dirty="0"/>
          </a:p>
          <a:p>
            <a:pPr indent="0" marL="0">
              <a:lnSpc>
                <a:spcPts val="1800"/>
              </a:lnSpc>
              <a:spcAft>
                <a:spcPts val="900"/>
              </a:spcAft>
              <a:buNone/>
            </a:pPr>
            <a:r>
              <a:rPr lang="en-US" sz="1150" dirty="0">
                <a:solidFill>
                  <a:srgbClr val="1F2430"/>
                </a:solidFill>
                <a:latin typeface="Meiryo" pitchFamily="34" charset="0"/>
                <a:ea typeface="Meiryo" pitchFamily="34" charset="-122"/>
                <a:cs typeface="Meiryo" pitchFamily="34" charset="-120"/>
              </a:rPr>
              <a:t>配列の有無による差は小さい。</a:t>
            </a:r>
            <a:endParaRPr lang="en-US" sz="1150" dirty="0"/>
          </a:p>
          <a:p>
            <a:pPr indent="0" marL="0">
              <a:lnSpc>
                <a:spcPts val="1800"/>
              </a:lnSpc>
              <a:spcAft>
                <a:spcPts val="900"/>
              </a:spcAft>
              <a:buNone/>
            </a:pPr>
            <a:r>
              <a:rPr lang="en-US" sz="1150" dirty="0">
                <a:solidFill>
                  <a:srgbClr val="1F2430"/>
                </a:solidFill>
                <a:latin typeface="Meiryo" pitchFamily="34" charset="0"/>
                <a:ea typeface="Meiryo" pitchFamily="34" charset="-122"/>
                <a:cs typeface="Meiryo" pitchFamily="34" charset="-120"/>
              </a:rPr>
              <a:t>→ 吸引力の観点では、爪からの剥離リスクは低いと判断できる。</a:t>
            </a:r>
            <a:endParaRPr lang="en-US" sz="1150" dirty="0"/>
          </a:p>
        </p:txBody>
      </p:sp>
      <p:sp>
        <p:nvSpPr>
          <p:cNvPr id="10" name="Text 7"/>
          <p:cNvSpPr txBox="1"/>
          <p:nvPr/>
        </p:nvSpPr>
        <p:spPr>
          <a:xfrm>
            <a:off x="640080" y="6345936"/>
            <a:ext cx="8897112" cy="274320"/>
          </a:xfrm>
          <a:prstGeom prst="rect">
            <a:avLst/>
          </a:prstGeom>
          <a:noFill/>
          <a:ln/>
        </p:spPr>
        <p:txBody>
          <a:bodyPr wrap="square" lIns="0" tIns="0" rIns="0" bIns="0" rtlCol="0" anchor="ctr"/>
          <a:lstStyle/>
          <a:p>
            <a:pPr indent="0" marL="0">
              <a:buNone/>
            </a:pPr>
            <a:r>
              <a:rPr lang="en-US" sz="1000" dirty="0">
                <a:solidFill>
                  <a:srgbClr val="6B7280"/>
                </a:solidFill>
                <a:latin typeface="Meiryo" pitchFamily="34" charset="0"/>
                <a:ea typeface="Meiryo" pitchFamily="34" charset="-122"/>
                <a:cs typeface="Meiryo" pitchFamily="34" charset="-120"/>
              </a:rPr>
              <a:t>平均値、n = 10、エラーバーは実データで付す</a:t>
            </a:r>
            <a:endParaRPr lang="en-US" sz="1000" dirty="0"/>
          </a:p>
        </p:txBody>
      </p:sp>
      <p:sp>
        <p:nvSpPr>
          <p:cNvPr id="11" name="Shape 8"/>
          <p:cNvSpPr/>
          <p:nvPr/>
        </p:nvSpPr>
        <p:spPr>
          <a:xfrm>
            <a:off x="9674352" y="6327648"/>
            <a:ext cx="1417320" cy="274320"/>
          </a:xfrm>
          <a:prstGeom prst="roundRect">
            <a:avLst>
              <a:gd name="adj" fmla="val 46667"/>
            </a:avLst>
          </a:prstGeom>
          <a:solidFill>
            <a:srgbClr val="FDF3E3"/>
          </a:solidFill>
          <a:ln w="9525">
            <a:solidFill>
              <a:srgbClr val="C2700F"/>
            </a:solidFill>
            <a:prstDash val="solid"/>
          </a:ln>
        </p:spPr>
      </p:sp>
      <p:sp>
        <p:nvSpPr>
          <p:cNvPr id="12" name="Text 9"/>
          <p:cNvSpPr txBox="1"/>
          <p:nvPr/>
        </p:nvSpPr>
        <p:spPr>
          <a:xfrm>
            <a:off x="9674352" y="6327648"/>
            <a:ext cx="1417320" cy="274320"/>
          </a:xfrm>
          <a:prstGeom prst="rect">
            <a:avLst/>
          </a:prstGeom>
          <a:noFill/>
          <a:ln/>
        </p:spPr>
        <p:txBody>
          <a:bodyPr wrap="square" lIns="0" tIns="0" rIns="0" bIns="0" rtlCol="0" anchor="ctr"/>
          <a:lstStyle/>
          <a:p>
            <a:pPr algn="ctr" indent="0" marL="0">
              <a:buNone/>
            </a:pPr>
            <a:r>
              <a:rPr lang="en-US" sz="1000" b="1" dirty="0">
                <a:solidFill>
                  <a:srgbClr val="C2700F"/>
                </a:solidFill>
                <a:latin typeface="Meiryo" pitchFamily="34" charset="0"/>
                <a:ea typeface="Meiryo" pitchFamily="34" charset="-122"/>
                <a:cs typeface="Meiryo" pitchFamily="34" charset="-120"/>
              </a:rPr>
              <a:t>ダミー値</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384048"/>
            <a:ext cx="9902952" cy="256032"/>
          </a:xfrm>
          <a:prstGeom prst="rect">
            <a:avLst/>
          </a:prstGeom>
          <a:noFill/>
          <a:ln/>
        </p:spPr>
        <p:txBody>
          <a:bodyPr wrap="square" lIns="0" tIns="0" rIns="0" bIns="0" rtlCol="0" anchor="ctr"/>
          <a:lstStyle/>
          <a:p>
            <a:pPr indent="0" marL="0">
              <a:buNone/>
            </a:pPr>
            <a:r>
              <a:rPr lang="en-US" sz="1200" b="1" spc="200" kern="0" dirty="0">
                <a:solidFill>
                  <a:srgbClr val="1B9AAA"/>
                </a:solidFill>
                <a:latin typeface="Meiryo" pitchFamily="34" charset="0"/>
                <a:ea typeface="Meiryo" pitchFamily="34" charset="-122"/>
                <a:cs typeface="Meiryo" pitchFamily="34" charset="-120"/>
              </a:rPr>
              <a:t>結果</a:t>
            </a:r>
            <a:endParaRPr lang="en-US" sz="1200" dirty="0"/>
          </a:p>
        </p:txBody>
      </p:sp>
      <p:sp>
        <p:nvSpPr>
          <p:cNvPr id="3" name="Text 1"/>
          <p:cNvSpPr txBox="1"/>
          <p:nvPr/>
        </p:nvSpPr>
        <p:spPr>
          <a:xfrm>
            <a:off x="640080" y="658368"/>
            <a:ext cx="9902952" cy="731520"/>
          </a:xfrm>
          <a:prstGeom prst="rect">
            <a:avLst/>
          </a:prstGeom>
          <a:noFill/>
          <a:ln/>
        </p:spPr>
        <p:txBody>
          <a:bodyPr wrap="square" lIns="0" tIns="0" rIns="0" bIns="0" rtlCol="0" anchor="t"/>
          <a:lstStyle/>
          <a:p>
            <a:pPr indent="0" marL="0">
              <a:buNone/>
            </a:pPr>
            <a:r>
              <a:rPr lang="en-US" sz="3000" b="1" dirty="0">
                <a:solidFill>
                  <a:srgbClr val="0F1626"/>
                </a:solidFill>
                <a:latin typeface="Meiryo" pitchFamily="34" charset="0"/>
                <a:ea typeface="Meiryo" pitchFamily="34" charset="-122"/>
                <a:cs typeface="Meiryo" pitchFamily="34" charset="-120"/>
              </a:rPr>
              <a:t>結果②　磁場強度とシーケンスで消失域は変わる</a:t>
            </a:r>
            <a:endParaRPr lang="en-US" sz="3000" dirty="0"/>
          </a:p>
        </p:txBody>
      </p:sp>
      <p:sp>
        <p:nvSpPr>
          <p:cNvPr id="4" name="Shape 2"/>
          <p:cNvSpPr/>
          <p:nvPr/>
        </p:nvSpPr>
        <p:spPr>
          <a:xfrm>
            <a:off x="11073384" y="457200"/>
            <a:ext cx="475488" cy="475488"/>
          </a:xfrm>
          <a:prstGeom prst="ellipse">
            <a:avLst/>
          </a:prstGeom>
          <a:solidFill>
            <a:srgbClr val="F2F4F8"/>
          </a:solidFill>
          <a:ln w="12700">
            <a:solidFill>
              <a:srgbClr val="FFFFFF"/>
            </a:solidFill>
            <a:prstDash val="solid"/>
          </a:ln>
        </p:spPr>
      </p:sp>
      <p:sp>
        <p:nvSpPr>
          <p:cNvPr id="5" name="Text 3"/>
          <p:cNvSpPr txBox="1"/>
          <p:nvPr/>
        </p:nvSpPr>
        <p:spPr>
          <a:xfrm>
            <a:off x="11073384" y="457200"/>
            <a:ext cx="475488" cy="475488"/>
          </a:xfrm>
          <a:prstGeom prst="rect">
            <a:avLst/>
          </a:prstGeom>
          <a:noFill/>
          <a:ln/>
        </p:spPr>
        <p:txBody>
          <a:bodyPr wrap="square" lIns="0" tIns="0" rIns="0" bIns="0" rtlCol="0" anchor="ctr"/>
          <a:lstStyle/>
          <a:p>
            <a:pPr algn="ctr" indent="0" marL="0">
              <a:buNone/>
            </a:pPr>
            <a:r>
              <a:rPr lang="en-US" sz="1300" b="1" dirty="0">
                <a:solidFill>
                  <a:srgbClr val="2E3A59"/>
                </a:solidFill>
                <a:latin typeface="Meiryo" pitchFamily="34" charset="0"/>
                <a:ea typeface="Meiryo" pitchFamily="34" charset="-122"/>
                <a:cs typeface="Meiryo" pitchFamily="34" charset="-120"/>
              </a:rPr>
              <a:t>11</a:t>
            </a:r>
            <a:endParaRPr lang="en-US" sz="1300" dirty="0"/>
          </a:p>
        </p:txBody>
      </p:sp>
      <p:sp>
        <p:nvSpPr>
          <p:cNvPr id="6" name="Shape 4"/>
          <p:cNvSpPr/>
          <p:nvPr/>
        </p:nvSpPr>
        <p:spPr>
          <a:xfrm>
            <a:off x="640080" y="1691640"/>
            <a:ext cx="2606040" cy="2697480"/>
          </a:xfrm>
          <a:prstGeom prst="rect">
            <a:avLst/>
          </a:prstGeom>
          <a:solidFill>
            <a:srgbClr val="0A0D14"/>
          </a:solidFill>
          <a:ln w="12700">
            <a:solidFill>
              <a:srgbClr val="FFFFFF"/>
            </a:solidFill>
            <a:prstDash val="solid"/>
          </a:ln>
        </p:spPr>
      </p:sp>
      <p:sp>
        <p:nvSpPr>
          <p:cNvPr id="7" name="Shape 5"/>
          <p:cNvSpPr/>
          <p:nvPr/>
        </p:nvSpPr>
        <p:spPr>
          <a:xfrm>
            <a:off x="960120" y="1965960"/>
            <a:ext cx="1965960" cy="2148840"/>
          </a:xfrm>
          <a:prstGeom prst="ellipse">
            <a:avLst/>
          </a:prstGeom>
          <a:solidFill>
            <a:srgbClr val="C6CDD8"/>
          </a:solidFill>
          <a:ln w="12700">
            <a:solidFill>
              <a:srgbClr val="FFFFFF"/>
            </a:solidFill>
            <a:prstDash val="solid"/>
          </a:ln>
        </p:spPr>
      </p:sp>
      <p:sp>
        <p:nvSpPr>
          <p:cNvPr id="8" name="Shape 6"/>
          <p:cNvSpPr/>
          <p:nvPr/>
        </p:nvSpPr>
        <p:spPr>
          <a:xfrm>
            <a:off x="1805940" y="2148840"/>
            <a:ext cx="274320" cy="315468"/>
          </a:xfrm>
          <a:prstGeom prst="ellipse">
            <a:avLst/>
          </a:prstGeom>
          <a:solidFill>
            <a:srgbClr val="0A0D14"/>
          </a:solidFill>
          <a:ln w="12700">
            <a:solidFill>
              <a:srgbClr val="FFFFFF"/>
            </a:solidFill>
            <a:prstDash val="solid"/>
          </a:ln>
        </p:spPr>
      </p:sp>
      <p:sp>
        <p:nvSpPr>
          <p:cNvPr id="9" name="Text 7"/>
          <p:cNvSpPr txBox="1"/>
          <p:nvPr/>
        </p:nvSpPr>
        <p:spPr>
          <a:xfrm>
            <a:off x="640080" y="4434840"/>
            <a:ext cx="2606040" cy="292608"/>
          </a:xfrm>
          <a:prstGeom prst="rect">
            <a:avLst/>
          </a:prstGeom>
          <a:noFill/>
          <a:ln/>
        </p:spPr>
        <p:txBody>
          <a:bodyPr wrap="square" lIns="0" tIns="0" rIns="0" bIns="0" rtlCol="0" anchor="ctr"/>
          <a:lstStyle/>
          <a:p>
            <a:pPr algn="ctr" indent="0" marL="0">
              <a:buNone/>
            </a:pPr>
            <a:r>
              <a:rPr lang="en-US" sz="1300" b="1" dirty="0">
                <a:solidFill>
                  <a:srgbClr val="0F1626"/>
                </a:solidFill>
                <a:latin typeface="Meiryo" pitchFamily="34" charset="0"/>
                <a:ea typeface="Meiryo" pitchFamily="34" charset="-122"/>
                <a:cs typeface="Meiryo" pitchFamily="34" charset="-120"/>
              </a:rPr>
              <a:t>1.5T  SE</a:t>
            </a:r>
            <a:endParaRPr lang="en-US" sz="1300" dirty="0"/>
          </a:p>
        </p:txBody>
      </p:sp>
      <p:sp>
        <p:nvSpPr>
          <p:cNvPr id="10" name="Shape 8"/>
          <p:cNvSpPr/>
          <p:nvPr/>
        </p:nvSpPr>
        <p:spPr>
          <a:xfrm>
            <a:off x="3447288" y="1691640"/>
            <a:ext cx="2606040" cy="2697480"/>
          </a:xfrm>
          <a:prstGeom prst="rect">
            <a:avLst/>
          </a:prstGeom>
          <a:solidFill>
            <a:srgbClr val="0A0D14"/>
          </a:solidFill>
          <a:ln w="12700">
            <a:solidFill>
              <a:srgbClr val="FFFFFF"/>
            </a:solidFill>
            <a:prstDash val="solid"/>
          </a:ln>
        </p:spPr>
      </p:sp>
      <p:sp>
        <p:nvSpPr>
          <p:cNvPr id="11" name="Shape 9"/>
          <p:cNvSpPr/>
          <p:nvPr/>
        </p:nvSpPr>
        <p:spPr>
          <a:xfrm>
            <a:off x="3767328" y="1965960"/>
            <a:ext cx="1965960" cy="2148840"/>
          </a:xfrm>
          <a:prstGeom prst="ellipse">
            <a:avLst/>
          </a:prstGeom>
          <a:solidFill>
            <a:srgbClr val="C6CDD8"/>
          </a:solidFill>
          <a:ln w="12700">
            <a:solidFill>
              <a:srgbClr val="FFFFFF"/>
            </a:solidFill>
            <a:prstDash val="solid"/>
          </a:ln>
        </p:spPr>
      </p:sp>
      <p:sp>
        <p:nvSpPr>
          <p:cNvPr id="12" name="Shape 10"/>
          <p:cNvSpPr/>
          <p:nvPr/>
        </p:nvSpPr>
        <p:spPr>
          <a:xfrm>
            <a:off x="4466844" y="2148840"/>
            <a:ext cx="566928" cy="651967"/>
          </a:xfrm>
          <a:prstGeom prst="ellipse">
            <a:avLst/>
          </a:prstGeom>
          <a:solidFill>
            <a:srgbClr val="0A0D14"/>
          </a:solidFill>
          <a:ln w="12700">
            <a:solidFill>
              <a:srgbClr val="FFFFFF"/>
            </a:solidFill>
            <a:prstDash val="solid"/>
          </a:ln>
        </p:spPr>
      </p:sp>
      <p:sp>
        <p:nvSpPr>
          <p:cNvPr id="13" name="Text 11"/>
          <p:cNvSpPr txBox="1"/>
          <p:nvPr/>
        </p:nvSpPr>
        <p:spPr>
          <a:xfrm>
            <a:off x="3447288" y="4434840"/>
            <a:ext cx="2606040" cy="292608"/>
          </a:xfrm>
          <a:prstGeom prst="rect">
            <a:avLst/>
          </a:prstGeom>
          <a:noFill/>
          <a:ln/>
        </p:spPr>
        <p:txBody>
          <a:bodyPr wrap="square" lIns="0" tIns="0" rIns="0" bIns="0" rtlCol="0" anchor="ctr"/>
          <a:lstStyle/>
          <a:p>
            <a:pPr algn="ctr" indent="0" marL="0">
              <a:buNone/>
            </a:pPr>
            <a:r>
              <a:rPr lang="en-US" sz="1300" b="1" dirty="0">
                <a:solidFill>
                  <a:srgbClr val="0F1626"/>
                </a:solidFill>
                <a:latin typeface="Meiryo" pitchFamily="34" charset="0"/>
                <a:ea typeface="Meiryo" pitchFamily="34" charset="-122"/>
                <a:cs typeface="Meiryo" pitchFamily="34" charset="-120"/>
              </a:rPr>
              <a:t>1.5T  GRE</a:t>
            </a:r>
            <a:endParaRPr lang="en-US" sz="1300" dirty="0"/>
          </a:p>
        </p:txBody>
      </p:sp>
      <p:sp>
        <p:nvSpPr>
          <p:cNvPr id="14" name="Shape 12"/>
          <p:cNvSpPr/>
          <p:nvPr/>
        </p:nvSpPr>
        <p:spPr>
          <a:xfrm>
            <a:off x="6254496" y="1691640"/>
            <a:ext cx="2606040" cy="2697480"/>
          </a:xfrm>
          <a:prstGeom prst="rect">
            <a:avLst/>
          </a:prstGeom>
          <a:solidFill>
            <a:srgbClr val="0A0D14"/>
          </a:solidFill>
          <a:ln w="12700">
            <a:solidFill>
              <a:srgbClr val="FFFFFF"/>
            </a:solidFill>
            <a:prstDash val="solid"/>
          </a:ln>
        </p:spPr>
      </p:sp>
      <p:sp>
        <p:nvSpPr>
          <p:cNvPr id="15" name="Shape 13"/>
          <p:cNvSpPr/>
          <p:nvPr/>
        </p:nvSpPr>
        <p:spPr>
          <a:xfrm>
            <a:off x="6574536" y="1965960"/>
            <a:ext cx="1965960" cy="2148840"/>
          </a:xfrm>
          <a:prstGeom prst="ellipse">
            <a:avLst/>
          </a:prstGeom>
          <a:solidFill>
            <a:srgbClr val="C6CDD8"/>
          </a:solidFill>
          <a:ln w="12700">
            <a:solidFill>
              <a:srgbClr val="FFFFFF"/>
            </a:solidFill>
            <a:prstDash val="solid"/>
          </a:ln>
        </p:spPr>
      </p:sp>
      <p:sp>
        <p:nvSpPr>
          <p:cNvPr id="16" name="Shape 14"/>
          <p:cNvSpPr/>
          <p:nvPr/>
        </p:nvSpPr>
        <p:spPr>
          <a:xfrm>
            <a:off x="7338060" y="2148840"/>
            <a:ext cx="438912" cy="504749"/>
          </a:xfrm>
          <a:prstGeom prst="ellipse">
            <a:avLst/>
          </a:prstGeom>
          <a:solidFill>
            <a:srgbClr val="0A0D14"/>
          </a:solidFill>
          <a:ln w="12700">
            <a:solidFill>
              <a:srgbClr val="FFFFFF"/>
            </a:solidFill>
            <a:prstDash val="solid"/>
          </a:ln>
        </p:spPr>
      </p:sp>
      <p:sp>
        <p:nvSpPr>
          <p:cNvPr id="17" name="Text 15"/>
          <p:cNvSpPr txBox="1"/>
          <p:nvPr/>
        </p:nvSpPr>
        <p:spPr>
          <a:xfrm>
            <a:off x="6254496" y="4434840"/>
            <a:ext cx="2606040" cy="292608"/>
          </a:xfrm>
          <a:prstGeom prst="rect">
            <a:avLst/>
          </a:prstGeom>
          <a:noFill/>
          <a:ln/>
        </p:spPr>
        <p:txBody>
          <a:bodyPr wrap="square" lIns="0" tIns="0" rIns="0" bIns="0" rtlCol="0" anchor="ctr"/>
          <a:lstStyle/>
          <a:p>
            <a:pPr algn="ctr" indent="0" marL="0">
              <a:buNone/>
            </a:pPr>
            <a:r>
              <a:rPr lang="en-US" sz="1300" b="1" dirty="0">
                <a:solidFill>
                  <a:srgbClr val="0F1626"/>
                </a:solidFill>
                <a:latin typeface="Meiryo" pitchFamily="34" charset="0"/>
                <a:ea typeface="Meiryo" pitchFamily="34" charset="-122"/>
                <a:cs typeface="Meiryo" pitchFamily="34" charset="-120"/>
              </a:rPr>
              <a:t>3T  SE</a:t>
            </a:r>
            <a:endParaRPr lang="en-US" sz="1300" dirty="0"/>
          </a:p>
        </p:txBody>
      </p:sp>
      <p:sp>
        <p:nvSpPr>
          <p:cNvPr id="18" name="Shape 16"/>
          <p:cNvSpPr/>
          <p:nvPr/>
        </p:nvSpPr>
        <p:spPr>
          <a:xfrm>
            <a:off x="9061704" y="1691640"/>
            <a:ext cx="2606040" cy="2697480"/>
          </a:xfrm>
          <a:prstGeom prst="rect">
            <a:avLst/>
          </a:prstGeom>
          <a:solidFill>
            <a:srgbClr val="0A0D14"/>
          </a:solidFill>
          <a:ln w="12700">
            <a:solidFill>
              <a:srgbClr val="FFFFFF"/>
            </a:solidFill>
            <a:prstDash val="solid"/>
          </a:ln>
        </p:spPr>
      </p:sp>
      <p:sp>
        <p:nvSpPr>
          <p:cNvPr id="19" name="Shape 17"/>
          <p:cNvSpPr/>
          <p:nvPr/>
        </p:nvSpPr>
        <p:spPr>
          <a:xfrm>
            <a:off x="9381744" y="1965960"/>
            <a:ext cx="1965960" cy="2148840"/>
          </a:xfrm>
          <a:prstGeom prst="ellipse">
            <a:avLst/>
          </a:prstGeom>
          <a:solidFill>
            <a:srgbClr val="C6CDD8"/>
          </a:solidFill>
          <a:ln w="12700">
            <a:solidFill>
              <a:srgbClr val="FFFFFF"/>
            </a:solidFill>
            <a:prstDash val="solid"/>
          </a:ln>
        </p:spPr>
      </p:sp>
      <p:sp>
        <p:nvSpPr>
          <p:cNvPr id="20" name="Shape 18"/>
          <p:cNvSpPr/>
          <p:nvPr/>
        </p:nvSpPr>
        <p:spPr>
          <a:xfrm>
            <a:off x="9884664" y="2148840"/>
            <a:ext cx="960120" cy="1104138"/>
          </a:xfrm>
          <a:prstGeom prst="ellipse">
            <a:avLst/>
          </a:prstGeom>
          <a:solidFill>
            <a:srgbClr val="0A0D14"/>
          </a:solidFill>
          <a:ln w="12700">
            <a:solidFill>
              <a:srgbClr val="FFFFFF"/>
            </a:solidFill>
            <a:prstDash val="solid"/>
          </a:ln>
        </p:spPr>
      </p:sp>
      <p:sp>
        <p:nvSpPr>
          <p:cNvPr id="21" name="Text 19"/>
          <p:cNvSpPr txBox="1"/>
          <p:nvPr/>
        </p:nvSpPr>
        <p:spPr>
          <a:xfrm>
            <a:off x="9061704" y="4434840"/>
            <a:ext cx="2606040" cy="292608"/>
          </a:xfrm>
          <a:prstGeom prst="rect">
            <a:avLst/>
          </a:prstGeom>
          <a:noFill/>
          <a:ln/>
        </p:spPr>
        <p:txBody>
          <a:bodyPr wrap="square" lIns="0" tIns="0" rIns="0" bIns="0" rtlCol="0" anchor="ctr"/>
          <a:lstStyle/>
          <a:p>
            <a:pPr algn="ctr" indent="0" marL="0">
              <a:buNone/>
            </a:pPr>
            <a:r>
              <a:rPr lang="en-US" sz="1300" b="1" dirty="0">
                <a:solidFill>
                  <a:srgbClr val="0F1626"/>
                </a:solidFill>
                <a:latin typeface="Meiryo" pitchFamily="34" charset="0"/>
                <a:ea typeface="Meiryo" pitchFamily="34" charset="-122"/>
                <a:cs typeface="Meiryo" pitchFamily="34" charset="-120"/>
              </a:rPr>
              <a:t>3T  GRE</a:t>
            </a:r>
            <a:endParaRPr lang="en-US" sz="1300" dirty="0"/>
          </a:p>
        </p:txBody>
      </p:sp>
      <p:sp>
        <p:nvSpPr>
          <p:cNvPr id="22" name="Shape 20"/>
          <p:cNvSpPr/>
          <p:nvPr/>
        </p:nvSpPr>
        <p:spPr>
          <a:xfrm>
            <a:off x="640080" y="4892040"/>
            <a:ext cx="10908792" cy="841248"/>
          </a:xfrm>
          <a:prstGeom prst="roundRect">
            <a:avLst>
              <a:gd name="adj" fmla="val 6522"/>
            </a:avLst>
          </a:prstGeom>
          <a:solidFill>
            <a:srgbClr val="FBF1F5"/>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23" name="Text 21"/>
          <p:cNvSpPr txBox="1"/>
          <p:nvPr/>
        </p:nvSpPr>
        <p:spPr>
          <a:xfrm>
            <a:off x="960120" y="4892040"/>
            <a:ext cx="10268712" cy="841248"/>
          </a:xfrm>
          <a:prstGeom prst="rect">
            <a:avLst/>
          </a:prstGeom>
          <a:noFill/>
          <a:ln/>
        </p:spPr>
        <p:txBody>
          <a:bodyPr wrap="square" lIns="0" tIns="0" rIns="0" bIns="0" rtlCol="0" anchor="ctr"/>
          <a:lstStyle/>
          <a:p>
            <a:pPr indent="0" marL="0">
              <a:buNone/>
            </a:pPr>
            <a:r>
              <a:rPr lang="en-US" sz="1350" b="1" dirty="0">
                <a:solidFill>
                  <a:srgbClr val="B5326A"/>
                </a:solidFill>
                <a:latin typeface="Meiryo" pitchFamily="34" charset="0"/>
                <a:ea typeface="Meiryo" pitchFamily="34" charset="-122"/>
                <a:cs typeface="Meiryo" pitchFamily="34" charset="-120"/>
              </a:rPr>
              <a:t>GRE では SE の約 2 倍、3T では 1.5T の約 1.6 倍に信号消失域が拡大した（模式図・実画像に差し替え予定）</a:t>
            </a:r>
            <a:endParaRPr lang="en-US" sz="1350" dirty="0"/>
          </a:p>
        </p:txBody>
      </p:sp>
      <p:sp>
        <p:nvSpPr>
          <p:cNvPr id="24" name="Shape 22"/>
          <p:cNvSpPr/>
          <p:nvPr/>
        </p:nvSpPr>
        <p:spPr>
          <a:xfrm>
            <a:off x="9674352" y="6327648"/>
            <a:ext cx="1417320" cy="274320"/>
          </a:xfrm>
          <a:prstGeom prst="roundRect">
            <a:avLst>
              <a:gd name="adj" fmla="val 46667"/>
            </a:avLst>
          </a:prstGeom>
          <a:solidFill>
            <a:srgbClr val="FDF3E3"/>
          </a:solidFill>
          <a:ln w="9525">
            <a:solidFill>
              <a:srgbClr val="C2700F"/>
            </a:solidFill>
            <a:prstDash val="solid"/>
          </a:ln>
        </p:spPr>
      </p:sp>
      <p:sp>
        <p:nvSpPr>
          <p:cNvPr id="25" name="Text 23"/>
          <p:cNvSpPr txBox="1"/>
          <p:nvPr/>
        </p:nvSpPr>
        <p:spPr>
          <a:xfrm>
            <a:off x="9674352" y="6327648"/>
            <a:ext cx="1417320" cy="274320"/>
          </a:xfrm>
          <a:prstGeom prst="rect">
            <a:avLst/>
          </a:prstGeom>
          <a:noFill/>
          <a:ln/>
        </p:spPr>
        <p:txBody>
          <a:bodyPr wrap="square" lIns="0" tIns="0" rIns="0" bIns="0" rtlCol="0" anchor="ctr"/>
          <a:lstStyle/>
          <a:p>
            <a:pPr algn="ctr" indent="0" marL="0">
              <a:buNone/>
            </a:pPr>
            <a:r>
              <a:rPr lang="en-US" sz="1000" b="1" dirty="0">
                <a:solidFill>
                  <a:srgbClr val="C2700F"/>
                </a:solidFill>
                <a:latin typeface="Meiryo" pitchFamily="34" charset="0"/>
                <a:ea typeface="Meiryo" pitchFamily="34" charset="-122"/>
                <a:cs typeface="Meiryo" pitchFamily="34" charset="-120"/>
              </a:rPr>
              <a:t>ダミー値</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40080" y="384048"/>
            <a:ext cx="9902952" cy="256032"/>
          </a:xfrm>
          <a:prstGeom prst="rect">
            <a:avLst/>
          </a:prstGeom>
          <a:noFill/>
          <a:ln/>
        </p:spPr>
        <p:txBody>
          <a:bodyPr wrap="square" lIns="0" tIns="0" rIns="0" bIns="0" rtlCol="0" anchor="ctr"/>
          <a:lstStyle/>
          <a:p>
            <a:pPr indent="0" marL="0">
              <a:buNone/>
            </a:pPr>
            <a:r>
              <a:rPr lang="en-US" sz="1200" b="1" spc="200" kern="0" dirty="0">
                <a:solidFill>
                  <a:srgbClr val="1B9AAA"/>
                </a:solidFill>
                <a:latin typeface="Meiryo" pitchFamily="34" charset="0"/>
                <a:ea typeface="Meiryo" pitchFamily="34" charset="-122"/>
                <a:cs typeface="Meiryo" pitchFamily="34" charset="-120"/>
              </a:rPr>
              <a:t>結果</a:t>
            </a:r>
            <a:endParaRPr lang="en-US" sz="1200" dirty="0"/>
          </a:p>
        </p:txBody>
      </p:sp>
      <p:sp>
        <p:nvSpPr>
          <p:cNvPr id="3" name="Text 1"/>
          <p:cNvSpPr txBox="1"/>
          <p:nvPr/>
        </p:nvSpPr>
        <p:spPr>
          <a:xfrm>
            <a:off x="640080" y="658368"/>
            <a:ext cx="9902952" cy="731520"/>
          </a:xfrm>
          <a:prstGeom prst="rect">
            <a:avLst/>
          </a:prstGeom>
          <a:noFill/>
          <a:ln/>
        </p:spPr>
        <p:txBody>
          <a:bodyPr wrap="square" lIns="0" tIns="0" rIns="0" bIns="0" rtlCol="0" anchor="t"/>
          <a:lstStyle/>
          <a:p>
            <a:pPr indent="0" marL="0">
              <a:buNone/>
            </a:pPr>
            <a:r>
              <a:rPr lang="en-US" sz="3000" b="1" dirty="0">
                <a:solidFill>
                  <a:srgbClr val="0F1626"/>
                </a:solidFill>
                <a:latin typeface="Meiryo" pitchFamily="34" charset="0"/>
                <a:ea typeface="Meiryo" pitchFamily="34" charset="-122"/>
                <a:cs typeface="Meiryo" pitchFamily="34" charset="-120"/>
              </a:rPr>
              <a:t>結果③　アーチファクトは TE に比例して拡大する</a:t>
            </a:r>
            <a:endParaRPr lang="en-US" sz="3000" dirty="0"/>
          </a:p>
        </p:txBody>
      </p:sp>
      <p:sp>
        <p:nvSpPr>
          <p:cNvPr id="4" name="Shape 2"/>
          <p:cNvSpPr/>
          <p:nvPr/>
        </p:nvSpPr>
        <p:spPr>
          <a:xfrm>
            <a:off x="11073384" y="457200"/>
            <a:ext cx="475488" cy="475488"/>
          </a:xfrm>
          <a:prstGeom prst="ellipse">
            <a:avLst/>
          </a:prstGeom>
          <a:solidFill>
            <a:srgbClr val="F2F4F8"/>
          </a:solidFill>
          <a:ln w="12700">
            <a:solidFill>
              <a:srgbClr val="FFFFFF"/>
            </a:solidFill>
            <a:prstDash val="solid"/>
          </a:ln>
        </p:spPr>
      </p:sp>
      <p:sp>
        <p:nvSpPr>
          <p:cNvPr id="5" name="Text 3"/>
          <p:cNvSpPr txBox="1"/>
          <p:nvPr/>
        </p:nvSpPr>
        <p:spPr>
          <a:xfrm>
            <a:off x="11073384" y="457200"/>
            <a:ext cx="475488" cy="475488"/>
          </a:xfrm>
          <a:prstGeom prst="rect">
            <a:avLst/>
          </a:prstGeom>
          <a:noFill/>
          <a:ln/>
        </p:spPr>
        <p:txBody>
          <a:bodyPr wrap="square" lIns="0" tIns="0" rIns="0" bIns="0" rtlCol="0" anchor="ctr"/>
          <a:lstStyle/>
          <a:p>
            <a:pPr algn="ctr" indent="0" marL="0">
              <a:buNone/>
            </a:pPr>
            <a:r>
              <a:rPr lang="en-US" sz="1300" b="1" dirty="0">
                <a:solidFill>
                  <a:srgbClr val="2E3A59"/>
                </a:solidFill>
                <a:latin typeface="Meiryo" pitchFamily="34" charset="0"/>
                <a:ea typeface="Meiryo" pitchFamily="34" charset="-122"/>
                <a:cs typeface="Meiryo" pitchFamily="34" charset="-120"/>
              </a:rPr>
              <a:t>12</a:t>
            </a:r>
            <a:endParaRPr lang="en-US" sz="1300" dirty="0"/>
          </a:p>
        </p:txBody>
      </p:sp>
      <p:graphicFrame>
        <p:nvGraphicFramePr>
          <p:cNvPr id="6" name="Chart 0" descr=""/>
          <p:cNvGraphicFramePr/>
          <p:nvPr/>
        </p:nvGraphicFramePr>
        <p:xfrm>
          <a:off x="640080" y="1600200"/>
          <a:ext cx="7589520" cy="37033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8595360" y="1600200"/>
            <a:ext cx="2953512" cy="3703320"/>
          </a:xfrm>
          <a:prstGeom prst="roundRect">
            <a:avLst>
              <a:gd name="adj" fmla="val 1858"/>
            </a:avLst>
          </a:prstGeom>
          <a:solidFill>
            <a:srgbClr val="E6F3F5"/>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8" name="Text 5"/>
          <p:cNvSpPr txBox="1"/>
          <p:nvPr/>
        </p:nvSpPr>
        <p:spPr>
          <a:xfrm>
            <a:off x="8869680" y="1828800"/>
            <a:ext cx="2377440" cy="274320"/>
          </a:xfrm>
          <a:prstGeom prst="rect">
            <a:avLst/>
          </a:prstGeom>
          <a:noFill/>
          <a:ln/>
        </p:spPr>
        <p:txBody>
          <a:bodyPr wrap="square" lIns="0" tIns="0" rIns="0" bIns="0" rtlCol="0" anchor="ctr"/>
          <a:lstStyle/>
          <a:p>
            <a:pPr indent="0" marL="0">
              <a:buNone/>
            </a:pPr>
            <a:r>
              <a:rPr lang="en-US" sz="1300" b="1" dirty="0">
                <a:solidFill>
                  <a:srgbClr val="1B9AAA"/>
                </a:solidFill>
                <a:latin typeface="Meiryo" pitchFamily="34" charset="0"/>
                <a:ea typeface="Meiryo" pitchFamily="34" charset="-122"/>
                <a:cs typeface="Meiryo" pitchFamily="34" charset="-120"/>
              </a:rPr>
              <a:t>読み取り</a:t>
            </a:r>
            <a:endParaRPr lang="en-US" sz="1300" dirty="0"/>
          </a:p>
        </p:txBody>
      </p:sp>
      <p:sp>
        <p:nvSpPr>
          <p:cNvPr id="9" name="Text 6"/>
          <p:cNvSpPr txBox="1"/>
          <p:nvPr/>
        </p:nvSpPr>
        <p:spPr>
          <a:xfrm>
            <a:off x="8869680" y="2240280"/>
            <a:ext cx="2404872" cy="2834640"/>
          </a:xfrm>
          <a:prstGeom prst="rect">
            <a:avLst/>
          </a:prstGeom>
          <a:noFill/>
          <a:ln/>
        </p:spPr>
        <p:txBody>
          <a:bodyPr wrap="square" lIns="0" tIns="0" rIns="0" bIns="0" rtlCol="0" anchor="ctr"/>
          <a:lstStyle/>
          <a:p>
            <a:pPr indent="0" marL="0">
              <a:lnSpc>
                <a:spcPts val="1800"/>
              </a:lnSpc>
              <a:spcAft>
                <a:spcPts val="1000"/>
              </a:spcAft>
              <a:buNone/>
            </a:pPr>
            <a:r>
              <a:rPr lang="en-US" sz="1150" dirty="0">
                <a:solidFill>
                  <a:srgbClr val="1F2430"/>
                </a:solidFill>
                <a:latin typeface="Meiryo" pitchFamily="34" charset="0"/>
                <a:ea typeface="Meiryo" pitchFamily="34" charset="-122"/>
                <a:cs typeface="Meiryo" pitchFamily="34" charset="-120"/>
              </a:rPr>
              <a:t>GRE では TE にほぼ比例して直線的に増大する。</a:t>
            </a:r>
            <a:endParaRPr lang="en-US" sz="1150" dirty="0"/>
          </a:p>
          <a:p>
            <a:pPr indent="0" marL="0">
              <a:lnSpc>
                <a:spcPts val="1800"/>
              </a:lnSpc>
              <a:spcAft>
                <a:spcPts val="1000"/>
              </a:spcAft>
              <a:buNone/>
            </a:pPr>
            <a:r>
              <a:rPr lang="en-US" sz="1150" dirty="0">
                <a:solidFill>
                  <a:srgbClr val="1F2430"/>
                </a:solidFill>
                <a:latin typeface="Meiryo" pitchFamily="34" charset="0"/>
                <a:ea typeface="Meiryo" pitchFamily="34" charset="-122"/>
                <a:cs typeface="Meiryo" pitchFamily="34" charset="-120"/>
              </a:rPr>
              <a:t>SE 系は TE を延ばしてもほとんど増えない。</a:t>
            </a:r>
            <a:endParaRPr lang="en-US" sz="1150" dirty="0"/>
          </a:p>
          <a:p>
            <a:pPr indent="0" marL="0">
              <a:lnSpc>
                <a:spcPts val="1800"/>
              </a:lnSpc>
              <a:spcAft>
                <a:spcPts val="1000"/>
              </a:spcAft>
              <a:buNone/>
            </a:pPr>
            <a:r>
              <a:rPr lang="en-US" sz="1150" dirty="0">
                <a:solidFill>
                  <a:srgbClr val="1F2430"/>
                </a:solidFill>
                <a:latin typeface="Meiryo" pitchFamily="34" charset="0"/>
                <a:ea typeface="Meiryo" pitchFamily="34" charset="-122"/>
                <a:cs typeface="Meiryo" pitchFamily="34" charset="-120"/>
              </a:rPr>
              <a:t>→ 短 TE・SE 系・広バンド幅の選択で、実務的に低減できる余地がある。</a:t>
            </a:r>
            <a:endParaRPr lang="en-US" sz="1150" dirty="0"/>
          </a:p>
        </p:txBody>
      </p:sp>
      <p:sp>
        <p:nvSpPr>
          <p:cNvPr id="10" name="Shape 7"/>
          <p:cNvSpPr/>
          <p:nvPr/>
        </p:nvSpPr>
        <p:spPr>
          <a:xfrm>
            <a:off x="9674352" y="6327648"/>
            <a:ext cx="1417320" cy="274320"/>
          </a:xfrm>
          <a:prstGeom prst="roundRect">
            <a:avLst>
              <a:gd name="adj" fmla="val 46667"/>
            </a:avLst>
          </a:prstGeom>
          <a:solidFill>
            <a:srgbClr val="FDF3E3"/>
          </a:solidFill>
          <a:ln w="9525">
            <a:solidFill>
              <a:srgbClr val="C2700F"/>
            </a:solidFill>
            <a:prstDash val="solid"/>
          </a:ln>
        </p:spPr>
      </p:sp>
      <p:sp>
        <p:nvSpPr>
          <p:cNvPr id="11" name="Text 8"/>
          <p:cNvSpPr txBox="1"/>
          <p:nvPr/>
        </p:nvSpPr>
        <p:spPr>
          <a:xfrm>
            <a:off x="9674352" y="6327648"/>
            <a:ext cx="1417320" cy="274320"/>
          </a:xfrm>
          <a:prstGeom prst="rect">
            <a:avLst/>
          </a:prstGeom>
          <a:noFill/>
          <a:ln/>
        </p:spPr>
        <p:txBody>
          <a:bodyPr wrap="square" lIns="0" tIns="0" rIns="0" bIns="0" rtlCol="0" anchor="ctr"/>
          <a:lstStyle/>
          <a:p>
            <a:pPr algn="ctr" indent="0" marL="0">
              <a:buNone/>
            </a:pPr>
            <a:r>
              <a:rPr lang="en-US" sz="1000" b="1" dirty="0">
                <a:solidFill>
                  <a:srgbClr val="C2700F"/>
                </a:solidFill>
                <a:latin typeface="Meiryo" pitchFamily="34" charset="0"/>
                <a:ea typeface="Meiryo" pitchFamily="34" charset="-122"/>
                <a:cs typeface="Meiryo" pitchFamily="34" charset="-120"/>
              </a:rPr>
              <a:t>ダミー値</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40080" y="384048"/>
            <a:ext cx="9902952" cy="256032"/>
          </a:xfrm>
          <a:prstGeom prst="rect">
            <a:avLst/>
          </a:prstGeom>
          <a:noFill/>
          <a:ln/>
        </p:spPr>
        <p:txBody>
          <a:bodyPr wrap="square" lIns="0" tIns="0" rIns="0" bIns="0" rtlCol="0" anchor="ctr"/>
          <a:lstStyle/>
          <a:p>
            <a:pPr indent="0" marL="0">
              <a:buNone/>
            </a:pPr>
            <a:r>
              <a:rPr lang="en-US" sz="1200" b="1" spc="200" kern="0" dirty="0">
                <a:solidFill>
                  <a:srgbClr val="1B9AAA"/>
                </a:solidFill>
                <a:latin typeface="Meiryo" pitchFamily="34" charset="0"/>
                <a:ea typeface="Meiryo" pitchFamily="34" charset="-122"/>
                <a:cs typeface="Meiryo" pitchFamily="34" charset="-120"/>
              </a:rPr>
              <a:t>結果 ─ 核心</a:t>
            </a:r>
            <a:endParaRPr lang="en-US" sz="1200" dirty="0"/>
          </a:p>
        </p:txBody>
      </p:sp>
      <p:sp>
        <p:nvSpPr>
          <p:cNvPr id="3" name="Text 1"/>
          <p:cNvSpPr txBox="1"/>
          <p:nvPr/>
        </p:nvSpPr>
        <p:spPr>
          <a:xfrm>
            <a:off x="640080" y="658368"/>
            <a:ext cx="9902952" cy="731520"/>
          </a:xfrm>
          <a:prstGeom prst="rect">
            <a:avLst/>
          </a:prstGeom>
          <a:noFill/>
          <a:ln/>
        </p:spPr>
        <p:txBody>
          <a:bodyPr wrap="square" lIns="0" tIns="0" rIns="0" bIns="0" rtlCol="0" anchor="t"/>
          <a:lstStyle/>
          <a:p>
            <a:pPr indent="0" marL="0">
              <a:buNone/>
            </a:pPr>
            <a:r>
              <a:rPr lang="en-US" sz="3000" b="1" dirty="0">
                <a:solidFill>
                  <a:srgbClr val="0F1626"/>
                </a:solidFill>
                <a:latin typeface="Meiryo" pitchFamily="34" charset="0"/>
                <a:ea typeface="Meiryo" pitchFamily="34" charset="-122"/>
                <a:cs typeface="Meiryo" pitchFamily="34" charset="-120"/>
              </a:rPr>
              <a:t>結果④　5 cm を超えると、影響は検出限界以下になる</a:t>
            </a:r>
            <a:endParaRPr lang="en-US" sz="3000" dirty="0"/>
          </a:p>
        </p:txBody>
      </p:sp>
      <p:sp>
        <p:nvSpPr>
          <p:cNvPr id="4" name="Shape 2"/>
          <p:cNvSpPr/>
          <p:nvPr/>
        </p:nvSpPr>
        <p:spPr>
          <a:xfrm>
            <a:off x="11073384" y="457200"/>
            <a:ext cx="475488" cy="475488"/>
          </a:xfrm>
          <a:prstGeom prst="ellipse">
            <a:avLst/>
          </a:prstGeom>
          <a:solidFill>
            <a:srgbClr val="F2F4F8"/>
          </a:solidFill>
          <a:ln w="12700">
            <a:solidFill>
              <a:srgbClr val="FFFFFF"/>
            </a:solidFill>
            <a:prstDash val="solid"/>
          </a:ln>
        </p:spPr>
      </p:sp>
      <p:sp>
        <p:nvSpPr>
          <p:cNvPr id="5" name="Text 3"/>
          <p:cNvSpPr txBox="1"/>
          <p:nvPr/>
        </p:nvSpPr>
        <p:spPr>
          <a:xfrm>
            <a:off x="11073384" y="457200"/>
            <a:ext cx="475488" cy="475488"/>
          </a:xfrm>
          <a:prstGeom prst="rect">
            <a:avLst/>
          </a:prstGeom>
          <a:noFill/>
          <a:ln/>
        </p:spPr>
        <p:txBody>
          <a:bodyPr wrap="square" lIns="0" tIns="0" rIns="0" bIns="0" rtlCol="0" anchor="ctr"/>
          <a:lstStyle/>
          <a:p>
            <a:pPr algn="ctr" indent="0" marL="0">
              <a:buNone/>
            </a:pPr>
            <a:r>
              <a:rPr lang="en-US" sz="1300" b="1" dirty="0">
                <a:solidFill>
                  <a:srgbClr val="2E3A59"/>
                </a:solidFill>
                <a:latin typeface="Meiryo" pitchFamily="34" charset="0"/>
                <a:ea typeface="Meiryo" pitchFamily="34" charset="-122"/>
                <a:cs typeface="Meiryo" pitchFamily="34" charset="-120"/>
              </a:rPr>
              <a:t>13</a:t>
            </a:r>
            <a:endParaRPr lang="en-US" sz="1300" dirty="0"/>
          </a:p>
        </p:txBody>
      </p:sp>
      <p:graphicFrame>
        <p:nvGraphicFramePr>
          <p:cNvPr id="6" name="Chart 0" descr=""/>
          <p:cNvGraphicFramePr/>
          <p:nvPr/>
        </p:nvGraphicFramePr>
        <p:xfrm>
          <a:off x="640080" y="1600200"/>
          <a:ext cx="6949440" cy="37033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955280" y="1600200"/>
            <a:ext cx="3593592" cy="3703320"/>
          </a:xfrm>
          <a:prstGeom prst="roundRect">
            <a:avLst>
              <a:gd name="adj" fmla="val 1527"/>
            </a:avLst>
          </a:prstGeom>
          <a:solidFill>
            <a:srgbClr val="1C2437"/>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8" name="Text 5"/>
          <p:cNvSpPr txBox="1"/>
          <p:nvPr/>
        </p:nvSpPr>
        <p:spPr>
          <a:xfrm>
            <a:off x="8229600" y="1828800"/>
            <a:ext cx="3063240" cy="274320"/>
          </a:xfrm>
          <a:prstGeom prst="rect">
            <a:avLst/>
          </a:prstGeom>
          <a:noFill/>
          <a:ln/>
        </p:spPr>
        <p:txBody>
          <a:bodyPr wrap="square" lIns="0" tIns="0" rIns="0" bIns="0" rtlCol="0" anchor="ctr"/>
          <a:lstStyle/>
          <a:p>
            <a:pPr indent="0" marL="0">
              <a:buNone/>
            </a:pPr>
            <a:r>
              <a:rPr lang="en-US" sz="1300" b="1" dirty="0">
                <a:solidFill>
                  <a:srgbClr val="1B9AAA"/>
                </a:solidFill>
                <a:latin typeface="Meiryo" pitchFamily="34" charset="0"/>
                <a:ea typeface="Meiryo" pitchFamily="34" charset="-122"/>
                <a:cs typeface="Meiryo" pitchFamily="34" charset="-120"/>
              </a:rPr>
              <a:t>この研究が現場に返せる答え</a:t>
            </a:r>
            <a:endParaRPr lang="en-US" sz="1300" dirty="0"/>
          </a:p>
        </p:txBody>
      </p:sp>
      <p:sp>
        <p:nvSpPr>
          <p:cNvPr id="9" name="Text 6"/>
          <p:cNvSpPr txBox="1"/>
          <p:nvPr/>
        </p:nvSpPr>
        <p:spPr>
          <a:xfrm>
            <a:off x="8229600" y="2286000"/>
            <a:ext cx="3063240" cy="822960"/>
          </a:xfrm>
          <a:prstGeom prst="rect">
            <a:avLst/>
          </a:prstGeom>
          <a:noFill/>
          <a:ln/>
        </p:spPr>
        <p:txBody>
          <a:bodyPr wrap="square" lIns="0" tIns="0" rIns="0" bIns="0" rtlCol="0" anchor="ctr"/>
          <a:lstStyle/>
          <a:p>
            <a:pPr indent="0" marL="0">
              <a:lnSpc>
                <a:spcPts val="1900"/>
              </a:lnSpc>
              <a:buNone/>
            </a:pPr>
            <a:r>
              <a:rPr lang="en-US" sz="1400" b="1" dirty="0">
                <a:solidFill>
                  <a:srgbClr val="FFFFFF"/>
                </a:solidFill>
                <a:latin typeface="Meiryo" pitchFamily="34" charset="0"/>
                <a:ea typeface="Meiryo" pitchFamily="34" charset="-122"/>
                <a:cs typeface="Meiryo" pitchFamily="34" charset="-120"/>
              </a:rPr>
              <a:t>手指・手関節MRI</a:t>
            </a:r>
            <a:endParaRPr lang="en-US" sz="1400" dirty="0"/>
          </a:p>
          <a:p>
            <a:pPr indent="0" marL="0">
              <a:lnSpc>
                <a:spcPts val="1900"/>
              </a:lnSpc>
              <a:buNone/>
            </a:pPr>
            <a:r>
              <a:rPr lang="en-US" sz="1150" dirty="0">
                <a:solidFill>
                  <a:srgbClr val="C9D2E0"/>
                </a:solidFill>
                <a:latin typeface="Meiryo" pitchFamily="34" charset="0"/>
                <a:ea typeface="Meiryo" pitchFamily="34" charset="-122"/>
                <a:cs typeface="Meiryo" pitchFamily="34" charset="-120"/>
              </a:rPr>
              <a:t>撮影範囲に含まれるため、除去が必要。</a:t>
            </a:r>
            <a:endParaRPr lang="en-US" sz="1400" dirty="0"/>
          </a:p>
        </p:txBody>
      </p:sp>
      <p:sp>
        <p:nvSpPr>
          <p:cNvPr id="10" name="Text 7"/>
          <p:cNvSpPr txBox="1"/>
          <p:nvPr/>
        </p:nvSpPr>
        <p:spPr>
          <a:xfrm>
            <a:off x="8229600" y="3200400"/>
            <a:ext cx="3063240" cy="1097280"/>
          </a:xfrm>
          <a:prstGeom prst="rect">
            <a:avLst/>
          </a:prstGeom>
          <a:noFill/>
          <a:ln/>
        </p:spPr>
        <p:txBody>
          <a:bodyPr wrap="square" lIns="0" tIns="0" rIns="0" bIns="0" rtlCol="0" anchor="ctr"/>
          <a:lstStyle/>
          <a:p>
            <a:pPr indent="0" marL="0">
              <a:lnSpc>
                <a:spcPts val="1900"/>
              </a:lnSpc>
              <a:buNone/>
            </a:pPr>
            <a:r>
              <a:rPr lang="en-US" sz="1400" b="1" dirty="0">
                <a:solidFill>
                  <a:srgbClr val="FFFFFF"/>
                </a:solidFill>
                <a:latin typeface="Meiryo" pitchFamily="34" charset="0"/>
                <a:ea typeface="Meiryo" pitchFamily="34" charset="-122"/>
                <a:cs typeface="Meiryo" pitchFamily="34" charset="-120"/>
              </a:rPr>
              <a:t>頭部・体幹部MRI</a:t>
            </a:r>
            <a:endParaRPr lang="en-US" sz="1400" dirty="0"/>
          </a:p>
          <a:p>
            <a:pPr indent="0" marL="0">
              <a:lnSpc>
                <a:spcPts val="1900"/>
              </a:lnSpc>
              <a:buNone/>
            </a:pPr>
            <a:r>
              <a:rPr lang="en-US" sz="1150" dirty="0">
                <a:solidFill>
                  <a:srgbClr val="C9D2E0"/>
                </a:solidFill>
                <a:latin typeface="Meiryo" pitchFamily="34" charset="0"/>
                <a:ea typeface="Meiryo" pitchFamily="34" charset="-122"/>
                <a:cs typeface="Meiryo" pitchFamily="34" charset="-120"/>
              </a:rPr>
              <a:t>手は撮影範囲から十分離れており、画像への影響は検出されなかった。</a:t>
            </a:r>
            <a:endParaRPr lang="en-US" sz="1400" dirty="0"/>
          </a:p>
        </p:txBody>
      </p:sp>
      <p:sp>
        <p:nvSpPr>
          <p:cNvPr id="11" name="Text 8"/>
          <p:cNvSpPr txBox="1"/>
          <p:nvPr/>
        </p:nvSpPr>
        <p:spPr>
          <a:xfrm>
            <a:off x="8229600" y="4434840"/>
            <a:ext cx="3063240" cy="685800"/>
          </a:xfrm>
          <a:prstGeom prst="rect">
            <a:avLst/>
          </a:prstGeom>
          <a:noFill/>
          <a:ln/>
        </p:spPr>
        <p:txBody>
          <a:bodyPr wrap="square" lIns="0" tIns="0" rIns="0" bIns="0" rtlCol="0" anchor="ctr"/>
          <a:lstStyle/>
          <a:p>
            <a:pPr indent="0" marL="0">
              <a:lnSpc>
                <a:spcPts val="2000"/>
              </a:lnSpc>
              <a:buNone/>
            </a:pPr>
            <a:r>
              <a:rPr lang="en-US" sz="1300" b="1" dirty="0">
                <a:solidFill>
                  <a:srgbClr val="F0B860"/>
                </a:solidFill>
                <a:latin typeface="Meiryo" pitchFamily="34" charset="0"/>
                <a:ea typeface="Meiryo" pitchFamily="34" charset="-122"/>
                <a:cs typeface="Meiryo" pitchFamily="34" charset="-120"/>
              </a:rPr>
              <a:t>＝ 全例延期は、画像の観点からは過剰である</a:t>
            </a:r>
            <a:endParaRPr lang="en-US" sz="1300" dirty="0"/>
          </a:p>
        </p:txBody>
      </p:sp>
      <p:sp>
        <p:nvSpPr>
          <p:cNvPr id="12" name="Shape 9"/>
          <p:cNvSpPr/>
          <p:nvPr/>
        </p:nvSpPr>
        <p:spPr>
          <a:xfrm>
            <a:off x="9674352" y="6327648"/>
            <a:ext cx="1417320" cy="274320"/>
          </a:xfrm>
          <a:prstGeom prst="roundRect">
            <a:avLst>
              <a:gd name="adj" fmla="val 46667"/>
            </a:avLst>
          </a:prstGeom>
          <a:solidFill>
            <a:srgbClr val="FDF3E3"/>
          </a:solidFill>
          <a:ln w="9525">
            <a:solidFill>
              <a:srgbClr val="C2700F"/>
            </a:solidFill>
            <a:prstDash val="solid"/>
          </a:ln>
        </p:spPr>
      </p:sp>
      <p:sp>
        <p:nvSpPr>
          <p:cNvPr id="13" name="Text 10"/>
          <p:cNvSpPr txBox="1"/>
          <p:nvPr/>
        </p:nvSpPr>
        <p:spPr>
          <a:xfrm>
            <a:off x="9674352" y="6327648"/>
            <a:ext cx="1417320" cy="274320"/>
          </a:xfrm>
          <a:prstGeom prst="rect">
            <a:avLst/>
          </a:prstGeom>
          <a:noFill/>
          <a:ln/>
        </p:spPr>
        <p:txBody>
          <a:bodyPr wrap="square" lIns="0" tIns="0" rIns="0" bIns="0" rtlCol="0" anchor="ctr"/>
          <a:lstStyle/>
          <a:p>
            <a:pPr algn="ctr" indent="0" marL="0">
              <a:buNone/>
            </a:pPr>
            <a:r>
              <a:rPr lang="en-US" sz="1000" b="1" dirty="0">
                <a:solidFill>
                  <a:srgbClr val="C2700F"/>
                </a:solidFill>
                <a:latin typeface="Meiryo" pitchFamily="34" charset="0"/>
                <a:ea typeface="Meiryo" pitchFamily="34" charset="-122"/>
                <a:cs typeface="Meiryo" pitchFamily="34" charset="-120"/>
              </a:rPr>
              <a:t>ダミー値</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40080" y="384048"/>
            <a:ext cx="9902952" cy="256032"/>
          </a:xfrm>
          <a:prstGeom prst="rect">
            <a:avLst/>
          </a:prstGeom>
          <a:noFill/>
          <a:ln/>
        </p:spPr>
        <p:txBody>
          <a:bodyPr wrap="square" lIns="0" tIns="0" rIns="0" bIns="0" rtlCol="0" anchor="ctr"/>
          <a:lstStyle/>
          <a:p>
            <a:pPr indent="0" marL="0">
              <a:buNone/>
            </a:pPr>
            <a:r>
              <a:rPr lang="en-US" sz="1200" b="1" spc="200" kern="0" dirty="0">
                <a:solidFill>
                  <a:srgbClr val="1B9AAA"/>
                </a:solidFill>
                <a:latin typeface="Meiryo" pitchFamily="34" charset="0"/>
                <a:ea typeface="Meiryo" pitchFamily="34" charset="-122"/>
                <a:cs typeface="Meiryo" pitchFamily="34" charset="-120"/>
              </a:rPr>
              <a:t>結果</a:t>
            </a:r>
            <a:endParaRPr lang="en-US" sz="1200" dirty="0"/>
          </a:p>
        </p:txBody>
      </p:sp>
      <p:sp>
        <p:nvSpPr>
          <p:cNvPr id="3" name="Text 1"/>
          <p:cNvSpPr txBox="1"/>
          <p:nvPr/>
        </p:nvSpPr>
        <p:spPr>
          <a:xfrm>
            <a:off x="640080" y="658368"/>
            <a:ext cx="9902952" cy="731520"/>
          </a:xfrm>
          <a:prstGeom prst="rect">
            <a:avLst/>
          </a:prstGeom>
          <a:noFill/>
          <a:ln/>
        </p:spPr>
        <p:txBody>
          <a:bodyPr wrap="square" lIns="0" tIns="0" rIns="0" bIns="0" rtlCol="0" anchor="t"/>
          <a:lstStyle/>
          <a:p>
            <a:pPr indent="0" marL="0">
              <a:buNone/>
            </a:pPr>
            <a:r>
              <a:rPr lang="en-US" sz="3000" b="1" dirty="0">
                <a:solidFill>
                  <a:srgbClr val="0F1626"/>
                </a:solidFill>
                <a:latin typeface="Meiryo" pitchFamily="34" charset="0"/>
                <a:ea typeface="Meiryo" pitchFamily="34" charset="-122"/>
                <a:cs typeface="Meiryo" pitchFamily="34" charset="-120"/>
              </a:rPr>
              <a:t>結果⑤　配向の効果と、発熱</a:t>
            </a:r>
            <a:endParaRPr lang="en-US" sz="3000" dirty="0"/>
          </a:p>
        </p:txBody>
      </p:sp>
      <p:sp>
        <p:nvSpPr>
          <p:cNvPr id="4" name="Shape 2"/>
          <p:cNvSpPr/>
          <p:nvPr/>
        </p:nvSpPr>
        <p:spPr>
          <a:xfrm>
            <a:off x="11073384" y="457200"/>
            <a:ext cx="475488" cy="475488"/>
          </a:xfrm>
          <a:prstGeom prst="ellipse">
            <a:avLst/>
          </a:prstGeom>
          <a:solidFill>
            <a:srgbClr val="F2F4F8"/>
          </a:solidFill>
          <a:ln w="12700">
            <a:solidFill>
              <a:srgbClr val="FFFFFF"/>
            </a:solidFill>
            <a:prstDash val="solid"/>
          </a:ln>
        </p:spPr>
      </p:sp>
      <p:sp>
        <p:nvSpPr>
          <p:cNvPr id="5" name="Text 3"/>
          <p:cNvSpPr txBox="1"/>
          <p:nvPr/>
        </p:nvSpPr>
        <p:spPr>
          <a:xfrm>
            <a:off x="11073384" y="457200"/>
            <a:ext cx="475488" cy="475488"/>
          </a:xfrm>
          <a:prstGeom prst="rect">
            <a:avLst/>
          </a:prstGeom>
          <a:noFill/>
          <a:ln/>
        </p:spPr>
        <p:txBody>
          <a:bodyPr wrap="square" lIns="0" tIns="0" rIns="0" bIns="0" rtlCol="0" anchor="ctr"/>
          <a:lstStyle/>
          <a:p>
            <a:pPr algn="ctr" indent="0" marL="0">
              <a:buNone/>
            </a:pPr>
            <a:r>
              <a:rPr lang="en-US" sz="1300" b="1" dirty="0">
                <a:solidFill>
                  <a:srgbClr val="2E3A59"/>
                </a:solidFill>
                <a:latin typeface="Meiryo" pitchFamily="34" charset="0"/>
                <a:ea typeface="Meiryo" pitchFamily="34" charset="-122"/>
                <a:cs typeface="Meiryo" pitchFamily="34" charset="-120"/>
              </a:rPr>
              <a:t>14</a:t>
            </a:r>
            <a:endParaRPr lang="en-US" sz="1300" dirty="0"/>
          </a:p>
        </p:txBody>
      </p:sp>
      <p:sp>
        <p:nvSpPr>
          <p:cNvPr id="6" name="Shape 4"/>
          <p:cNvSpPr/>
          <p:nvPr/>
        </p:nvSpPr>
        <p:spPr>
          <a:xfrm>
            <a:off x="640080" y="1645920"/>
            <a:ext cx="5349240" cy="3749040"/>
          </a:xfrm>
          <a:prstGeom prst="roundRect">
            <a:avLst>
              <a:gd name="adj" fmla="val 1463"/>
            </a:avLst>
          </a:prstGeom>
          <a:solidFill>
            <a:srgbClr val="F2F4F8"/>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7" name="Text 5"/>
          <p:cNvSpPr txBox="1"/>
          <p:nvPr/>
        </p:nvSpPr>
        <p:spPr>
          <a:xfrm>
            <a:off x="1005840" y="1874520"/>
            <a:ext cx="4572000" cy="320040"/>
          </a:xfrm>
          <a:prstGeom prst="rect">
            <a:avLst/>
          </a:prstGeom>
          <a:noFill/>
          <a:ln/>
        </p:spPr>
        <p:txBody>
          <a:bodyPr wrap="square" lIns="0" tIns="0" rIns="0" bIns="0" rtlCol="0" anchor="ctr"/>
          <a:lstStyle/>
          <a:p>
            <a:pPr indent="0" marL="0">
              <a:buNone/>
            </a:pPr>
            <a:r>
              <a:rPr lang="en-US" sz="1600" b="1" dirty="0">
                <a:solidFill>
                  <a:srgbClr val="2E3A59"/>
                </a:solidFill>
                <a:latin typeface="Meiryo" pitchFamily="34" charset="0"/>
                <a:ea typeface="Meiryo" pitchFamily="34" charset="-122"/>
                <a:cs typeface="Meiryo" pitchFamily="34" charset="-120"/>
              </a:rPr>
              <a:t>配向異方性</a:t>
            </a:r>
            <a:endParaRPr lang="en-US" sz="1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1005840" y="2331720"/>
          <a:ext cx="4617720" cy="914400"/>
        </p:xfrm>
        <a:graphic>
          <a:graphicData uri="http://schemas.openxmlformats.org/drawingml/2006/table">
            <a:tbl>
              <a:tblPr/>
              <a:tblGrid>
                <a:gridCol w="1463040"/>
                <a:gridCol w="1554480"/>
                <a:gridCol w="1600200"/>
              </a:tblGrid>
              <a:tr h="384048">
                <a:tc>
                  <a:txBody>
                    <a:bodyPr/>
                    <a:lstStyle/>
                    <a:p>
                      <a:pPr algn="ctr" indent="0" marL="0">
                        <a:buNone/>
                      </a:pPr>
                      <a:r>
                        <a:rPr lang="en-US" sz="1150" b="1" dirty="0">
                          <a:solidFill>
                            <a:srgbClr val="FFFFFF"/>
                          </a:solidFill>
                          <a:latin typeface="Meiryo" pitchFamily="34" charset="0"/>
                          <a:ea typeface="Meiryo" pitchFamily="34" charset="-122"/>
                          <a:cs typeface="Meiryo" pitchFamily="34" charset="-120"/>
                        </a:rPr>
                        <a:t>配置角度</a:t>
                      </a:r>
                      <a:endParaRPr lang="en-US" sz="115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2E3A59"/>
                    </a:solidFill>
                  </a:tcPr>
                </a:tc>
                <a:tc>
                  <a:txBody>
                    <a:bodyPr/>
                    <a:lstStyle/>
                    <a:p>
                      <a:pPr algn="ctr" indent="0" marL="0">
                        <a:buNone/>
                      </a:pPr>
                      <a:r>
                        <a:rPr lang="en-US" sz="1150" b="1" dirty="0">
                          <a:solidFill>
                            <a:srgbClr val="FFFFFF"/>
                          </a:solidFill>
                          <a:latin typeface="Meiryo" pitchFamily="34" charset="0"/>
                          <a:ea typeface="Meiryo" pitchFamily="34" charset="-122"/>
                          <a:cs typeface="Meiryo" pitchFamily="34" charset="-120"/>
                        </a:rPr>
                        <a:t>偏向角</a:t>
                      </a:r>
                      <a:endParaRPr lang="en-US" sz="115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2E3A59"/>
                    </a:solidFill>
                  </a:tcPr>
                </a:tc>
                <a:tc>
                  <a:txBody>
                    <a:bodyPr/>
                    <a:lstStyle/>
                    <a:p>
                      <a:pPr algn="ctr" indent="0" marL="0">
                        <a:buNone/>
                      </a:pPr>
                      <a:r>
                        <a:rPr lang="en-US" sz="1150" b="1" dirty="0">
                          <a:solidFill>
                            <a:srgbClr val="FFFFFF"/>
                          </a:solidFill>
                          <a:latin typeface="Meiryo" pitchFamily="34" charset="0"/>
                          <a:ea typeface="Meiryo" pitchFamily="34" charset="-122"/>
                          <a:cs typeface="Meiryo" pitchFamily="34" charset="-120"/>
                        </a:rPr>
                        <a:t>消失面積</a:t>
                      </a:r>
                      <a:endParaRPr lang="en-US" sz="115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2E3A59"/>
                    </a:solidFill>
                  </a:tcPr>
                </a:tc>
              </a:tr>
              <a:tr h="384048">
                <a:tc>
                  <a:txBody>
                    <a:bodyPr/>
                    <a:lstStyle/>
                    <a:p>
                      <a:pPr algn="ctr" indent="0" marL="0">
                        <a:buNone/>
                      </a:pPr>
                      <a:r>
                        <a:rPr lang="en-US" sz="1150" dirty="0">
                          <a:solidFill>
                            <a:srgbClr val="1F2430"/>
                          </a:solidFill>
                          <a:latin typeface="Meiryo" pitchFamily="34" charset="0"/>
                          <a:ea typeface="Meiryo" pitchFamily="34" charset="-122"/>
                          <a:cs typeface="Meiryo" pitchFamily="34" charset="-120"/>
                        </a:rPr>
                        <a:t>0°</a:t>
                      </a:r>
                      <a:endParaRPr lang="en-US" sz="115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F2F4F8"/>
                    </a:solidFill>
                  </a:tcPr>
                </a:tc>
                <a:tc>
                  <a:txBody>
                    <a:bodyPr/>
                    <a:lstStyle/>
                    <a:p>
                      <a:pPr algn="ctr" indent="0" marL="0">
                        <a:buNone/>
                      </a:pPr>
                      <a:r>
                        <a:rPr lang="en-US" sz="1150" dirty="0">
                          <a:solidFill>
                            <a:srgbClr val="1F2430"/>
                          </a:solidFill>
                          <a:latin typeface="Meiryo" pitchFamily="34" charset="0"/>
                          <a:ea typeface="Meiryo" pitchFamily="34" charset="-122"/>
                          <a:cs typeface="Meiryo" pitchFamily="34" charset="-120"/>
                        </a:rPr>
                        <a:t>11.8°</a:t>
                      </a:r>
                      <a:endParaRPr lang="en-US" sz="115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F2F4F8"/>
                    </a:solidFill>
                  </a:tcPr>
                </a:tc>
                <a:tc>
                  <a:txBody>
                    <a:bodyPr/>
                    <a:lstStyle/>
                    <a:p>
                      <a:pPr algn="ctr" indent="0" marL="0">
                        <a:buNone/>
                      </a:pPr>
                      <a:r>
                        <a:rPr lang="en-US" sz="1150" dirty="0">
                          <a:solidFill>
                            <a:srgbClr val="1F2430"/>
                          </a:solidFill>
                          <a:latin typeface="Meiryo" pitchFamily="34" charset="0"/>
                          <a:ea typeface="Meiryo" pitchFamily="34" charset="-122"/>
                          <a:cs typeface="Meiryo" pitchFamily="34" charset="-120"/>
                        </a:rPr>
                        <a:t>158 mm²</a:t>
                      </a:r>
                      <a:endParaRPr lang="en-US" sz="115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F2F4F8"/>
                    </a:solidFill>
                  </a:tcPr>
                </a:tc>
              </a:tr>
              <a:tr h="384048">
                <a:tc>
                  <a:txBody>
                    <a:bodyPr/>
                    <a:lstStyle/>
                    <a:p>
                      <a:pPr algn="ctr" indent="0" marL="0">
                        <a:buNone/>
                      </a:pPr>
                      <a:r>
                        <a:rPr lang="en-US" sz="1150" dirty="0">
                          <a:solidFill>
                            <a:srgbClr val="1F2430"/>
                          </a:solidFill>
                          <a:latin typeface="Meiryo" pitchFamily="34" charset="0"/>
                          <a:ea typeface="Meiryo" pitchFamily="34" charset="-122"/>
                          <a:cs typeface="Meiryo" pitchFamily="34" charset="-120"/>
                        </a:rPr>
                        <a:t>45°</a:t>
                      </a:r>
                      <a:endParaRPr lang="en-US" sz="115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430"/>
                          </a:solidFill>
                          <a:latin typeface="Meiryo" pitchFamily="34" charset="0"/>
                          <a:ea typeface="Meiryo" pitchFamily="34" charset="-122"/>
                          <a:cs typeface="Meiryo" pitchFamily="34" charset="-120"/>
                        </a:rPr>
                        <a:t>11.2°</a:t>
                      </a:r>
                      <a:endParaRPr lang="en-US" sz="115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430"/>
                          </a:solidFill>
                          <a:latin typeface="Meiryo" pitchFamily="34" charset="0"/>
                          <a:ea typeface="Meiryo" pitchFamily="34" charset="-122"/>
                          <a:cs typeface="Meiryo" pitchFamily="34" charset="-120"/>
                        </a:rPr>
                        <a:t>149 mm²</a:t>
                      </a:r>
                      <a:endParaRPr lang="en-US" sz="115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FFFFFF"/>
                    </a:solidFill>
                  </a:tcPr>
                </a:tc>
              </a:tr>
              <a:tr h="384048">
                <a:tc>
                  <a:txBody>
                    <a:bodyPr/>
                    <a:lstStyle/>
                    <a:p>
                      <a:pPr algn="ctr" indent="0" marL="0">
                        <a:buNone/>
                      </a:pPr>
                      <a:r>
                        <a:rPr lang="en-US" sz="1150" dirty="0">
                          <a:solidFill>
                            <a:srgbClr val="1F2430"/>
                          </a:solidFill>
                          <a:latin typeface="Meiryo" pitchFamily="34" charset="0"/>
                          <a:ea typeface="Meiryo" pitchFamily="34" charset="-122"/>
                          <a:cs typeface="Meiryo" pitchFamily="34" charset="-120"/>
                        </a:rPr>
                        <a:t>90°</a:t>
                      </a:r>
                      <a:endParaRPr lang="en-US" sz="115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F2F4F8"/>
                    </a:solidFill>
                  </a:tcPr>
                </a:tc>
                <a:tc>
                  <a:txBody>
                    <a:bodyPr/>
                    <a:lstStyle/>
                    <a:p>
                      <a:pPr algn="ctr" indent="0" marL="0">
                        <a:buNone/>
                      </a:pPr>
                      <a:r>
                        <a:rPr lang="en-US" sz="1150" dirty="0">
                          <a:solidFill>
                            <a:srgbClr val="1F2430"/>
                          </a:solidFill>
                          <a:latin typeface="Meiryo" pitchFamily="34" charset="0"/>
                          <a:ea typeface="Meiryo" pitchFamily="34" charset="-122"/>
                          <a:cs typeface="Meiryo" pitchFamily="34" charset="-120"/>
                        </a:rPr>
                        <a:t>12.1°</a:t>
                      </a:r>
                      <a:endParaRPr lang="en-US" sz="115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F2F4F8"/>
                    </a:solidFill>
                  </a:tcPr>
                </a:tc>
                <a:tc>
                  <a:txBody>
                    <a:bodyPr/>
                    <a:lstStyle/>
                    <a:p>
                      <a:pPr algn="ctr" indent="0" marL="0">
                        <a:buNone/>
                      </a:pPr>
                      <a:r>
                        <a:rPr lang="en-US" sz="1150" dirty="0">
                          <a:solidFill>
                            <a:srgbClr val="1F2430"/>
                          </a:solidFill>
                          <a:latin typeface="Meiryo" pitchFamily="34" charset="0"/>
                          <a:ea typeface="Meiryo" pitchFamily="34" charset="-122"/>
                          <a:cs typeface="Meiryo" pitchFamily="34" charset="-120"/>
                        </a:rPr>
                        <a:t>163 mm²</a:t>
                      </a:r>
                      <a:endParaRPr lang="en-US" sz="115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F2F4F8"/>
                    </a:solidFill>
                  </a:tcPr>
                </a:tc>
              </a:tr>
            </a:tbl>
          </a:graphicData>
        </a:graphic>
      </p:graphicFrame>
      <p:sp>
        <p:nvSpPr>
          <p:cNvPr id="9" name="Text 6"/>
          <p:cNvSpPr txBox="1"/>
          <p:nvPr/>
        </p:nvSpPr>
        <p:spPr>
          <a:xfrm>
            <a:off x="1005840" y="4114800"/>
            <a:ext cx="4617720" cy="822960"/>
          </a:xfrm>
          <a:prstGeom prst="rect">
            <a:avLst/>
          </a:prstGeom>
          <a:noFill/>
          <a:ln/>
        </p:spPr>
        <p:txBody>
          <a:bodyPr wrap="square" lIns="0" tIns="0" rIns="0" bIns="0" rtlCol="0" anchor="ctr"/>
          <a:lstStyle/>
          <a:p>
            <a:pPr indent="0" marL="0">
              <a:lnSpc>
                <a:spcPts val="1900"/>
              </a:lnSpc>
              <a:buNone/>
            </a:pPr>
            <a:r>
              <a:rPr lang="en-US" sz="1200" dirty="0">
                <a:solidFill>
                  <a:srgbClr val="1F2430"/>
                </a:solidFill>
                <a:latin typeface="Meiryo" pitchFamily="34" charset="0"/>
                <a:ea typeface="Meiryo" pitchFamily="34" charset="-122"/>
                <a:cs typeface="Meiryo" pitchFamily="34" charset="-120"/>
              </a:rPr>
              <a:t>いずれも有意差なし（p = 0.41）。整列の向きは、MRIへの影響を変えないと考えられる。</a:t>
            </a:r>
            <a:endParaRPr lang="en-US" sz="1200" dirty="0"/>
          </a:p>
        </p:txBody>
      </p:sp>
      <p:sp>
        <p:nvSpPr>
          <p:cNvPr id="10" name="Shape 7"/>
          <p:cNvSpPr/>
          <p:nvPr/>
        </p:nvSpPr>
        <p:spPr>
          <a:xfrm>
            <a:off x="6263640" y="1645920"/>
            <a:ext cx="5349240" cy="3749040"/>
          </a:xfrm>
          <a:prstGeom prst="roundRect">
            <a:avLst>
              <a:gd name="adj" fmla="val 1463"/>
            </a:avLst>
          </a:prstGeom>
          <a:solidFill>
            <a:srgbClr val="F2F4F8"/>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11" name="Text 8"/>
          <p:cNvSpPr txBox="1"/>
          <p:nvPr/>
        </p:nvSpPr>
        <p:spPr>
          <a:xfrm>
            <a:off x="6629400" y="1874520"/>
            <a:ext cx="4572000" cy="320040"/>
          </a:xfrm>
          <a:prstGeom prst="rect">
            <a:avLst/>
          </a:prstGeom>
          <a:noFill/>
          <a:ln/>
        </p:spPr>
        <p:txBody>
          <a:bodyPr wrap="square" lIns="0" tIns="0" rIns="0" bIns="0" rtlCol="0" anchor="ctr"/>
          <a:lstStyle/>
          <a:p>
            <a:pPr indent="0" marL="0">
              <a:buNone/>
            </a:pPr>
            <a:r>
              <a:rPr lang="en-US" sz="1600" b="1" dirty="0">
                <a:solidFill>
                  <a:srgbClr val="2E3A59"/>
                </a:solidFill>
                <a:latin typeface="Meiryo" pitchFamily="34" charset="0"/>
                <a:ea typeface="Meiryo" pitchFamily="34" charset="-122"/>
                <a:cs typeface="Meiryo" pitchFamily="34" charset="-120"/>
              </a:rPr>
              <a:t>発熱（示温ラベル法）</a:t>
            </a:r>
            <a:endParaRPr lang="en-US" sz="1600" dirty="0"/>
          </a:p>
        </p:txBody>
      </p:sp>
      <p:sp>
        <p:nvSpPr>
          <p:cNvPr id="12" name="Text 9"/>
          <p:cNvSpPr txBox="1"/>
          <p:nvPr/>
        </p:nvSpPr>
        <p:spPr>
          <a:xfrm>
            <a:off x="6629400" y="2286000"/>
            <a:ext cx="2011680" cy="685800"/>
          </a:xfrm>
          <a:prstGeom prst="rect">
            <a:avLst/>
          </a:prstGeom>
          <a:noFill/>
          <a:ln/>
        </p:spPr>
        <p:txBody>
          <a:bodyPr wrap="square" lIns="0" tIns="0" rIns="0" bIns="0" rtlCol="0" anchor="ctr"/>
          <a:lstStyle/>
          <a:p>
            <a:pPr indent="0" marL="0">
              <a:buNone/>
            </a:pPr>
            <a:r>
              <a:rPr lang="en-US" sz="4200" b="1" dirty="0">
                <a:solidFill>
                  <a:srgbClr val="1B9AAA"/>
                </a:solidFill>
                <a:latin typeface="Meiryo" pitchFamily="34" charset="0"/>
                <a:ea typeface="Meiryo" pitchFamily="34" charset="-122"/>
                <a:cs typeface="Meiryo" pitchFamily="34" charset="-120"/>
              </a:rPr>
              <a:t>40℃</a:t>
            </a:r>
            <a:endParaRPr lang="en-US" sz="4200" dirty="0"/>
          </a:p>
        </p:txBody>
      </p:sp>
      <p:sp>
        <p:nvSpPr>
          <p:cNvPr id="13" name="Text 10"/>
          <p:cNvSpPr txBox="1"/>
          <p:nvPr/>
        </p:nvSpPr>
        <p:spPr>
          <a:xfrm>
            <a:off x="8641080" y="2377440"/>
            <a:ext cx="2651760" cy="731520"/>
          </a:xfrm>
          <a:prstGeom prst="rect">
            <a:avLst/>
          </a:prstGeom>
          <a:noFill/>
          <a:ln/>
        </p:spPr>
        <p:txBody>
          <a:bodyPr wrap="square" lIns="0" tIns="0" rIns="0" bIns="0" rtlCol="0" anchor="ctr"/>
          <a:lstStyle/>
          <a:p>
            <a:pPr indent="0" marL="0">
              <a:lnSpc>
                <a:spcPts val="1800"/>
              </a:lnSpc>
              <a:buNone/>
            </a:pPr>
            <a:r>
              <a:rPr lang="en-US" sz="1150" dirty="0">
                <a:solidFill>
                  <a:srgbClr val="1F2430"/>
                </a:solidFill>
                <a:latin typeface="Meiryo" pitchFamily="34" charset="0"/>
                <a:ea typeface="Meiryo" pitchFamily="34" charset="-122"/>
                <a:cs typeface="Meiryo" pitchFamily="34" charset="-120"/>
              </a:rPr>
              <a:t>段階のラベルも変色せず</a:t>
            </a:r>
            <a:endParaRPr lang="en-US" sz="1150" dirty="0"/>
          </a:p>
          <a:p>
            <a:pPr indent="0" marL="0">
              <a:lnSpc>
                <a:spcPts val="1800"/>
              </a:lnSpc>
              <a:buNone/>
            </a:pPr>
            <a:r>
              <a:rPr lang="en-US" sz="1150" dirty="0">
                <a:solidFill>
                  <a:srgbClr val="1F2430"/>
                </a:solidFill>
                <a:latin typeface="Meiryo" pitchFamily="34" charset="0"/>
                <a:ea typeface="Meiryo" pitchFamily="34" charset="-122"/>
                <a:cs typeface="Meiryo" pitchFamily="34" charset="-120"/>
              </a:rPr>
              <a:t>（3T・高SAR 30分連続・n = 10）</a:t>
            </a:r>
            <a:endParaRPr lang="en-US" sz="1150" dirty="0"/>
          </a:p>
        </p:txBody>
      </p:sp>
      <p:sp>
        <p:nvSpPr>
          <p:cNvPr id="14" name="Shape 11"/>
          <p:cNvSpPr/>
          <p:nvPr/>
        </p:nvSpPr>
        <p:spPr>
          <a:xfrm>
            <a:off x="6629400" y="3200400"/>
            <a:ext cx="4617720" cy="1965960"/>
          </a:xfrm>
          <a:prstGeom prst="roundRect">
            <a:avLst>
              <a:gd name="adj" fmla="val 2791"/>
            </a:avLst>
          </a:prstGeom>
          <a:solidFill>
            <a:srgbClr val="FDF3E3"/>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15" name="Text 12"/>
          <p:cNvSpPr txBox="1"/>
          <p:nvPr/>
        </p:nvSpPr>
        <p:spPr>
          <a:xfrm>
            <a:off x="6903720" y="3364992"/>
            <a:ext cx="4069080" cy="274320"/>
          </a:xfrm>
          <a:prstGeom prst="rect">
            <a:avLst/>
          </a:prstGeom>
          <a:noFill/>
          <a:ln/>
        </p:spPr>
        <p:txBody>
          <a:bodyPr wrap="square" lIns="0" tIns="0" rIns="0" bIns="0" rtlCol="0" anchor="ctr"/>
          <a:lstStyle/>
          <a:p>
            <a:pPr indent="0" marL="0">
              <a:buNone/>
            </a:pPr>
            <a:r>
              <a:rPr lang="en-US" sz="1250" b="1" dirty="0">
                <a:solidFill>
                  <a:srgbClr val="C2700F"/>
                </a:solidFill>
                <a:latin typeface="Meiryo" pitchFamily="34" charset="0"/>
                <a:ea typeface="Meiryo" pitchFamily="34" charset="-122"/>
                <a:cs typeface="Meiryo" pitchFamily="34" charset="-120"/>
              </a:rPr>
              <a:t>この結果の限界</a:t>
            </a:r>
            <a:endParaRPr lang="en-US" sz="1250" dirty="0"/>
          </a:p>
        </p:txBody>
      </p:sp>
      <p:sp>
        <p:nvSpPr>
          <p:cNvPr id="16" name="Text 13"/>
          <p:cNvSpPr txBox="1"/>
          <p:nvPr/>
        </p:nvSpPr>
        <p:spPr>
          <a:xfrm>
            <a:off x="6903720" y="3703320"/>
            <a:ext cx="4069080" cy="1325880"/>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100" dirty="0">
                <a:solidFill>
                  <a:srgbClr val="1F2430"/>
                </a:solidFill>
                <a:latin typeface="Meiryo" pitchFamily="34" charset="0"/>
                <a:ea typeface="Meiryo" pitchFamily="34" charset="-122"/>
                <a:cs typeface="Meiryo" pitchFamily="34" charset="-120"/>
              </a:rPr>
              <a:t>温度の時間変化は取れていない（最高到達温度のみ）</a:t>
            </a:r>
            <a:endParaRPr lang="en-US" sz="1100" dirty="0"/>
          </a:p>
          <a:p>
            <a:pPr marL="342900" indent="-342900">
              <a:lnSpc>
                <a:spcPts val="1600"/>
              </a:lnSpc>
              <a:spcAft>
                <a:spcPts val="600"/>
              </a:spcAft>
              <a:buSzPct val="100000"/>
              <a:buChar char="•"/>
            </a:pPr>
            <a:r>
              <a:rPr lang="en-US" sz="1100" dirty="0">
                <a:solidFill>
                  <a:srgbClr val="1F2430"/>
                </a:solidFill>
                <a:latin typeface="Meiryo" pitchFamily="34" charset="0"/>
                <a:ea typeface="Meiryo" pitchFamily="34" charset="-122"/>
                <a:cs typeface="Meiryo" pitchFamily="34" charset="-120"/>
              </a:rPr>
              <a:t>ファントムは血流による冷却を再現していない＝安全側の評価</a:t>
            </a:r>
            <a:endParaRPr lang="en-US" sz="1100" dirty="0"/>
          </a:p>
          <a:p>
            <a:pPr marL="342900" indent="-342900">
              <a:lnSpc>
                <a:spcPts val="1600"/>
              </a:lnSpc>
              <a:spcAft>
                <a:spcPts val="600"/>
              </a:spcAft>
              <a:buSzPct val="100000"/>
              <a:buChar char="•"/>
            </a:pPr>
            <a:r>
              <a:rPr lang="en-US" sz="1100" dirty="0">
                <a:solidFill>
                  <a:srgbClr val="1F2430"/>
                </a:solidFill>
                <a:latin typeface="Meiryo" pitchFamily="34" charset="0"/>
                <a:ea typeface="Meiryo" pitchFamily="34" charset="-122"/>
                <a:cs typeface="Meiryo" pitchFamily="34" charset="-120"/>
              </a:rPr>
              <a:t>ASTM F2182 準拠測定は今後の課題</a:t>
            </a:r>
            <a:endParaRPr lang="en-US" sz="1100" dirty="0"/>
          </a:p>
        </p:txBody>
      </p:sp>
      <p:sp>
        <p:nvSpPr>
          <p:cNvPr id="17" name="Shape 14"/>
          <p:cNvSpPr/>
          <p:nvPr/>
        </p:nvSpPr>
        <p:spPr>
          <a:xfrm>
            <a:off x="9674352" y="6327648"/>
            <a:ext cx="1417320" cy="274320"/>
          </a:xfrm>
          <a:prstGeom prst="roundRect">
            <a:avLst>
              <a:gd name="adj" fmla="val 46667"/>
            </a:avLst>
          </a:prstGeom>
          <a:solidFill>
            <a:srgbClr val="FDF3E3"/>
          </a:solidFill>
          <a:ln w="9525">
            <a:solidFill>
              <a:srgbClr val="C2700F"/>
            </a:solidFill>
            <a:prstDash val="solid"/>
          </a:ln>
        </p:spPr>
      </p:sp>
      <p:sp>
        <p:nvSpPr>
          <p:cNvPr id="18" name="Text 15"/>
          <p:cNvSpPr txBox="1"/>
          <p:nvPr/>
        </p:nvSpPr>
        <p:spPr>
          <a:xfrm>
            <a:off x="9674352" y="6327648"/>
            <a:ext cx="1417320" cy="274320"/>
          </a:xfrm>
          <a:prstGeom prst="rect">
            <a:avLst/>
          </a:prstGeom>
          <a:noFill/>
          <a:ln/>
        </p:spPr>
        <p:txBody>
          <a:bodyPr wrap="square" lIns="0" tIns="0" rIns="0" bIns="0" rtlCol="0" anchor="ctr"/>
          <a:lstStyle/>
          <a:p>
            <a:pPr algn="ctr" indent="0" marL="0">
              <a:buNone/>
            </a:pPr>
            <a:r>
              <a:rPr lang="en-US" sz="1000" b="1" dirty="0">
                <a:solidFill>
                  <a:srgbClr val="C2700F"/>
                </a:solidFill>
                <a:latin typeface="Meiryo" pitchFamily="34" charset="0"/>
                <a:ea typeface="Meiryo" pitchFamily="34" charset="-122"/>
                <a:cs typeface="Meiryo" pitchFamily="34" charset="-120"/>
              </a:rPr>
              <a:t>ダミー値</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40080" y="384048"/>
            <a:ext cx="9902952" cy="256032"/>
          </a:xfrm>
          <a:prstGeom prst="rect">
            <a:avLst/>
          </a:prstGeom>
          <a:noFill/>
          <a:ln/>
        </p:spPr>
        <p:txBody>
          <a:bodyPr wrap="square" lIns="0" tIns="0" rIns="0" bIns="0" rtlCol="0" anchor="ctr"/>
          <a:lstStyle/>
          <a:p>
            <a:pPr indent="0" marL="0">
              <a:buNone/>
            </a:pPr>
            <a:r>
              <a:rPr lang="en-US" sz="1200" b="1" spc="200" kern="0" dirty="0">
                <a:solidFill>
                  <a:srgbClr val="1B9AAA"/>
                </a:solidFill>
                <a:latin typeface="Meiryo" pitchFamily="34" charset="0"/>
                <a:ea typeface="Meiryo" pitchFamily="34" charset="-122"/>
                <a:cs typeface="Meiryo" pitchFamily="34" charset="-120"/>
              </a:rPr>
              <a:t>考察</a:t>
            </a:r>
            <a:endParaRPr lang="en-US" sz="1200" dirty="0"/>
          </a:p>
        </p:txBody>
      </p:sp>
      <p:sp>
        <p:nvSpPr>
          <p:cNvPr id="3" name="Text 1"/>
          <p:cNvSpPr txBox="1"/>
          <p:nvPr/>
        </p:nvSpPr>
        <p:spPr>
          <a:xfrm>
            <a:off x="640080" y="658368"/>
            <a:ext cx="9902952" cy="731520"/>
          </a:xfrm>
          <a:prstGeom prst="rect">
            <a:avLst/>
          </a:prstGeom>
          <a:noFill/>
          <a:ln/>
        </p:spPr>
        <p:txBody>
          <a:bodyPr wrap="square" lIns="0" tIns="0" rIns="0" bIns="0" rtlCol="0" anchor="t"/>
          <a:lstStyle/>
          <a:p>
            <a:pPr indent="0" marL="0">
              <a:buNone/>
            </a:pPr>
            <a:r>
              <a:rPr lang="en-US" sz="3000" b="1" dirty="0">
                <a:solidFill>
                  <a:srgbClr val="0F1626"/>
                </a:solidFill>
                <a:latin typeface="Meiryo" pitchFamily="34" charset="0"/>
                <a:ea typeface="Meiryo" pitchFamily="34" charset="-122"/>
                <a:cs typeface="Meiryo" pitchFamily="34" charset="-120"/>
              </a:rPr>
              <a:t>4経路のうち、実際に効いていたのはどれか</a:t>
            </a:r>
            <a:endParaRPr lang="en-US" sz="3000" dirty="0"/>
          </a:p>
        </p:txBody>
      </p:sp>
      <p:sp>
        <p:nvSpPr>
          <p:cNvPr id="4" name="Shape 2"/>
          <p:cNvSpPr/>
          <p:nvPr/>
        </p:nvSpPr>
        <p:spPr>
          <a:xfrm>
            <a:off x="11073384" y="457200"/>
            <a:ext cx="475488" cy="475488"/>
          </a:xfrm>
          <a:prstGeom prst="ellipse">
            <a:avLst/>
          </a:prstGeom>
          <a:solidFill>
            <a:srgbClr val="F2F4F8"/>
          </a:solidFill>
          <a:ln w="12700">
            <a:solidFill>
              <a:srgbClr val="FFFFFF"/>
            </a:solidFill>
            <a:prstDash val="solid"/>
          </a:ln>
        </p:spPr>
      </p:sp>
      <p:sp>
        <p:nvSpPr>
          <p:cNvPr id="5" name="Text 3"/>
          <p:cNvSpPr txBox="1"/>
          <p:nvPr/>
        </p:nvSpPr>
        <p:spPr>
          <a:xfrm>
            <a:off x="11073384" y="457200"/>
            <a:ext cx="475488" cy="475488"/>
          </a:xfrm>
          <a:prstGeom prst="rect">
            <a:avLst/>
          </a:prstGeom>
          <a:noFill/>
          <a:ln/>
        </p:spPr>
        <p:txBody>
          <a:bodyPr wrap="square" lIns="0" tIns="0" rIns="0" bIns="0" rtlCol="0" anchor="ctr"/>
          <a:lstStyle/>
          <a:p>
            <a:pPr algn="ctr" indent="0" marL="0">
              <a:buNone/>
            </a:pPr>
            <a:r>
              <a:rPr lang="en-US" sz="1300" b="1" dirty="0">
                <a:solidFill>
                  <a:srgbClr val="2E3A59"/>
                </a:solidFill>
                <a:latin typeface="Meiryo" pitchFamily="34" charset="0"/>
                <a:ea typeface="Meiryo" pitchFamily="34" charset="-122"/>
                <a:cs typeface="Meiryo" pitchFamily="34" charset="-120"/>
              </a:rPr>
              <a:t>15</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08792" cy="914400"/>
        </p:xfrm>
        <a:graphic>
          <a:graphicData uri="http://schemas.openxmlformats.org/drawingml/2006/table">
            <a:tbl>
              <a:tblPr/>
              <a:tblGrid>
                <a:gridCol w="3017520"/>
                <a:gridCol w="5669280"/>
                <a:gridCol w="2221992"/>
              </a:tblGrid>
              <a:tr h="566928">
                <a:tc>
                  <a:txBody>
                    <a:bodyPr/>
                    <a:lstStyle/>
                    <a:p>
                      <a:pPr indent="0" marL="0">
                        <a:buNone/>
                      </a:pPr>
                      <a:r>
                        <a:rPr lang="en-US" sz="1300" b="1" dirty="0">
                          <a:solidFill>
                            <a:srgbClr val="FFFFFF"/>
                          </a:solidFill>
                          <a:latin typeface="Meiryo" pitchFamily="34" charset="0"/>
                          <a:ea typeface="Meiryo" pitchFamily="34" charset="-122"/>
                          <a:cs typeface="Meiryo" pitchFamily="34" charset="-120"/>
                        </a:rPr>
                        <a:t>経路</a:t>
                      </a:r>
                      <a:endParaRPr lang="en-US" sz="130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0F1626"/>
                    </a:solidFill>
                  </a:tcPr>
                </a:tc>
                <a:tc>
                  <a:txBody>
                    <a:bodyPr/>
                    <a:lstStyle/>
                    <a:p>
                      <a:pPr indent="0" marL="0">
                        <a:buNone/>
                      </a:pPr>
                      <a:r>
                        <a:rPr lang="en-US" sz="1300" b="1" dirty="0">
                          <a:solidFill>
                            <a:srgbClr val="FFFFFF"/>
                          </a:solidFill>
                          <a:latin typeface="Meiryo" pitchFamily="34" charset="0"/>
                          <a:ea typeface="Meiryo" pitchFamily="34" charset="-122"/>
                          <a:cs typeface="Meiryo" pitchFamily="34" charset="-120"/>
                        </a:rPr>
                        <a:t>本研究で得られた所見</a:t>
                      </a:r>
                      <a:endParaRPr lang="en-US" sz="130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0F1626"/>
                    </a:solidFill>
                  </a:tcPr>
                </a:tc>
                <a:tc>
                  <a:txBody>
                    <a:bodyPr/>
                    <a:lstStyle/>
                    <a:p>
                      <a:pPr indent="0" marL="0">
                        <a:buNone/>
                      </a:pPr>
                      <a:r>
                        <a:rPr lang="en-US" sz="1300" b="1" dirty="0">
                          <a:solidFill>
                            <a:srgbClr val="FFFFFF"/>
                          </a:solidFill>
                          <a:latin typeface="Meiryo" pitchFamily="34" charset="0"/>
                          <a:ea typeface="Meiryo" pitchFamily="34" charset="-122"/>
                          <a:cs typeface="Meiryo" pitchFamily="34" charset="-120"/>
                        </a:rPr>
                        <a:t>評価</a:t>
                      </a:r>
                      <a:endParaRPr lang="en-US" sz="130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0F1626"/>
                    </a:solidFill>
                  </a:tcPr>
                </a:tc>
              </a:tr>
              <a:tr h="566928">
                <a:tc>
                  <a:txBody>
                    <a:bodyPr/>
                    <a:lstStyle/>
                    <a:p>
                      <a:pPr indent="0" marL="0">
                        <a:buNone/>
                      </a:pPr>
                      <a:r>
                        <a:rPr lang="en-US" sz="1300" b="1" dirty="0">
                          <a:solidFill>
                            <a:srgbClr val="1F2430"/>
                          </a:solidFill>
                          <a:latin typeface="Meiryo" pitchFamily="34" charset="0"/>
                          <a:ea typeface="Meiryo" pitchFamily="34" charset="-122"/>
                          <a:cs typeface="Meiryo" pitchFamily="34" charset="-120"/>
                        </a:rPr>
                        <a:t>① 吸引力・トルク</a:t>
                      </a:r>
                      <a:endParaRPr lang="en-US" sz="130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F2F4F8"/>
                    </a:solidFill>
                  </a:tcPr>
                </a:tc>
                <a:tc>
                  <a:txBody>
                    <a:bodyPr/>
                    <a:lstStyle/>
                    <a:p>
                      <a:pPr indent="0" marL="0">
                        <a:buNone/>
                      </a:pPr>
                      <a:r>
                        <a:rPr lang="en-US" sz="1300" dirty="0">
                          <a:solidFill>
                            <a:srgbClr val="1F2430"/>
                          </a:solidFill>
                          <a:latin typeface="Meiryo" pitchFamily="34" charset="0"/>
                          <a:ea typeface="Meiryo" pitchFamily="34" charset="-122"/>
                          <a:cs typeface="Meiryo" pitchFamily="34" charset="-120"/>
                        </a:rPr>
                        <a:t>最大 26.2°（規格基準 45° 未満）</a:t>
                      </a:r>
                      <a:endParaRPr lang="en-US" sz="130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F2F4F8"/>
                    </a:solidFill>
                  </a:tcPr>
                </a:tc>
                <a:tc>
                  <a:txBody>
                    <a:bodyPr/>
                    <a:lstStyle/>
                    <a:p>
                      <a:pPr algn="ctr" indent="0" marL="0">
                        <a:buNone/>
                      </a:pPr>
                      <a:r>
                        <a:rPr lang="en-US" sz="1300" b="1" dirty="0">
                          <a:solidFill>
                            <a:srgbClr val="1B9AAA"/>
                          </a:solidFill>
                          <a:latin typeface="Meiryo" pitchFamily="34" charset="0"/>
                          <a:ea typeface="Meiryo" pitchFamily="34" charset="-122"/>
                          <a:cs typeface="Meiryo" pitchFamily="34" charset="-120"/>
                        </a:rPr>
                        <a:t>低い</a:t>
                      </a:r>
                      <a:endParaRPr lang="en-US" sz="130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F2F4F8"/>
                    </a:solidFill>
                  </a:tcPr>
                </a:tc>
              </a:tr>
              <a:tr h="566928">
                <a:tc>
                  <a:txBody>
                    <a:bodyPr/>
                    <a:lstStyle/>
                    <a:p>
                      <a:pPr indent="0" marL="0">
                        <a:buNone/>
                      </a:pPr>
                      <a:r>
                        <a:rPr lang="en-US" sz="1300" b="1" dirty="0">
                          <a:solidFill>
                            <a:srgbClr val="1F2430"/>
                          </a:solidFill>
                          <a:latin typeface="Meiryo" pitchFamily="34" charset="0"/>
                          <a:ea typeface="Meiryo" pitchFamily="34" charset="-122"/>
                          <a:cs typeface="Meiryo" pitchFamily="34" charset="-120"/>
                        </a:rPr>
                        <a:t>② 画像アーチファクト</a:t>
                      </a:r>
                      <a:endParaRPr lang="en-US" sz="130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FFFFFF"/>
                    </a:solidFill>
                  </a:tcPr>
                </a:tc>
                <a:tc>
                  <a:txBody>
                    <a:bodyPr/>
                    <a:lstStyle/>
                    <a:p>
                      <a:pPr indent="0" marL="0">
                        <a:buNone/>
                      </a:pPr>
                      <a:r>
                        <a:rPr lang="en-US" sz="1300" dirty="0">
                          <a:solidFill>
                            <a:srgbClr val="1F2430"/>
                          </a:solidFill>
                          <a:latin typeface="Meiryo" pitchFamily="34" charset="0"/>
                          <a:ea typeface="Meiryo" pitchFamily="34" charset="-122"/>
                          <a:cs typeface="Meiryo" pitchFamily="34" charset="-120"/>
                        </a:rPr>
                        <a:t>距離 5 cm 以下でのみ顕著</a:t>
                      </a:r>
                      <a:endParaRPr lang="en-US" sz="130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B5326A"/>
                          </a:solidFill>
                          <a:latin typeface="Meiryo" pitchFamily="34" charset="0"/>
                          <a:ea typeface="Meiryo" pitchFamily="34" charset="-122"/>
                          <a:cs typeface="Meiryo" pitchFamily="34" charset="-120"/>
                        </a:rPr>
                        <a:t>部位依存</a:t>
                      </a:r>
                      <a:endParaRPr lang="en-US" sz="130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F2430"/>
                          </a:solidFill>
                          <a:latin typeface="Meiryo" pitchFamily="34" charset="0"/>
                          <a:ea typeface="Meiryo" pitchFamily="34" charset="-122"/>
                          <a:cs typeface="Meiryo" pitchFamily="34" charset="-120"/>
                        </a:rPr>
                        <a:t>③ RF発熱</a:t>
                      </a:r>
                      <a:endParaRPr lang="en-US" sz="130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F2F4F8"/>
                    </a:solidFill>
                  </a:tcPr>
                </a:tc>
                <a:tc>
                  <a:txBody>
                    <a:bodyPr/>
                    <a:lstStyle/>
                    <a:p>
                      <a:pPr indent="0" marL="0">
                        <a:buNone/>
                      </a:pPr>
                      <a:r>
                        <a:rPr lang="en-US" sz="1300" dirty="0">
                          <a:solidFill>
                            <a:srgbClr val="1F2430"/>
                          </a:solidFill>
                          <a:latin typeface="Meiryo" pitchFamily="34" charset="0"/>
                          <a:ea typeface="Meiryo" pitchFamily="34" charset="-122"/>
                          <a:cs typeface="Meiryo" pitchFamily="34" charset="-120"/>
                        </a:rPr>
                        <a:t>40℃ 到達を検出せず</a:t>
                      </a:r>
                      <a:endParaRPr lang="en-US" sz="130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F2F4F8"/>
                    </a:solidFill>
                  </a:tcPr>
                </a:tc>
                <a:tc>
                  <a:txBody>
                    <a:bodyPr/>
                    <a:lstStyle/>
                    <a:p>
                      <a:pPr algn="ctr" indent="0" marL="0">
                        <a:buNone/>
                      </a:pPr>
                      <a:r>
                        <a:rPr lang="en-US" sz="1300" b="1" dirty="0">
                          <a:solidFill>
                            <a:srgbClr val="1B9AAA"/>
                          </a:solidFill>
                          <a:latin typeface="Meiryo" pitchFamily="34" charset="0"/>
                          <a:ea typeface="Meiryo" pitchFamily="34" charset="-122"/>
                          <a:cs typeface="Meiryo" pitchFamily="34" charset="-120"/>
                        </a:rPr>
                        <a:t>検出されず</a:t>
                      </a:r>
                      <a:endParaRPr lang="en-US" sz="130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F2F4F8"/>
                    </a:solidFill>
                  </a:tcPr>
                </a:tc>
              </a:tr>
              <a:tr h="566928">
                <a:tc>
                  <a:txBody>
                    <a:bodyPr/>
                    <a:lstStyle/>
                    <a:p>
                      <a:pPr indent="0" marL="0">
                        <a:buNone/>
                      </a:pPr>
                      <a:r>
                        <a:rPr lang="en-US" sz="1300" b="1" dirty="0">
                          <a:solidFill>
                            <a:srgbClr val="1F2430"/>
                          </a:solidFill>
                          <a:latin typeface="Meiryo" pitchFamily="34" charset="0"/>
                          <a:ea typeface="Meiryo" pitchFamily="34" charset="-122"/>
                          <a:cs typeface="Meiryo" pitchFamily="34" charset="-120"/>
                        </a:rPr>
                        <a:t>④ モニタ干渉</a:t>
                      </a:r>
                      <a:endParaRPr lang="en-US" sz="130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FFFFFF"/>
                    </a:solidFill>
                  </a:tcPr>
                </a:tc>
                <a:tc>
                  <a:txBody>
                    <a:bodyPr/>
                    <a:lstStyle/>
                    <a:p>
                      <a:pPr indent="0" marL="0">
                        <a:buNone/>
                      </a:pPr>
                      <a:r>
                        <a:rPr lang="en-US" sz="1300" dirty="0">
                          <a:solidFill>
                            <a:srgbClr val="1F2430"/>
                          </a:solidFill>
                          <a:latin typeface="Meiryo" pitchFamily="34" charset="0"/>
                          <a:ea typeface="Meiryo" pitchFamily="34" charset="-122"/>
                          <a:cs typeface="Meiryo" pitchFamily="34" charset="-120"/>
                        </a:rPr>
                        <a:t>SpO₂ 測定値に影響（次頁）</a:t>
                      </a:r>
                      <a:endParaRPr lang="en-US" sz="130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C2700F"/>
                          </a:solidFill>
                          <a:latin typeface="Meiryo" pitchFamily="34" charset="0"/>
                          <a:ea typeface="Meiryo" pitchFamily="34" charset="-122"/>
                          <a:cs typeface="Meiryo" pitchFamily="34" charset="-120"/>
                        </a:rPr>
                        <a:t>要注意</a:t>
                      </a:r>
                      <a:endParaRPr lang="en-US" sz="1300" dirty="0">
                        <a:latin typeface="Meiryo" charset="0"/>
                        <a:ea typeface="Meiryo" charset="0"/>
                        <a:cs typeface="Meiryo" charset="0"/>
                      </a:endParaRPr>
                    </a:p>
                  </a:txBody>
                  <a:tcPr marL="91440" marR="91440" marT="45720" marB="4572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FFFFFF"/>
                    </a:solidFill>
                  </a:tcPr>
                </a:tc>
              </a:tr>
            </a:tbl>
          </a:graphicData>
        </a:graphic>
      </p:graphicFrame>
      <p:sp>
        <p:nvSpPr>
          <p:cNvPr id="7" name="Shape 4"/>
          <p:cNvSpPr/>
          <p:nvPr/>
        </p:nvSpPr>
        <p:spPr>
          <a:xfrm>
            <a:off x="640080" y="4572000"/>
            <a:ext cx="10908792" cy="1005840"/>
          </a:xfrm>
          <a:prstGeom prst="roundRect">
            <a:avLst>
              <a:gd name="adj" fmla="val 5455"/>
            </a:avLst>
          </a:prstGeom>
          <a:solidFill>
            <a:srgbClr val="FBF1F5"/>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8" name="Text 5"/>
          <p:cNvSpPr txBox="1"/>
          <p:nvPr/>
        </p:nvSpPr>
        <p:spPr>
          <a:xfrm>
            <a:off x="960120" y="4572000"/>
            <a:ext cx="10268712" cy="1005840"/>
          </a:xfrm>
          <a:prstGeom prst="rect">
            <a:avLst/>
          </a:prstGeom>
          <a:noFill/>
          <a:ln/>
        </p:spPr>
        <p:txBody>
          <a:bodyPr wrap="square" lIns="0" tIns="0" rIns="0" bIns="0" rtlCol="0" anchor="ctr"/>
          <a:lstStyle/>
          <a:p>
            <a:pPr indent="0" marL="0">
              <a:buNone/>
            </a:pPr>
            <a:r>
              <a:rPr lang="en-US" sz="1600" b="1" dirty="0">
                <a:solidFill>
                  <a:srgbClr val="B5326A"/>
                </a:solidFill>
                <a:latin typeface="Meiryo" pitchFamily="34" charset="0"/>
                <a:ea typeface="Meiryo" pitchFamily="34" charset="-122"/>
                <a:cs typeface="Meiryo" pitchFamily="34" charset="-120"/>
              </a:rPr>
              <a:t>リスクの実体は「剥離」でも「熱傷」でもなく、撮影範囲に入ったときの画像劣化だった</a:t>
            </a:r>
            <a:endParaRPr lang="en-US" sz="1600" dirty="0"/>
          </a:p>
        </p:txBody>
      </p:sp>
      <p:sp>
        <p:nvSpPr>
          <p:cNvPr id="9" name="Shape 6"/>
          <p:cNvSpPr/>
          <p:nvPr/>
        </p:nvSpPr>
        <p:spPr>
          <a:xfrm>
            <a:off x="9674352" y="6327648"/>
            <a:ext cx="1417320" cy="274320"/>
          </a:xfrm>
          <a:prstGeom prst="roundRect">
            <a:avLst>
              <a:gd name="adj" fmla="val 46667"/>
            </a:avLst>
          </a:prstGeom>
          <a:solidFill>
            <a:srgbClr val="FDF3E3"/>
          </a:solidFill>
          <a:ln w="9525">
            <a:solidFill>
              <a:srgbClr val="C2700F"/>
            </a:solidFill>
            <a:prstDash val="solid"/>
          </a:ln>
        </p:spPr>
      </p:sp>
      <p:sp>
        <p:nvSpPr>
          <p:cNvPr id="10" name="Text 7"/>
          <p:cNvSpPr txBox="1"/>
          <p:nvPr/>
        </p:nvSpPr>
        <p:spPr>
          <a:xfrm>
            <a:off x="9674352" y="6327648"/>
            <a:ext cx="1417320" cy="274320"/>
          </a:xfrm>
          <a:prstGeom prst="rect">
            <a:avLst/>
          </a:prstGeom>
          <a:noFill/>
          <a:ln/>
        </p:spPr>
        <p:txBody>
          <a:bodyPr wrap="square" lIns="0" tIns="0" rIns="0" bIns="0" rtlCol="0" anchor="ctr"/>
          <a:lstStyle/>
          <a:p>
            <a:pPr algn="ctr" indent="0" marL="0">
              <a:buNone/>
            </a:pPr>
            <a:r>
              <a:rPr lang="en-US" sz="1000" b="1" dirty="0">
                <a:solidFill>
                  <a:srgbClr val="C2700F"/>
                </a:solidFill>
                <a:latin typeface="Meiryo" pitchFamily="34" charset="0"/>
                <a:ea typeface="Meiryo" pitchFamily="34" charset="-122"/>
                <a:cs typeface="Meiryo" pitchFamily="34" charset="-120"/>
              </a:rPr>
              <a:t>ダミー値</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40080" y="384048"/>
            <a:ext cx="9902952" cy="256032"/>
          </a:xfrm>
          <a:prstGeom prst="rect">
            <a:avLst/>
          </a:prstGeom>
          <a:noFill/>
          <a:ln/>
        </p:spPr>
        <p:txBody>
          <a:bodyPr wrap="square" lIns="0" tIns="0" rIns="0" bIns="0" rtlCol="0" anchor="ctr"/>
          <a:lstStyle/>
          <a:p>
            <a:pPr indent="0" marL="0">
              <a:buNone/>
            </a:pPr>
            <a:r>
              <a:rPr lang="en-US" sz="1200" b="1" spc="200" kern="0" dirty="0">
                <a:solidFill>
                  <a:srgbClr val="1B9AAA"/>
                </a:solidFill>
                <a:latin typeface="Meiryo" pitchFamily="34" charset="0"/>
                <a:ea typeface="Meiryo" pitchFamily="34" charset="-122"/>
                <a:cs typeface="Meiryo" pitchFamily="34" charset="-120"/>
              </a:rPr>
              <a:t>限界</a:t>
            </a:r>
            <a:endParaRPr lang="en-US" sz="1200" dirty="0"/>
          </a:p>
        </p:txBody>
      </p:sp>
      <p:sp>
        <p:nvSpPr>
          <p:cNvPr id="3" name="Text 1"/>
          <p:cNvSpPr txBox="1"/>
          <p:nvPr/>
        </p:nvSpPr>
        <p:spPr>
          <a:xfrm>
            <a:off x="640080" y="658368"/>
            <a:ext cx="9902952" cy="731520"/>
          </a:xfrm>
          <a:prstGeom prst="rect">
            <a:avLst/>
          </a:prstGeom>
          <a:noFill/>
          <a:ln/>
        </p:spPr>
        <p:txBody>
          <a:bodyPr wrap="square" lIns="0" tIns="0" rIns="0" bIns="0" rtlCol="0" anchor="t"/>
          <a:lstStyle/>
          <a:p>
            <a:pPr indent="0" marL="0">
              <a:buNone/>
            </a:pPr>
            <a:r>
              <a:rPr lang="en-US" sz="3000" b="1" dirty="0">
                <a:solidFill>
                  <a:srgbClr val="0F1626"/>
                </a:solidFill>
                <a:latin typeface="Meiryo" pitchFamily="34" charset="0"/>
                <a:ea typeface="Meiryo" pitchFamily="34" charset="-122"/>
                <a:cs typeface="Meiryo" pitchFamily="34" charset="-120"/>
              </a:rPr>
              <a:t>本研究の限界</a:t>
            </a:r>
            <a:endParaRPr lang="en-US" sz="3000" dirty="0"/>
          </a:p>
        </p:txBody>
      </p:sp>
      <p:sp>
        <p:nvSpPr>
          <p:cNvPr id="4" name="Shape 2"/>
          <p:cNvSpPr/>
          <p:nvPr/>
        </p:nvSpPr>
        <p:spPr>
          <a:xfrm>
            <a:off x="11073384" y="457200"/>
            <a:ext cx="475488" cy="475488"/>
          </a:xfrm>
          <a:prstGeom prst="ellipse">
            <a:avLst/>
          </a:prstGeom>
          <a:solidFill>
            <a:srgbClr val="F2F4F8"/>
          </a:solidFill>
          <a:ln w="12700">
            <a:solidFill>
              <a:srgbClr val="FFFFFF"/>
            </a:solidFill>
            <a:prstDash val="solid"/>
          </a:ln>
        </p:spPr>
      </p:sp>
      <p:sp>
        <p:nvSpPr>
          <p:cNvPr id="5" name="Text 3"/>
          <p:cNvSpPr txBox="1"/>
          <p:nvPr/>
        </p:nvSpPr>
        <p:spPr>
          <a:xfrm>
            <a:off x="11073384" y="457200"/>
            <a:ext cx="475488" cy="475488"/>
          </a:xfrm>
          <a:prstGeom prst="rect">
            <a:avLst/>
          </a:prstGeom>
          <a:noFill/>
          <a:ln/>
        </p:spPr>
        <p:txBody>
          <a:bodyPr wrap="square" lIns="0" tIns="0" rIns="0" bIns="0" rtlCol="0" anchor="ctr"/>
          <a:lstStyle/>
          <a:p>
            <a:pPr algn="ctr" indent="0" marL="0">
              <a:buNone/>
            </a:pPr>
            <a:r>
              <a:rPr lang="en-US" sz="1300" b="1" dirty="0">
                <a:solidFill>
                  <a:srgbClr val="2E3A59"/>
                </a:solidFill>
                <a:latin typeface="Meiryo" pitchFamily="34" charset="0"/>
                <a:ea typeface="Meiryo" pitchFamily="34" charset="-122"/>
                <a:cs typeface="Meiryo" pitchFamily="34" charset="-120"/>
              </a:rPr>
              <a:t>16</a:t>
            </a:r>
            <a:endParaRPr lang="en-US" sz="1300" dirty="0"/>
          </a:p>
        </p:txBody>
      </p:sp>
      <p:sp>
        <p:nvSpPr>
          <p:cNvPr id="6" name="Shape 4"/>
          <p:cNvSpPr/>
          <p:nvPr/>
        </p:nvSpPr>
        <p:spPr>
          <a:xfrm>
            <a:off x="640080" y="1600200"/>
            <a:ext cx="10908792" cy="749808"/>
          </a:xfrm>
          <a:prstGeom prst="roundRect">
            <a:avLst>
              <a:gd name="adj" fmla="val 7317"/>
            </a:avLst>
          </a:prstGeom>
          <a:solidFill>
            <a:srgbClr val="F2F4F8"/>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7" name="Shape 5"/>
          <p:cNvSpPr/>
          <p:nvPr/>
        </p:nvSpPr>
        <p:spPr>
          <a:xfrm>
            <a:off x="868680" y="1746504"/>
            <a:ext cx="457200" cy="457200"/>
          </a:xfrm>
          <a:prstGeom prst="ellipse">
            <a:avLst/>
          </a:prstGeom>
          <a:solidFill>
            <a:srgbClr val="2E3A59"/>
          </a:solidFill>
          <a:ln w="12700">
            <a:solidFill>
              <a:srgbClr val="FFFFFF"/>
            </a:solidFill>
            <a:prstDash val="solid"/>
          </a:ln>
        </p:spPr>
      </p:sp>
      <p:sp>
        <p:nvSpPr>
          <p:cNvPr id="8" name="Text 6"/>
          <p:cNvSpPr txBox="1"/>
          <p:nvPr/>
        </p:nvSpPr>
        <p:spPr>
          <a:xfrm>
            <a:off x="868680" y="174650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1</a:t>
            </a:r>
            <a:endParaRPr lang="en-US" sz="1400" dirty="0"/>
          </a:p>
        </p:txBody>
      </p:sp>
      <p:sp>
        <p:nvSpPr>
          <p:cNvPr id="9" name="Text 7"/>
          <p:cNvSpPr txBox="1"/>
          <p:nvPr/>
        </p:nvSpPr>
        <p:spPr>
          <a:xfrm>
            <a:off x="1508760" y="1728216"/>
            <a:ext cx="3931920" cy="502920"/>
          </a:xfrm>
          <a:prstGeom prst="rect">
            <a:avLst/>
          </a:prstGeom>
          <a:noFill/>
          <a:ln/>
        </p:spPr>
        <p:txBody>
          <a:bodyPr wrap="square" lIns="0" tIns="0" rIns="0" bIns="0" rtlCol="0" anchor="ctr"/>
          <a:lstStyle/>
          <a:p>
            <a:pPr indent="0" marL="0">
              <a:buNone/>
            </a:pPr>
            <a:r>
              <a:rPr lang="en-US" sz="1350" b="1" dirty="0">
                <a:solidFill>
                  <a:srgbClr val="0F1626"/>
                </a:solidFill>
                <a:latin typeface="Meiryo" pitchFamily="34" charset="0"/>
                <a:ea typeface="Meiryo" pitchFamily="34" charset="-122"/>
                <a:cs typeface="Meiryo" pitchFamily="34" charset="-120"/>
              </a:rPr>
              <a:t>ファントムであり、生体ではない</a:t>
            </a:r>
            <a:endParaRPr lang="en-US" sz="1350" dirty="0"/>
          </a:p>
        </p:txBody>
      </p:sp>
      <p:sp>
        <p:nvSpPr>
          <p:cNvPr id="10" name="Text 8"/>
          <p:cNvSpPr txBox="1"/>
          <p:nvPr/>
        </p:nvSpPr>
        <p:spPr>
          <a:xfrm>
            <a:off x="5577840" y="1728216"/>
            <a:ext cx="5760720" cy="502920"/>
          </a:xfrm>
          <a:prstGeom prst="rect">
            <a:avLst/>
          </a:prstGeom>
          <a:noFill/>
          <a:ln/>
        </p:spPr>
        <p:txBody>
          <a:bodyPr wrap="square" lIns="0" tIns="0" rIns="0" bIns="0" rtlCol="0" anchor="ctr"/>
          <a:lstStyle/>
          <a:p>
            <a:pPr indent="0" marL="0">
              <a:lnSpc>
                <a:spcPts val="1600"/>
              </a:lnSpc>
              <a:buNone/>
            </a:pPr>
            <a:r>
              <a:rPr lang="en-US" sz="1150" dirty="0">
                <a:solidFill>
                  <a:srgbClr val="1F2430"/>
                </a:solidFill>
                <a:latin typeface="Meiryo" pitchFamily="34" charset="0"/>
                <a:ea typeface="Meiryo" pitchFamily="34" charset="-122"/>
                <a:cs typeface="Meiryo" pitchFamily="34" charset="-120"/>
              </a:rPr>
              <a:t>血流による冷却、組織の磁化率、実際の指の位置は再現していない</a:t>
            </a:r>
            <a:endParaRPr lang="en-US" sz="1150" dirty="0"/>
          </a:p>
        </p:txBody>
      </p:sp>
      <p:sp>
        <p:nvSpPr>
          <p:cNvPr id="11" name="Shape 9"/>
          <p:cNvSpPr/>
          <p:nvPr/>
        </p:nvSpPr>
        <p:spPr>
          <a:xfrm>
            <a:off x="640080" y="2459736"/>
            <a:ext cx="10908792" cy="749808"/>
          </a:xfrm>
          <a:prstGeom prst="roundRect">
            <a:avLst>
              <a:gd name="adj" fmla="val 7317"/>
            </a:avLst>
          </a:prstGeom>
          <a:solidFill>
            <a:srgbClr val="F2F4F8"/>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12" name="Shape 10"/>
          <p:cNvSpPr/>
          <p:nvPr/>
        </p:nvSpPr>
        <p:spPr>
          <a:xfrm>
            <a:off x="868680" y="2606040"/>
            <a:ext cx="457200" cy="457200"/>
          </a:xfrm>
          <a:prstGeom prst="ellipse">
            <a:avLst/>
          </a:prstGeom>
          <a:solidFill>
            <a:srgbClr val="2E3A59"/>
          </a:solidFill>
          <a:ln w="12700">
            <a:solidFill>
              <a:srgbClr val="FFFFFF"/>
            </a:solidFill>
            <a:prstDash val="solid"/>
          </a:ln>
        </p:spPr>
      </p:sp>
      <p:sp>
        <p:nvSpPr>
          <p:cNvPr id="13" name="Text 11"/>
          <p:cNvSpPr txBox="1"/>
          <p:nvPr/>
        </p:nvSpPr>
        <p:spPr>
          <a:xfrm>
            <a:off x="868680" y="26060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2</a:t>
            </a:r>
            <a:endParaRPr lang="en-US" sz="1400" dirty="0"/>
          </a:p>
        </p:txBody>
      </p:sp>
      <p:sp>
        <p:nvSpPr>
          <p:cNvPr id="14" name="Text 12"/>
          <p:cNvSpPr txBox="1"/>
          <p:nvPr/>
        </p:nvSpPr>
        <p:spPr>
          <a:xfrm>
            <a:off x="1508760" y="2587752"/>
            <a:ext cx="3931920" cy="502920"/>
          </a:xfrm>
          <a:prstGeom prst="rect">
            <a:avLst/>
          </a:prstGeom>
          <a:noFill/>
          <a:ln/>
        </p:spPr>
        <p:txBody>
          <a:bodyPr wrap="square" lIns="0" tIns="0" rIns="0" bIns="0" rtlCol="0" anchor="ctr"/>
          <a:lstStyle/>
          <a:p>
            <a:pPr indent="0" marL="0">
              <a:buNone/>
            </a:pPr>
            <a:r>
              <a:rPr lang="en-US" sz="1350" b="1" dirty="0">
                <a:solidFill>
                  <a:srgbClr val="0F1626"/>
                </a:solidFill>
                <a:latin typeface="Meiryo" pitchFamily="34" charset="0"/>
                <a:ea typeface="Meiryo" pitchFamily="34" charset="-122"/>
                <a:cs typeface="Meiryo" pitchFamily="34" charset="-120"/>
              </a:rPr>
              <a:t>温度測定が最高到達温度のみ</a:t>
            </a:r>
            <a:endParaRPr lang="en-US" sz="1350" dirty="0"/>
          </a:p>
        </p:txBody>
      </p:sp>
      <p:sp>
        <p:nvSpPr>
          <p:cNvPr id="15" name="Text 13"/>
          <p:cNvSpPr txBox="1"/>
          <p:nvPr/>
        </p:nvSpPr>
        <p:spPr>
          <a:xfrm>
            <a:off x="5577840" y="2587752"/>
            <a:ext cx="5760720" cy="502920"/>
          </a:xfrm>
          <a:prstGeom prst="rect">
            <a:avLst/>
          </a:prstGeom>
          <a:noFill/>
          <a:ln/>
        </p:spPr>
        <p:txBody>
          <a:bodyPr wrap="square" lIns="0" tIns="0" rIns="0" bIns="0" rtlCol="0" anchor="ctr"/>
          <a:lstStyle/>
          <a:p>
            <a:pPr indent="0" marL="0">
              <a:lnSpc>
                <a:spcPts val="1600"/>
              </a:lnSpc>
              <a:buNone/>
            </a:pPr>
            <a:r>
              <a:rPr lang="en-US" sz="1150" dirty="0">
                <a:solidFill>
                  <a:srgbClr val="1F2430"/>
                </a:solidFill>
                <a:latin typeface="Meiryo" pitchFamily="34" charset="0"/>
                <a:ea typeface="Meiryo" pitchFamily="34" charset="-122"/>
                <a:cs typeface="Meiryo" pitchFamily="34" charset="-120"/>
              </a:rPr>
              <a:t>光ファイバー温度計が使用できず、ASTM F2182 準拠測定に至っていない</a:t>
            </a:r>
            <a:endParaRPr lang="en-US" sz="1150" dirty="0"/>
          </a:p>
        </p:txBody>
      </p:sp>
      <p:sp>
        <p:nvSpPr>
          <p:cNvPr id="16" name="Shape 14"/>
          <p:cNvSpPr/>
          <p:nvPr/>
        </p:nvSpPr>
        <p:spPr>
          <a:xfrm>
            <a:off x="640080" y="3319272"/>
            <a:ext cx="10908792" cy="749808"/>
          </a:xfrm>
          <a:prstGeom prst="roundRect">
            <a:avLst>
              <a:gd name="adj" fmla="val 7317"/>
            </a:avLst>
          </a:prstGeom>
          <a:solidFill>
            <a:srgbClr val="F2F4F8"/>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17" name="Shape 15"/>
          <p:cNvSpPr/>
          <p:nvPr/>
        </p:nvSpPr>
        <p:spPr>
          <a:xfrm>
            <a:off x="868680" y="3465576"/>
            <a:ext cx="457200" cy="457200"/>
          </a:xfrm>
          <a:prstGeom prst="ellipse">
            <a:avLst/>
          </a:prstGeom>
          <a:solidFill>
            <a:srgbClr val="2E3A59"/>
          </a:solidFill>
          <a:ln w="12700">
            <a:solidFill>
              <a:srgbClr val="FFFFFF"/>
            </a:solidFill>
            <a:prstDash val="solid"/>
          </a:ln>
        </p:spPr>
      </p:sp>
      <p:sp>
        <p:nvSpPr>
          <p:cNvPr id="18" name="Text 16"/>
          <p:cNvSpPr txBox="1"/>
          <p:nvPr/>
        </p:nvSpPr>
        <p:spPr>
          <a:xfrm>
            <a:off x="868680" y="346557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3</a:t>
            </a:r>
            <a:endParaRPr lang="en-US" sz="1400" dirty="0"/>
          </a:p>
        </p:txBody>
      </p:sp>
      <p:sp>
        <p:nvSpPr>
          <p:cNvPr id="19" name="Text 17"/>
          <p:cNvSpPr txBox="1"/>
          <p:nvPr/>
        </p:nvSpPr>
        <p:spPr>
          <a:xfrm>
            <a:off x="1508760" y="3447288"/>
            <a:ext cx="3931920" cy="502920"/>
          </a:xfrm>
          <a:prstGeom prst="rect">
            <a:avLst/>
          </a:prstGeom>
          <a:noFill/>
          <a:ln/>
        </p:spPr>
        <p:txBody>
          <a:bodyPr wrap="square" lIns="0" tIns="0" rIns="0" bIns="0" rtlCol="0" anchor="ctr"/>
          <a:lstStyle/>
          <a:p>
            <a:pPr indent="0" marL="0">
              <a:buNone/>
            </a:pPr>
            <a:r>
              <a:rPr lang="en-US" sz="1350" b="1" dirty="0">
                <a:solidFill>
                  <a:srgbClr val="0F1626"/>
                </a:solidFill>
                <a:latin typeface="Meiryo" pitchFamily="34" charset="0"/>
                <a:ea typeface="Meiryo" pitchFamily="34" charset="-122"/>
                <a:cs typeface="Meiryo" pitchFamily="34" charset="-120"/>
              </a:rPr>
              <a:t>供試製品が限られる</a:t>
            </a:r>
            <a:endParaRPr lang="en-US" sz="1350" dirty="0"/>
          </a:p>
        </p:txBody>
      </p:sp>
      <p:sp>
        <p:nvSpPr>
          <p:cNvPr id="20" name="Text 18"/>
          <p:cNvSpPr txBox="1"/>
          <p:nvPr/>
        </p:nvSpPr>
        <p:spPr>
          <a:xfrm>
            <a:off x="5577840" y="3447288"/>
            <a:ext cx="5760720" cy="502920"/>
          </a:xfrm>
          <a:prstGeom prst="rect">
            <a:avLst/>
          </a:prstGeom>
          <a:noFill/>
          <a:ln/>
        </p:spPr>
        <p:txBody>
          <a:bodyPr wrap="square" lIns="0" tIns="0" rIns="0" bIns="0" rtlCol="0" anchor="ctr"/>
          <a:lstStyle/>
          <a:p>
            <a:pPr indent="0" marL="0">
              <a:lnSpc>
                <a:spcPts val="1600"/>
              </a:lnSpc>
              <a:buNone/>
            </a:pPr>
            <a:r>
              <a:rPr lang="en-US" sz="1150" dirty="0">
                <a:solidFill>
                  <a:srgbClr val="1F2430"/>
                </a:solidFill>
                <a:latin typeface="Meiryo" pitchFamily="34" charset="0"/>
                <a:ea typeface="Meiryo" pitchFamily="34" charset="-122"/>
                <a:cs typeface="Meiryo" pitchFamily="34" charset="-120"/>
              </a:rPr>
              <a:t>市場に流通する全製品を網羅してはいない。磁性粉量の実測も行っていない</a:t>
            </a:r>
            <a:endParaRPr lang="en-US" sz="1150" dirty="0"/>
          </a:p>
        </p:txBody>
      </p:sp>
      <p:sp>
        <p:nvSpPr>
          <p:cNvPr id="21" name="Shape 19"/>
          <p:cNvSpPr/>
          <p:nvPr/>
        </p:nvSpPr>
        <p:spPr>
          <a:xfrm>
            <a:off x="640080" y="4178808"/>
            <a:ext cx="10908792" cy="749808"/>
          </a:xfrm>
          <a:prstGeom prst="roundRect">
            <a:avLst>
              <a:gd name="adj" fmla="val 7317"/>
            </a:avLst>
          </a:prstGeom>
          <a:solidFill>
            <a:srgbClr val="F2F4F8"/>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22" name="Shape 20"/>
          <p:cNvSpPr/>
          <p:nvPr/>
        </p:nvSpPr>
        <p:spPr>
          <a:xfrm>
            <a:off x="868680" y="4325112"/>
            <a:ext cx="457200" cy="457200"/>
          </a:xfrm>
          <a:prstGeom prst="ellipse">
            <a:avLst/>
          </a:prstGeom>
          <a:solidFill>
            <a:srgbClr val="2E3A59"/>
          </a:solidFill>
          <a:ln w="12700">
            <a:solidFill>
              <a:srgbClr val="FFFFFF"/>
            </a:solidFill>
            <a:prstDash val="solid"/>
          </a:ln>
        </p:spPr>
      </p:sp>
      <p:sp>
        <p:nvSpPr>
          <p:cNvPr id="23" name="Text 21"/>
          <p:cNvSpPr txBox="1"/>
          <p:nvPr/>
        </p:nvSpPr>
        <p:spPr>
          <a:xfrm>
            <a:off x="868680" y="432511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4</a:t>
            </a:r>
            <a:endParaRPr lang="en-US" sz="1400" dirty="0"/>
          </a:p>
        </p:txBody>
      </p:sp>
      <p:sp>
        <p:nvSpPr>
          <p:cNvPr id="24" name="Text 22"/>
          <p:cNvSpPr txBox="1"/>
          <p:nvPr/>
        </p:nvSpPr>
        <p:spPr>
          <a:xfrm>
            <a:off x="1508760" y="4306824"/>
            <a:ext cx="3931920" cy="502920"/>
          </a:xfrm>
          <a:prstGeom prst="rect">
            <a:avLst/>
          </a:prstGeom>
          <a:noFill/>
          <a:ln/>
        </p:spPr>
        <p:txBody>
          <a:bodyPr wrap="square" lIns="0" tIns="0" rIns="0" bIns="0" rtlCol="0" anchor="ctr"/>
          <a:lstStyle/>
          <a:p>
            <a:pPr indent="0" marL="0">
              <a:buNone/>
            </a:pPr>
            <a:r>
              <a:rPr lang="en-US" sz="1350" b="1" dirty="0">
                <a:solidFill>
                  <a:srgbClr val="0F1626"/>
                </a:solidFill>
                <a:latin typeface="Meiryo" pitchFamily="34" charset="0"/>
                <a:ea typeface="Meiryo" pitchFamily="34" charset="-122"/>
                <a:cs typeface="Meiryo" pitchFamily="34" charset="-120"/>
              </a:rPr>
              <a:t>装置は2台のみ</a:t>
            </a:r>
            <a:endParaRPr lang="en-US" sz="1350" dirty="0"/>
          </a:p>
        </p:txBody>
      </p:sp>
      <p:sp>
        <p:nvSpPr>
          <p:cNvPr id="25" name="Text 23"/>
          <p:cNvSpPr txBox="1"/>
          <p:nvPr/>
        </p:nvSpPr>
        <p:spPr>
          <a:xfrm>
            <a:off x="5577840" y="4306824"/>
            <a:ext cx="5760720" cy="502920"/>
          </a:xfrm>
          <a:prstGeom prst="rect">
            <a:avLst/>
          </a:prstGeom>
          <a:noFill/>
          <a:ln/>
        </p:spPr>
        <p:txBody>
          <a:bodyPr wrap="square" lIns="0" tIns="0" rIns="0" bIns="0" rtlCol="0" anchor="ctr"/>
          <a:lstStyle/>
          <a:p>
            <a:pPr indent="0" marL="0">
              <a:lnSpc>
                <a:spcPts val="1600"/>
              </a:lnSpc>
              <a:buNone/>
            </a:pPr>
            <a:r>
              <a:rPr lang="en-US" sz="1150" dirty="0">
                <a:solidFill>
                  <a:srgbClr val="1F2430"/>
                </a:solidFill>
                <a:latin typeface="Meiryo" pitchFamily="34" charset="0"/>
                <a:ea typeface="Meiryo" pitchFamily="34" charset="-122"/>
                <a:cs typeface="Meiryo" pitchFamily="34" charset="-120"/>
              </a:rPr>
              <a:t>メーカー・機種による空間磁場勾配の違いは検討できていない</a:t>
            </a:r>
            <a:endParaRPr lang="en-US" sz="1150" dirty="0"/>
          </a:p>
        </p:txBody>
      </p:sp>
      <p:sp>
        <p:nvSpPr>
          <p:cNvPr id="26" name="Shape 24"/>
          <p:cNvSpPr/>
          <p:nvPr/>
        </p:nvSpPr>
        <p:spPr>
          <a:xfrm>
            <a:off x="640080" y="5038344"/>
            <a:ext cx="10908792" cy="749808"/>
          </a:xfrm>
          <a:prstGeom prst="roundRect">
            <a:avLst>
              <a:gd name="adj" fmla="val 7317"/>
            </a:avLst>
          </a:prstGeom>
          <a:solidFill>
            <a:srgbClr val="F2F4F8"/>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27" name="Shape 25"/>
          <p:cNvSpPr/>
          <p:nvPr/>
        </p:nvSpPr>
        <p:spPr>
          <a:xfrm>
            <a:off x="868680" y="5184648"/>
            <a:ext cx="457200" cy="457200"/>
          </a:xfrm>
          <a:prstGeom prst="ellipse">
            <a:avLst/>
          </a:prstGeom>
          <a:solidFill>
            <a:srgbClr val="2E3A59"/>
          </a:solidFill>
          <a:ln w="12700">
            <a:solidFill>
              <a:srgbClr val="FFFFFF"/>
            </a:solidFill>
            <a:prstDash val="solid"/>
          </a:ln>
        </p:spPr>
      </p:sp>
      <p:sp>
        <p:nvSpPr>
          <p:cNvPr id="28" name="Text 26"/>
          <p:cNvSpPr txBox="1"/>
          <p:nvPr/>
        </p:nvSpPr>
        <p:spPr>
          <a:xfrm>
            <a:off x="868680" y="518464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5</a:t>
            </a:r>
            <a:endParaRPr lang="en-US" sz="1400" dirty="0"/>
          </a:p>
        </p:txBody>
      </p:sp>
      <p:sp>
        <p:nvSpPr>
          <p:cNvPr id="29" name="Text 27"/>
          <p:cNvSpPr txBox="1"/>
          <p:nvPr/>
        </p:nvSpPr>
        <p:spPr>
          <a:xfrm>
            <a:off x="1508760" y="5166360"/>
            <a:ext cx="3931920" cy="502920"/>
          </a:xfrm>
          <a:prstGeom prst="rect">
            <a:avLst/>
          </a:prstGeom>
          <a:noFill/>
          <a:ln/>
        </p:spPr>
        <p:txBody>
          <a:bodyPr wrap="square" lIns="0" tIns="0" rIns="0" bIns="0" rtlCol="0" anchor="ctr"/>
          <a:lstStyle/>
          <a:p>
            <a:pPr indent="0" marL="0">
              <a:buNone/>
            </a:pPr>
            <a:r>
              <a:rPr lang="en-US" sz="1350" b="1" dirty="0">
                <a:solidFill>
                  <a:srgbClr val="0F1626"/>
                </a:solidFill>
                <a:latin typeface="Meiryo" pitchFamily="34" charset="0"/>
                <a:ea typeface="Meiryo" pitchFamily="34" charset="-122"/>
                <a:cs typeface="Meiryo" pitchFamily="34" charset="-120"/>
              </a:rPr>
              <a:t>運用評価は単施設・前後比較</a:t>
            </a:r>
            <a:endParaRPr lang="en-US" sz="1350" dirty="0"/>
          </a:p>
        </p:txBody>
      </p:sp>
      <p:sp>
        <p:nvSpPr>
          <p:cNvPr id="30" name="Text 28"/>
          <p:cNvSpPr txBox="1"/>
          <p:nvPr/>
        </p:nvSpPr>
        <p:spPr>
          <a:xfrm>
            <a:off x="5577840" y="5166360"/>
            <a:ext cx="5760720" cy="502920"/>
          </a:xfrm>
          <a:prstGeom prst="rect">
            <a:avLst/>
          </a:prstGeom>
          <a:noFill/>
          <a:ln/>
        </p:spPr>
        <p:txBody>
          <a:bodyPr wrap="square" lIns="0" tIns="0" rIns="0" bIns="0" rtlCol="0" anchor="ctr"/>
          <a:lstStyle/>
          <a:p>
            <a:pPr indent="0" marL="0">
              <a:lnSpc>
                <a:spcPts val="1600"/>
              </a:lnSpc>
              <a:buNone/>
            </a:pPr>
            <a:r>
              <a:rPr lang="en-US" sz="1150" dirty="0">
                <a:solidFill>
                  <a:srgbClr val="1F2430"/>
                </a:solidFill>
                <a:latin typeface="Meiryo" pitchFamily="34" charset="0"/>
                <a:ea typeface="Meiryo" pitchFamily="34" charset="-122"/>
                <a:cs typeface="Meiryo" pitchFamily="34" charset="-120"/>
              </a:rPr>
              <a:t>対照群を置いた比較ではない</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40080" y="384048"/>
            <a:ext cx="9902952" cy="256032"/>
          </a:xfrm>
          <a:prstGeom prst="rect">
            <a:avLst/>
          </a:prstGeom>
          <a:noFill/>
          <a:ln/>
        </p:spPr>
        <p:txBody>
          <a:bodyPr wrap="square" lIns="0" tIns="0" rIns="0" bIns="0" rtlCol="0" anchor="ctr"/>
          <a:lstStyle/>
          <a:p>
            <a:pPr indent="0" marL="0">
              <a:buNone/>
            </a:pPr>
            <a:r>
              <a:rPr lang="en-US" sz="1200" b="1" spc="200" kern="0" dirty="0">
                <a:solidFill>
                  <a:srgbClr val="1B9AAA"/>
                </a:solidFill>
                <a:latin typeface="Meiryo" pitchFamily="34" charset="0"/>
                <a:ea typeface="Meiryo" pitchFamily="34" charset="-122"/>
                <a:cs typeface="Meiryo" pitchFamily="34" charset="-120"/>
              </a:rPr>
              <a:t>提案</a:t>
            </a:r>
            <a:endParaRPr lang="en-US" sz="1200" dirty="0"/>
          </a:p>
        </p:txBody>
      </p:sp>
      <p:sp>
        <p:nvSpPr>
          <p:cNvPr id="3" name="Text 1"/>
          <p:cNvSpPr txBox="1"/>
          <p:nvPr/>
        </p:nvSpPr>
        <p:spPr>
          <a:xfrm>
            <a:off x="640080" y="658368"/>
            <a:ext cx="9902952" cy="731520"/>
          </a:xfrm>
          <a:prstGeom prst="rect">
            <a:avLst/>
          </a:prstGeom>
          <a:noFill/>
          <a:ln/>
        </p:spPr>
        <p:txBody>
          <a:bodyPr wrap="square" lIns="0" tIns="0" rIns="0" bIns="0" rtlCol="0" anchor="t"/>
          <a:lstStyle/>
          <a:p>
            <a:pPr indent="0" marL="0">
              <a:buNone/>
            </a:pPr>
            <a:r>
              <a:rPr lang="en-US" sz="3000" b="1" dirty="0">
                <a:solidFill>
                  <a:srgbClr val="0F1626"/>
                </a:solidFill>
                <a:latin typeface="Meiryo" pitchFamily="34" charset="0"/>
                <a:ea typeface="Meiryo" pitchFamily="34" charset="-122"/>
                <a:cs typeface="Meiryo" pitchFamily="34" charset="-120"/>
              </a:rPr>
              <a:t>提案　問診に頼らない判定と、部位別の運用</a:t>
            </a:r>
            <a:endParaRPr lang="en-US" sz="3000" dirty="0"/>
          </a:p>
        </p:txBody>
      </p:sp>
      <p:sp>
        <p:nvSpPr>
          <p:cNvPr id="4" name="Shape 2"/>
          <p:cNvSpPr/>
          <p:nvPr/>
        </p:nvSpPr>
        <p:spPr>
          <a:xfrm>
            <a:off x="11073384" y="457200"/>
            <a:ext cx="475488" cy="475488"/>
          </a:xfrm>
          <a:prstGeom prst="ellipse">
            <a:avLst/>
          </a:prstGeom>
          <a:solidFill>
            <a:srgbClr val="F2F4F8"/>
          </a:solidFill>
          <a:ln w="12700">
            <a:solidFill>
              <a:srgbClr val="FFFFFF"/>
            </a:solidFill>
            <a:prstDash val="solid"/>
          </a:ln>
        </p:spPr>
      </p:sp>
      <p:sp>
        <p:nvSpPr>
          <p:cNvPr id="5" name="Text 3"/>
          <p:cNvSpPr txBox="1"/>
          <p:nvPr/>
        </p:nvSpPr>
        <p:spPr>
          <a:xfrm>
            <a:off x="11073384" y="457200"/>
            <a:ext cx="475488" cy="475488"/>
          </a:xfrm>
          <a:prstGeom prst="rect">
            <a:avLst/>
          </a:prstGeom>
          <a:noFill/>
          <a:ln/>
        </p:spPr>
        <p:txBody>
          <a:bodyPr wrap="square" lIns="0" tIns="0" rIns="0" bIns="0" rtlCol="0" anchor="ctr"/>
          <a:lstStyle/>
          <a:p>
            <a:pPr algn="ctr" indent="0" marL="0">
              <a:buNone/>
            </a:pPr>
            <a:r>
              <a:rPr lang="en-US" sz="1300" b="1" dirty="0">
                <a:solidFill>
                  <a:srgbClr val="2E3A59"/>
                </a:solidFill>
                <a:latin typeface="Meiryo" pitchFamily="34" charset="0"/>
                <a:ea typeface="Meiryo" pitchFamily="34" charset="-122"/>
                <a:cs typeface="Meiryo" pitchFamily="34" charset="-120"/>
              </a:rPr>
              <a:t>17</a:t>
            </a:r>
            <a:endParaRPr lang="en-US" sz="1300" dirty="0"/>
          </a:p>
        </p:txBody>
      </p:sp>
      <p:sp>
        <p:nvSpPr>
          <p:cNvPr id="6" name="Shape 4"/>
          <p:cNvSpPr/>
          <p:nvPr/>
        </p:nvSpPr>
        <p:spPr>
          <a:xfrm>
            <a:off x="640080" y="1645920"/>
            <a:ext cx="5029200" cy="3749040"/>
          </a:xfrm>
          <a:prstGeom prst="roundRect">
            <a:avLst>
              <a:gd name="adj" fmla="val 1463"/>
            </a:avLst>
          </a:prstGeom>
          <a:solidFill>
            <a:srgbClr val="F2F4F8"/>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7" name="Text 5"/>
          <p:cNvSpPr txBox="1"/>
          <p:nvPr/>
        </p:nvSpPr>
        <p:spPr>
          <a:xfrm>
            <a:off x="960120" y="1828800"/>
            <a:ext cx="4389120" cy="320040"/>
          </a:xfrm>
          <a:prstGeom prst="rect">
            <a:avLst/>
          </a:prstGeom>
          <a:noFill/>
          <a:ln/>
        </p:spPr>
        <p:txBody>
          <a:bodyPr wrap="square" lIns="0" tIns="0" rIns="0" bIns="0" rtlCol="0" anchor="ctr"/>
          <a:lstStyle/>
          <a:p>
            <a:pPr indent="0" marL="0">
              <a:buNone/>
            </a:pPr>
            <a:r>
              <a:rPr lang="en-US" sz="1450" b="1" dirty="0">
                <a:solidFill>
                  <a:srgbClr val="0F1626"/>
                </a:solidFill>
                <a:latin typeface="Meiryo" pitchFamily="34" charset="0"/>
                <a:ea typeface="Meiryo" pitchFamily="34" charset="-122"/>
                <a:cs typeface="Meiryo" pitchFamily="34" charset="-120"/>
              </a:rPr>
              <a:t>なぜ問診では判別できないのか</a:t>
            </a:r>
            <a:endParaRPr lang="en-US" sz="1450" dirty="0"/>
          </a:p>
        </p:txBody>
      </p:sp>
      <p:sp>
        <p:nvSpPr>
          <p:cNvPr id="8" name="Text 6"/>
          <p:cNvSpPr txBox="1"/>
          <p:nvPr/>
        </p:nvSpPr>
        <p:spPr>
          <a:xfrm>
            <a:off x="960120" y="2240280"/>
            <a:ext cx="4389120" cy="914400"/>
          </a:xfrm>
          <a:prstGeom prst="rect">
            <a:avLst/>
          </a:prstGeom>
          <a:noFill/>
          <a:ln/>
        </p:spPr>
        <p:txBody>
          <a:bodyPr wrap="square" lIns="0" tIns="0" rIns="0" bIns="0" rtlCol="0" anchor="ctr"/>
          <a:lstStyle/>
          <a:p>
            <a:pPr indent="0" marL="0">
              <a:lnSpc>
                <a:spcPts val="1900"/>
              </a:lnSpc>
              <a:buNone/>
            </a:pPr>
            <a:r>
              <a:rPr lang="en-US" sz="1200" dirty="0">
                <a:solidFill>
                  <a:srgbClr val="1F2430"/>
                </a:solidFill>
                <a:latin typeface="Meiryo" pitchFamily="34" charset="0"/>
                <a:ea typeface="Meiryo" pitchFamily="34" charset="-122"/>
                <a:cs typeface="Meiryo" pitchFamily="34" charset="-120"/>
              </a:rPr>
              <a:t>患者の多くは、自分のネイルが磁性粉を含むタイプかどうかを知らない。「ジェルネイルですか」と聞いても答えられないため、現行運用は一律延期に倒さざるを得ない。</a:t>
            </a:r>
            <a:endParaRPr lang="en-US" sz="1200" dirty="0"/>
          </a:p>
        </p:txBody>
      </p:sp>
      <p:sp>
        <p:nvSpPr>
          <p:cNvPr id="9" name="Text 7"/>
          <p:cNvSpPr txBox="1"/>
          <p:nvPr/>
        </p:nvSpPr>
        <p:spPr>
          <a:xfrm>
            <a:off x="960120" y="3246120"/>
            <a:ext cx="4389120" cy="320040"/>
          </a:xfrm>
          <a:prstGeom prst="rect">
            <a:avLst/>
          </a:prstGeom>
          <a:noFill/>
          <a:ln/>
        </p:spPr>
        <p:txBody>
          <a:bodyPr wrap="square" lIns="0" tIns="0" rIns="0" bIns="0" rtlCol="0" anchor="ctr"/>
          <a:lstStyle/>
          <a:p>
            <a:pPr indent="0" marL="0">
              <a:buNone/>
            </a:pPr>
            <a:r>
              <a:rPr lang="en-US" sz="1450" b="1" dirty="0">
                <a:solidFill>
                  <a:srgbClr val="1B9AAA"/>
                </a:solidFill>
                <a:latin typeface="Meiryo" pitchFamily="34" charset="0"/>
                <a:ea typeface="Meiryo" pitchFamily="34" charset="-122"/>
                <a:cs typeface="Meiryo" pitchFamily="34" charset="-120"/>
              </a:rPr>
              <a:t>簡易磁石テスト</a:t>
            </a:r>
            <a:endParaRPr lang="en-US" sz="1450" dirty="0"/>
          </a:p>
        </p:txBody>
      </p:sp>
      <p:sp>
        <p:nvSpPr>
          <p:cNvPr id="10" name="Shape 8"/>
          <p:cNvSpPr/>
          <p:nvPr/>
        </p:nvSpPr>
        <p:spPr>
          <a:xfrm>
            <a:off x="960120" y="3657600"/>
            <a:ext cx="2057400" cy="960120"/>
          </a:xfrm>
          <a:prstGeom prst="roundRect">
            <a:avLst>
              <a:gd name="adj" fmla="val 5714"/>
            </a:avLst>
          </a:prstGeom>
          <a:solidFill>
            <a:srgbClr val="E6F3F5"/>
          </a:solidFill>
          <a:ln w="12700">
            <a:solidFill>
              <a:srgbClr val="FFFFFF"/>
            </a:solidFill>
            <a:prstDash val="solid"/>
          </a:ln>
        </p:spPr>
      </p:sp>
      <p:sp>
        <p:nvSpPr>
          <p:cNvPr id="11" name="Text 9"/>
          <p:cNvSpPr txBox="1"/>
          <p:nvPr/>
        </p:nvSpPr>
        <p:spPr>
          <a:xfrm>
            <a:off x="960120" y="3703320"/>
            <a:ext cx="2057400" cy="566928"/>
          </a:xfrm>
          <a:prstGeom prst="rect">
            <a:avLst/>
          </a:prstGeom>
          <a:noFill/>
          <a:ln/>
        </p:spPr>
        <p:txBody>
          <a:bodyPr wrap="square" lIns="0" tIns="0" rIns="0" bIns="0" rtlCol="0" anchor="ctr"/>
          <a:lstStyle/>
          <a:p>
            <a:pPr algn="ctr" indent="0" marL="0">
              <a:buNone/>
            </a:pPr>
            <a:r>
              <a:rPr lang="en-US" sz="2600" b="1" dirty="0">
                <a:solidFill>
                  <a:srgbClr val="1B9AAA"/>
                </a:solidFill>
                <a:latin typeface="Meiryo" pitchFamily="34" charset="0"/>
                <a:ea typeface="Meiryo" pitchFamily="34" charset="-122"/>
                <a:cs typeface="Meiryo" pitchFamily="34" charset="-120"/>
              </a:rPr>
              <a:t>96%</a:t>
            </a:r>
            <a:endParaRPr lang="en-US" sz="2600" dirty="0"/>
          </a:p>
        </p:txBody>
      </p:sp>
      <p:sp>
        <p:nvSpPr>
          <p:cNvPr id="12" name="Text 10"/>
          <p:cNvSpPr txBox="1"/>
          <p:nvPr/>
        </p:nvSpPr>
        <p:spPr>
          <a:xfrm>
            <a:off x="960120" y="4224528"/>
            <a:ext cx="2057400" cy="320040"/>
          </a:xfrm>
          <a:prstGeom prst="rect">
            <a:avLst/>
          </a:prstGeom>
          <a:noFill/>
          <a:ln/>
        </p:spPr>
        <p:txBody>
          <a:bodyPr wrap="square" lIns="0" tIns="0" rIns="0" bIns="0" rtlCol="0" anchor="ctr"/>
          <a:lstStyle/>
          <a:p>
            <a:pPr algn="ctr" indent="0" marL="0">
              <a:buNone/>
            </a:pPr>
            <a:r>
              <a:rPr lang="en-US" sz="1100" dirty="0">
                <a:solidFill>
                  <a:srgbClr val="2E3A59"/>
                </a:solidFill>
                <a:latin typeface="Meiryo" pitchFamily="34" charset="0"/>
                <a:ea typeface="Meiryo" pitchFamily="34" charset="-122"/>
                <a:cs typeface="Meiryo" pitchFamily="34" charset="-120"/>
              </a:rPr>
              <a:t>感度</a:t>
            </a:r>
            <a:endParaRPr lang="en-US" sz="1100" dirty="0"/>
          </a:p>
        </p:txBody>
      </p:sp>
      <p:sp>
        <p:nvSpPr>
          <p:cNvPr id="13" name="Shape 11"/>
          <p:cNvSpPr/>
          <p:nvPr/>
        </p:nvSpPr>
        <p:spPr>
          <a:xfrm>
            <a:off x="3200400" y="3657600"/>
            <a:ext cx="2057400" cy="960120"/>
          </a:xfrm>
          <a:prstGeom prst="roundRect">
            <a:avLst>
              <a:gd name="adj" fmla="val 5714"/>
            </a:avLst>
          </a:prstGeom>
          <a:solidFill>
            <a:srgbClr val="E6F3F5"/>
          </a:solidFill>
          <a:ln w="12700">
            <a:solidFill>
              <a:srgbClr val="FFFFFF"/>
            </a:solidFill>
            <a:prstDash val="solid"/>
          </a:ln>
        </p:spPr>
      </p:sp>
      <p:sp>
        <p:nvSpPr>
          <p:cNvPr id="14" name="Text 12"/>
          <p:cNvSpPr txBox="1"/>
          <p:nvPr/>
        </p:nvSpPr>
        <p:spPr>
          <a:xfrm>
            <a:off x="3200400" y="3703320"/>
            <a:ext cx="2057400" cy="566928"/>
          </a:xfrm>
          <a:prstGeom prst="rect">
            <a:avLst/>
          </a:prstGeom>
          <a:noFill/>
          <a:ln/>
        </p:spPr>
        <p:txBody>
          <a:bodyPr wrap="square" lIns="0" tIns="0" rIns="0" bIns="0" rtlCol="0" anchor="ctr"/>
          <a:lstStyle/>
          <a:p>
            <a:pPr algn="ctr" indent="0" marL="0">
              <a:buNone/>
            </a:pPr>
            <a:r>
              <a:rPr lang="en-US" sz="2600" b="1" dirty="0">
                <a:solidFill>
                  <a:srgbClr val="1B9AAA"/>
                </a:solidFill>
                <a:latin typeface="Meiryo" pitchFamily="34" charset="0"/>
                <a:ea typeface="Meiryo" pitchFamily="34" charset="-122"/>
                <a:cs typeface="Meiryo" pitchFamily="34" charset="-120"/>
              </a:rPr>
              <a:t>91%</a:t>
            </a:r>
            <a:endParaRPr lang="en-US" sz="2600" dirty="0"/>
          </a:p>
        </p:txBody>
      </p:sp>
      <p:sp>
        <p:nvSpPr>
          <p:cNvPr id="15" name="Text 13"/>
          <p:cNvSpPr txBox="1"/>
          <p:nvPr/>
        </p:nvSpPr>
        <p:spPr>
          <a:xfrm>
            <a:off x="3200400" y="4224528"/>
            <a:ext cx="2057400" cy="320040"/>
          </a:xfrm>
          <a:prstGeom prst="rect">
            <a:avLst/>
          </a:prstGeom>
          <a:noFill/>
          <a:ln/>
        </p:spPr>
        <p:txBody>
          <a:bodyPr wrap="square" lIns="0" tIns="0" rIns="0" bIns="0" rtlCol="0" anchor="ctr"/>
          <a:lstStyle/>
          <a:p>
            <a:pPr algn="ctr" indent="0" marL="0">
              <a:buNone/>
            </a:pPr>
            <a:r>
              <a:rPr lang="en-US" sz="1100" dirty="0">
                <a:solidFill>
                  <a:srgbClr val="2E3A59"/>
                </a:solidFill>
                <a:latin typeface="Meiryo" pitchFamily="34" charset="0"/>
                <a:ea typeface="Meiryo" pitchFamily="34" charset="-122"/>
                <a:cs typeface="Meiryo" pitchFamily="34" charset="-120"/>
              </a:rPr>
              <a:t>特異度</a:t>
            </a:r>
            <a:endParaRPr lang="en-US" sz="1100" dirty="0"/>
          </a:p>
        </p:txBody>
      </p:sp>
      <p:sp>
        <p:nvSpPr>
          <p:cNvPr id="16" name="Text 14"/>
          <p:cNvSpPr txBox="1"/>
          <p:nvPr/>
        </p:nvSpPr>
        <p:spPr>
          <a:xfrm>
            <a:off x="960120" y="4754880"/>
            <a:ext cx="4389120" cy="365760"/>
          </a:xfrm>
          <a:prstGeom prst="rect">
            <a:avLst/>
          </a:prstGeom>
          <a:noFill/>
          <a:ln/>
        </p:spPr>
        <p:txBody>
          <a:bodyPr wrap="square" lIns="0" tIns="0" rIns="0" bIns="0" rtlCol="0" anchor="ctr"/>
          <a:lstStyle/>
          <a:p>
            <a:pPr indent="0" marL="0">
              <a:buNone/>
            </a:pPr>
            <a:r>
              <a:rPr lang="en-US" sz="1150" dirty="0">
                <a:solidFill>
                  <a:srgbClr val="6B7280"/>
                </a:solidFill>
                <a:latin typeface="Meiryo" pitchFamily="34" charset="0"/>
                <a:ea typeface="Meiryo" pitchFamily="34" charset="-122"/>
                <a:cs typeface="Meiryo" pitchFamily="34" charset="-120"/>
              </a:rPr>
              <a:t>受付・更衣室で数秒。自己申告に依存しない。</a:t>
            </a:r>
            <a:endParaRPr lang="en-US" sz="1150" dirty="0"/>
          </a:p>
        </p:txBody>
      </p:sp>
      <p:sp>
        <p:nvSpPr>
          <p:cNvPr id="17" name="Text 15"/>
          <p:cNvSpPr txBox="1"/>
          <p:nvPr/>
        </p:nvSpPr>
        <p:spPr>
          <a:xfrm>
            <a:off x="6263640" y="1691640"/>
            <a:ext cx="5349240" cy="320040"/>
          </a:xfrm>
          <a:prstGeom prst="rect">
            <a:avLst/>
          </a:prstGeom>
          <a:noFill/>
          <a:ln/>
        </p:spPr>
        <p:txBody>
          <a:bodyPr wrap="square" lIns="0" tIns="0" rIns="0" bIns="0" rtlCol="0" anchor="ctr"/>
          <a:lstStyle/>
          <a:p>
            <a:pPr indent="0" marL="0">
              <a:buNone/>
            </a:pPr>
            <a:r>
              <a:rPr lang="en-US" sz="1450" b="1" dirty="0">
                <a:solidFill>
                  <a:srgbClr val="0F1626"/>
                </a:solidFill>
                <a:latin typeface="Meiryo" pitchFamily="34" charset="0"/>
                <a:ea typeface="Meiryo" pitchFamily="34" charset="-122"/>
                <a:cs typeface="Meiryo" pitchFamily="34" charset="-120"/>
              </a:rPr>
              <a:t>部位別の判定フロー</a:t>
            </a:r>
            <a:endParaRPr lang="en-US" sz="1450" dirty="0"/>
          </a:p>
        </p:txBody>
      </p:sp>
      <p:sp>
        <p:nvSpPr>
          <p:cNvPr id="18" name="Shape 16"/>
          <p:cNvSpPr/>
          <p:nvPr/>
        </p:nvSpPr>
        <p:spPr>
          <a:xfrm>
            <a:off x="7726680" y="2148840"/>
            <a:ext cx="2423160" cy="548640"/>
          </a:xfrm>
          <a:prstGeom prst="roundRect">
            <a:avLst>
              <a:gd name="adj" fmla="val 13333"/>
            </a:avLst>
          </a:prstGeom>
          <a:solidFill>
            <a:srgbClr val="2E3A59"/>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19" name="Text 17"/>
          <p:cNvSpPr txBox="1"/>
          <p:nvPr/>
        </p:nvSpPr>
        <p:spPr>
          <a:xfrm>
            <a:off x="7818120" y="2148840"/>
            <a:ext cx="2240280" cy="548640"/>
          </a:xfrm>
          <a:prstGeom prst="rect">
            <a:avLst/>
          </a:prstGeom>
          <a:noFill/>
          <a:ln/>
        </p:spPr>
        <p:txBody>
          <a:bodyPr wrap="square" lIns="0" tIns="0" rIns="0" bIns="0" rtlCol="0" anchor="ctr"/>
          <a:lstStyle/>
          <a:p>
            <a:pPr algn="ctr" indent="0" marL="0">
              <a:lnSpc>
                <a:spcPts val="1600"/>
              </a:lnSpc>
              <a:buNone/>
            </a:pPr>
            <a:r>
              <a:rPr lang="en-US" sz="1150" b="1" dirty="0">
                <a:solidFill>
                  <a:srgbClr val="FFFFFF"/>
                </a:solidFill>
                <a:latin typeface="Meiryo" pitchFamily="34" charset="0"/>
                <a:ea typeface="Meiryo" pitchFamily="34" charset="-122"/>
                <a:cs typeface="Meiryo" pitchFamily="34" charset="-120"/>
              </a:rPr>
              <a:t>磁石テスト陽性</a:t>
            </a:r>
            <a:endParaRPr lang="en-US" sz="1150" dirty="0"/>
          </a:p>
        </p:txBody>
      </p:sp>
      <p:sp>
        <p:nvSpPr>
          <p:cNvPr id="20" name="Shape 18"/>
          <p:cNvSpPr/>
          <p:nvPr/>
        </p:nvSpPr>
        <p:spPr>
          <a:xfrm>
            <a:off x="8933688" y="2697480"/>
            <a:ext cx="18288" cy="411480"/>
          </a:xfrm>
          <a:prstGeom prst="rect">
            <a:avLst/>
          </a:prstGeom>
          <a:solidFill>
            <a:srgbClr val="AAB3C0"/>
          </a:solidFill>
          <a:ln w="15875">
            <a:solidFill>
              <a:srgbClr val="AAB3C0"/>
            </a:solidFill>
            <a:prstDash val="solid"/>
            <a:tailEnd type="triangle"/>
          </a:ln>
        </p:spPr>
      </p:sp>
      <p:sp>
        <p:nvSpPr>
          <p:cNvPr id="21" name="Text 19"/>
          <p:cNvSpPr txBox="1"/>
          <p:nvPr/>
        </p:nvSpPr>
        <p:spPr>
          <a:xfrm>
            <a:off x="7726680" y="3127248"/>
            <a:ext cx="2423160" cy="274320"/>
          </a:xfrm>
          <a:prstGeom prst="rect">
            <a:avLst/>
          </a:prstGeom>
          <a:noFill/>
          <a:ln/>
        </p:spPr>
        <p:txBody>
          <a:bodyPr wrap="square" lIns="0" tIns="0" rIns="0" bIns="0" rtlCol="0" anchor="ctr"/>
          <a:lstStyle/>
          <a:p>
            <a:pPr algn="ctr" indent="0" marL="0">
              <a:buNone/>
            </a:pPr>
            <a:r>
              <a:rPr lang="en-US" sz="1100" dirty="0">
                <a:solidFill>
                  <a:srgbClr val="2E3A59"/>
                </a:solidFill>
                <a:latin typeface="Meiryo" pitchFamily="34" charset="0"/>
                <a:ea typeface="Meiryo" pitchFamily="34" charset="-122"/>
                <a:cs typeface="Meiryo" pitchFamily="34" charset="-120"/>
              </a:rPr>
              <a:t>撮影部位は？</a:t>
            </a:r>
            <a:endParaRPr lang="en-US" sz="1100" dirty="0"/>
          </a:p>
        </p:txBody>
      </p:sp>
      <p:sp>
        <p:nvSpPr>
          <p:cNvPr id="22" name="Shape 20"/>
          <p:cNvSpPr/>
          <p:nvPr/>
        </p:nvSpPr>
        <p:spPr>
          <a:xfrm>
            <a:off x="6309360" y="3566160"/>
            <a:ext cx="2468880" cy="914400"/>
          </a:xfrm>
          <a:prstGeom prst="roundRect">
            <a:avLst>
              <a:gd name="adj" fmla="val 8000"/>
            </a:avLst>
          </a:prstGeom>
          <a:solidFill>
            <a:srgbClr val="B5326A"/>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23" name="Text 21"/>
          <p:cNvSpPr txBox="1"/>
          <p:nvPr/>
        </p:nvSpPr>
        <p:spPr>
          <a:xfrm>
            <a:off x="6400800" y="3566160"/>
            <a:ext cx="2286000" cy="914400"/>
          </a:xfrm>
          <a:prstGeom prst="rect">
            <a:avLst/>
          </a:prstGeom>
          <a:noFill/>
          <a:ln/>
        </p:spPr>
        <p:txBody>
          <a:bodyPr wrap="square" lIns="0" tIns="0" rIns="0" bIns="0" rtlCol="0" anchor="ctr"/>
          <a:lstStyle/>
          <a:p>
            <a:pPr algn="ctr" indent="0" marL="0">
              <a:lnSpc>
                <a:spcPts val="1600"/>
              </a:lnSpc>
              <a:buNone/>
            </a:pPr>
            <a:r>
              <a:rPr lang="en-US" sz="1150" b="1" dirty="0">
                <a:solidFill>
                  <a:srgbClr val="FFFFFF"/>
                </a:solidFill>
                <a:latin typeface="Meiryo" pitchFamily="34" charset="0"/>
                <a:ea typeface="Meiryo" pitchFamily="34" charset="-122"/>
                <a:cs typeface="Meiryo" pitchFamily="34" charset="-120"/>
              </a:rPr>
              <a:t>手・手関節</a:t>
            </a:r>
            <a:endParaRPr lang="en-US" sz="1150" dirty="0"/>
          </a:p>
          <a:p>
            <a:pPr algn="ctr" indent="0" marL="0">
              <a:lnSpc>
                <a:spcPts val="1600"/>
              </a:lnSpc>
              <a:buNone/>
            </a:pPr>
            <a:endParaRPr lang="en-US" sz="1150" dirty="0"/>
          </a:p>
          <a:p>
            <a:pPr algn="ctr" indent="0" marL="0">
              <a:lnSpc>
                <a:spcPts val="1600"/>
              </a:lnSpc>
              <a:buNone/>
            </a:pPr>
            <a:r>
              <a:rPr lang="en-US" sz="1150" b="1" dirty="0">
                <a:solidFill>
                  <a:srgbClr val="FFFFFF"/>
                </a:solidFill>
                <a:latin typeface="Meiryo" pitchFamily="34" charset="0"/>
                <a:ea typeface="Meiryo" pitchFamily="34" charset="-122"/>
                <a:cs typeface="Meiryo" pitchFamily="34" charset="-120"/>
              </a:rPr>
              <a:t>除去してから実施</a:t>
            </a:r>
            <a:endParaRPr lang="en-US" sz="1150" dirty="0"/>
          </a:p>
        </p:txBody>
      </p:sp>
      <p:sp>
        <p:nvSpPr>
          <p:cNvPr id="24" name="Shape 22"/>
          <p:cNvSpPr/>
          <p:nvPr/>
        </p:nvSpPr>
        <p:spPr>
          <a:xfrm>
            <a:off x="9098280" y="3566160"/>
            <a:ext cx="2468880" cy="914400"/>
          </a:xfrm>
          <a:prstGeom prst="roundRect">
            <a:avLst>
              <a:gd name="adj" fmla="val 8000"/>
            </a:avLst>
          </a:prstGeom>
          <a:solidFill>
            <a:srgbClr val="1B9AAA"/>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25" name="Text 23"/>
          <p:cNvSpPr txBox="1"/>
          <p:nvPr/>
        </p:nvSpPr>
        <p:spPr>
          <a:xfrm>
            <a:off x="9189720" y="3566160"/>
            <a:ext cx="2286000" cy="914400"/>
          </a:xfrm>
          <a:prstGeom prst="rect">
            <a:avLst/>
          </a:prstGeom>
          <a:noFill/>
          <a:ln/>
        </p:spPr>
        <p:txBody>
          <a:bodyPr wrap="square" lIns="0" tIns="0" rIns="0" bIns="0" rtlCol="0" anchor="ctr"/>
          <a:lstStyle/>
          <a:p>
            <a:pPr algn="ctr" indent="0" marL="0">
              <a:lnSpc>
                <a:spcPts val="1600"/>
              </a:lnSpc>
              <a:buNone/>
            </a:pPr>
            <a:r>
              <a:rPr lang="en-US" sz="1150" b="1" dirty="0">
                <a:solidFill>
                  <a:srgbClr val="FFFFFF"/>
                </a:solidFill>
                <a:latin typeface="Meiryo" pitchFamily="34" charset="0"/>
                <a:ea typeface="Meiryo" pitchFamily="34" charset="-122"/>
                <a:cs typeface="Meiryo" pitchFamily="34" charset="-120"/>
              </a:rPr>
              <a:t>頭部・体幹部</a:t>
            </a:r>
            <a:endParaRPr lang="en-US" sz="1150" dirty="0"/>
          </a:p>
          <a:p>
            <a:pPr algn="ctr" indent="0" marL="0">
              <a:lnSpc>
                <a:spcPts val="1600"/>
              </a:lnSpc>
              <a:buNone/>
            </a:pPr>
            <a:endParaRPr lang="en-US" sz="1150" dirty="0"/>
          </a:p>
          <a:p>
            <a:pPr algn="ctr" indent="0" marL="0">
              <a:lnSpc>
                <a:spcPts val="1600"/>
              </a:lnSpc>
              <a:buNone/>
            </a:pPr>
            <a:r>
              <a:rPr lang="en-US" sz="1150" b="1" dirty="0">
                <a:solidFill>
                  <a:srgbClr val="FFFFFF"/>
                </a:solidFill>
                <a:latin typeface="Meiryo" pitchFamily="34" charset="0"/>
                <a:ea typeface="Meiryo" pitchFamily="34" charset="-122"/>
                <a:cs typeface="Meiryo" pitchFamily="34" charset="-120"/>
              </a:rPr>
              <a:t>装着のまま実施可</a:t>
            </a:r>
            <a:endParaRPr lang="en-US" sz="1150" dirty="0"/>
          </a:p>
        </p:txBody>
      </p:sp>
      <p:sp>
        <p:nvSpPr>
          <p:cNvPr id="26" name="Text 24"/>
          <p:cNvSpPr txBox="1"/>
          <p:nvPr/>
        </p:nvSpPr>
        <p:spPr>
          <a:xfrm>
            <a:off x="6263640" y="4617720"/>
            <a:ext cx="5349240" cy="457200"/>
          </a:xfrm>
          <a:prstGeom prst="rect">
            <a:avLst/>
          </a:prstGeom>
          <a:noFill/>
          <a:ln/>
        </p:spPr>
        <p:txBody>
          <a:bodyPr wrap="square" lIns="0" tIns="0" rIns="0" bIns="0" rtlCol="0" anchor="ctr"/>
          <a:lstStyle/>
          <a:p>
            <a:pPr algn="ctr" indent="0" marL="0">
              <a:lnSpc>
                <a:spcPts val="1600"/>
              </a:lnSpc>
              <a:buNone/>
            </a:pPr>
            <a:r>
              <a:rPr lang="en-US" sz="1050" dirty="0">
                <a:solidFill>
                  <a:srgbClr val="6B7280"/>
                </a:solidFill>
                <a:latin typeface="Meiryo" pitchFamily="34" charset="0"/>
                <a:ea typeface="Meiryo" pitchFamily="34" charset="-122"/>
                <a:cs typeface="Meiryo" pitchFamily="34" charset="-120"/>
              </a:rPr>
              <a:t>※ 手の位置を撮影範囲から離す／SpO₂ は装着部位を変更</a:t>
            </a:r>
            <a:endParaRPr lang="en-US" sz="1050" dirty="0"/>
          </a:p>
        </p:txBody>
      </p:sp>
      <p:sp>
        <p:nvSpPr>
          <p:cNvPr id="27" name="Shape 25"/>
          <p:cNvSpPr/>
          <p:nvPr/>
        </p:nvSpPr>
        <p:spPr>
          <a:xfrm>
            <a:off x="10195560" y="6327648"/>
            <a:ext cx="1417320" cy="274320"/>
          </a:xfrm>
          <a:prstGeom prst="roundRect">
            <a:avLst>
              <a:gd name="adj" fmla="val 46667"/>
            </a:avLst>
          </a:prstGeom>
          <a:solidFill>
            <a:srgbClr val="FDF3E3"/>
          </a:solidFill>
          <a:ln w="9525">
            <a:solidFill>
              <a:srgbClr val="C2700F"/>
            </a:solidFill>
            <a:prstDash val="solid"/>
          </a:ln>
        </p:spPr>
      </p:sp>
      <p:sp>
        <p:nvSpPr>
          <p:cNvPr id="28" name="Text 26"/>
          <p:cNvSpPr txBox="1"/>
          <p:nvPr/>
        </p:nvSpPr>
        <p:spPr>
          <a:xfrm>
            <a:off x="10195560" y="6327648"/>
            <a:ext cx="1417320" cy="274320"/>
          </a:xfrm>
          <a:prstGeom prst="rect">
            <a:avLst/>
          </a:prstGeom>
          <a:noFill/>
          <a:ln/>
        </p:spPr>
        <p:txBody>
          <a:bodyPr wrap="square" lIns="0" tIns="0" rIns="0" bIns="0" rtlCol="0" anchor="ctr"/>
          <a:lstStyle/>
          <a:p>
            <a:pPr algn="ctr" indent="0" marL="0">
              <a:buNone/>
            </a:pPr>
            <a:r>
              <a:rPr lang="en-US" sz="1000" b="1" dirty="0">
                <a:solidFill>
                  <a:srgbClr val="C2700F"/>
                </a:solidFill>
                <a:latin typeface="Meiryo" pitchFamily="34" charset="0"/>
                <a:ea typeface="Meiryo" pitchFamily="34" charset="-122"/>
                <a:cs typeface="Meiryo" pitchFamily="34" charset="-120"/>
              </a:rPr>
              <a:t>ダミー値</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640080" y="384048"/>
            <a:ext cx="9902952" cy="256032"/>
          </a:xfrm>
          <a:prstGeom prst="rect">
            <a:avLst/>
          </a:prstGeom>
          <a:noFill/>
          <a:ln/>
        </p:spPr>
        <p:txBody>
          <a:bodyPr wrap="square" lIns="0" tIns="0" rIns="0" bIns="0" rtlCol="0" anchor="ctr"/>
          <a:lstStyle/>
          <a:p>
            <a:pPr indent="0" marL="0">
              <a:buNone/>
            </a:pPr>
            <a:r>
              <a:rPr lang="en-US" sz="1200" b="1" spc="200" kern="0" dirty="0">
                <a:solidFill>
                  <a:srgbClr val="1B9AAA"/>
                </a:solidFill>
                <a:latin typeface="Meiryo" pitchFamily="34" charset="0"/>
                <a:ea typeface="Meiryo" pitchFamily="34" charset="-122"/>
                <a:cs typeface="Meiryo" pitchFamily="34" charset="-120"/>
              </a:rPr>
              <a:t>運用</a:t>
            </a:r>
            <a:endParaRPr lang="en-US" sz="1200" dirty="0"/>
          </a:p>
        </p:txBody>
      </p:sp>
      <p:sp>
        <p:nvSpPr>
          <p:cNvPr id="3" name="Text 1"/>
          <p:cNvSpPr txBox="1"/>
          <p:nvPr/>
        </p:nvSpPr>
        <p:spPr>
          <a:xfrm>
            <a:off x="640080" y="658368"/>
            <a:ext cx="9902952" cy="731520"/>
          </a:xfrm>
          <a:prstGeom prst="rect">
            <a:avLst/>
          </a:prstGeom>
          <a:noFill/>
          <a:ln/>
        </p:spPr>
        <p:txBody>
          <a:bodyPr wrap="square" lIns="0" tIns="0" rIns="0" bIns="0" rtlCol="0" anchor="t"/>
          <a:lstStyle/>
          <a:p>
            <a:pPr indent="0" marL="0">
              <a:buNone/>
            </a:pPr>
            <a:r>
              <a:rPr lang="en-US" sz="3000" b="1" dirty="0">
                <a:solidFill>
                  <a:srgbClr val="0F1626"/>
                </a:solidFill>
                <a:latin typeface="Meiryo" pitchFamily="34" charset="0"/>
                <a:ea typeface="Meiryo" pitchFamily="34" charset="-122"/>
                <a:cs typeface="Meiryo" pitchFamily="34" charset="-120"/>
              </a:rPr>
              <a:t>試験運用　部位別運用に変更した前後の比較</a:t>
            </a:r>
            <a:endParaRPr lang="en-US" sz="3000" dirty="0"/>
          </a:p>
        </p:txBody>
      </p:sp>
      <p:sp>
        <p:nvSpPr>
          <p:cNvPr id="4" name="Shape 2"/>
          <p:cNvSpPr/>
          <p:nvPr/>
        </p:nvSpPr>
        <p:spPr>
          <a:xfrm>
            <a:off x="11073384" y="457200"/>
            <a:ext cx="475488" cy="475488"/>
          </a:xfrm>
          <a:prstGeom prst="ellipse">
            <a:avLst/>
          </a:prstGeom>
          <a:solidFill>
            <a:srgbClr val="F2F4F8"/>
          </a:solidFill>
          <a:ln w="12700">
            <a:solidFill>
              <a:srgbClr val="FFFFFF"/>
            </a:solidFill>
            <a:prstDash val="solid"/>
          </a:ln>
        </p:spPr>
      </p:sp>
      <p:sp>
        <p:nvSpPr>
          <p:cNvPr id="5" name="Text 3"/>
          <p:cNvSpPr txBox="1"/>
          <p:nvPr/>
        </p:nvSpPr>
        <p:spPr>
          <a:xfrm>
            <a:off x="11073384" y="457200"/>
            <a:ext cx="475488" cy="475488"/>
          </a:xfrm>
          <a:prstGeom prst="rect">
            <a:avLst/>
          </a:prstGeom>
          <a:noFill/>
          <a:ln/>
        </p:spPr>
        <p:txBody>
          <a:bodyPr wrap="square" lIns="0" tIns="0" rIns="0" bIns="0" rtlCol="0" anchor="ctr"/>
          <a:lstStyle/>
          <a:p>
            <a:pPr algn="ctr" indent="0" marL="0">
              <a:buNone/>
            </a:pPr>
            <a:r>
              <a:rPr lang="en-US" sz="1300" b="1" dirty="0">
                <a:solidFill>
                  <a:srgbClr val="2E3A59"/>
                </a:solidFill>
                <a:latin typeface="Meiryo" pitchFamily="34" charset="0"/>
                <a:ea typeface="Meiryo" pitchFamily="34" charset="-122"/>
                <a:cs typeface="Meiryo" pitchFamily="34" charset="-120"/>
              </a:rPr>
              <a:t>18</a:t>
            </a:r>
            <a:endParaRPr lang="en-US" sz="1300" dirty="0"/>
          </a:p>
        </p:txBody>
      </p:sp>
      <p:sp>
        <p:nvSpPr>
          <p:cNvPr id="6" name="Shape 4"/>
          <p:cNvSpPr/>
          <p:nvPr/>
        </p:nvSpPr>
        <p:spPr>
          <a:xfrm>
            <a:off x="640080" y="1645920"/>
            <a:ext cx="10908792" cy="1188720"/>
          </a:xfrm>
          <a:prstGeom prst="roundRect">
            <a:avLst>
              <a:gd name="adj" fmla="val 4615"/>
            </a:avLst>
          </a:prstGeom>
          <a:solidFill>
            <a:srgbClr val="F2F4F8"/>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7" name="Text 5"/>
          <p:cNvSpPr txBox="1"/>
          <p:nvPr/>
        </p:nvSpPr>
        <p:spPr>
          <a:xfrm>
            <a:off x="1005840" y="1737360"/>
            <a:ext cx="4297680" cy="1005840"/>
          </a:xfrm>
          <a:prstGeom prst="rect">
            <a:avLst/>
          </a:prstGeom>
          <a:noFill/>
          <a:ln/>
        </p:spPr>
        <p:txBody>
          <a:bodyPr wrap="square" lIns="0" tIns="0" rIns="0" bIns="0" rtlCol="0" anchor="ctr"/>
          <a:lstStyle/>
          <a:p>
            <a:pPr indent="0" marL="0">
              <a:lnSpc>
                <a:spcPts val="1900"/>
              </a:lnSpc>
              <a:buNone/>
            </a:pPr>
            <a:r>
              <a:rPr lang="en-US" sz="1350" b="1" dirty="0">
                <a:solidFill>
                  <a:srgbClr val="0F1626"/>
                </a:solidFill>
                <a:latin typeface="Meiryo" pitchFamily="34" charset="0"/>
                <a:ea typeface="Meiryo" pitchFamily="34" charset="-122"/>
                <a:cs typeface="Meiryo" pitchFamily="34" charset="-120"/>
              </a:rPr>
              <a:t>延期率</a:t>
            </a:r>
            <a:endParaRPr lang="en-US" sz="1350" dirty="0"/>
          </a:p>
        </p:txBody>
      </p:sp>
      <p:sp>
        <p:nvSpPr>
          <p:cNvPr id="8" name="Text 6"/>
          <p:cNvSpPr txBox="1"/>
          <p:nvPr/>
        </p:nvSpPr>
        <p:spPr>
          <a:xfrm>
            <a:off x="5486400" y="1874520"/>
            <a:ext cx="1828800" cy="731520"/>
          </a:xfrm>
          <a:prstGeom prst="rect">
            <a:avLst/>
          </a:prstGeom>
          <a:noFill/>
          <a:ln/>
        </p:spPr>
        <p:txBody>
          <a:bodyPr wrap="square" lIns="0" tIns="0" rIns="0" bIns="0" rtlCol="0" anchor="ctr"/>
          <a:lstStyle/>
          <a:p>
            <a:pPr algn="ctr" indent="0" marL="0">
              <a:buNone/>
            </a:pPr>
            <a:r>
              <a:rPr lang="en-US" sz="3200" b="1" dirty="0">
                <a:solidFill>
                  <a:srgbClr val="6B7280"/>
                </a:solidFill>
                <a:latin typeface="Meiryo" pitchFamily="34" charset="0"/>
                <a:ea typeface="Meiryo" pitchFamily="34" charset="-122"/>
                <a:cs typeface="Meiryo" pitchFamily="34" charset="-120"/>
              </a:rPr>
              <a:t>8.4</a:t>
            </a:r>
            <a:pPr algn="ctr" indent="0" marL="0">
              <a:buNone/>
            </a:pPr>
            <a:r>
              <a:rPr lang="en-US" sz="1300" dirty="0">
                <a:solidFill>
                  <a:srgbClr val="6B7280"/>
                </a:solidFill>
                <a:latin typeface="Meiryo" pitchFamily="34" charset="0"/>
                <a:ea typeface="Meiryo" pitchFamily="34" charset="-122"/>
                <a:cs typeface="Meiryo" pitchFamily="34" charset="-120"/>
              </a:rPr>
              <a:t> %</a:t>
            </a:r>
            <a:endParaRPr lang="en-US" sz="3200" dirty="0"/>
          </a:p>
        </p:txBody>
      </p:sp>
      <p:sp>
        <p:nvSpPr>
          <p:cNvPr id="9" name="Shape 7"/>
          <p:cNvSpPr/>
          <p:nvPr/>
        </p:nvSpPr>
        <p:spPr>
          <a:xfrm>
            <a:off x="7498080" y="2221992"/>
            <a:ext cx="685800" cy="36576"/>
          </a:xfrm>
          <a:prstGeom prst="rect">
            <a:avLst/>
          </a:prstGeom>
          <a:solidFill>
            <a:srgbClr val="B5326A"/>
          </a:solidFill>
          <a:ln w="22225">
            <a:solidFill>
              <a:srgbClr val="B5326A"/>
            </a:solidFill>
            <a:prstDash val="solid"/>
            <a:tailEnd type="triangle"/>
          </a:ln>
        </p:spPr>
      </p:sp>
      <p:sp>
        <p:nvSpPr>
          <p:cNvPr id="10" name="Text 8"/>
          <p:cNvSpPr txBox="1"/>
          <p:nvPr/>
        </p:nvSpPr>
        <p:spPr>
          <a:xfrm>
            <a:off x="8412480" y="1828800"/>
            <a:ext cx="2011680" cy="822960"/>
          </a:xfrm>
          <a:prstGeom prst="rect">
            <a:avLst/>
          </a:prstGeom>
          <a:noFill/>
          <a:ln/>
        </p:spPr>
        <p:txBody>
          <a:bodyPr wrap="square" lIns="0" tIns="0" rIns="0" bIns="0" rtlCol="0" anchor="ctr"/>
          <a:lstStyle/>
          <a:p>
            <a:pPr algn="ctr" indent="0" marL="0">
              <a:buNone/>
            </a:pPr>
            <a:r>
              <a:rPr lang="en-US" sz="3800" b="1" dirty="0">
                <a:solidFill>
                  <a:srgbClr val="B5326A"/>
                </a:solidFill>
                <a:latin typeface="Meiryo" pitchFamily="34" charset="0"/>
                <a:ea typeface="Meiryo" pitchFamily="34" charset="-122"/>
                <a:cs typeface="Meiryo" pitchFamily="34" charset="-120"/>
              </a:rPr>
              <a:t>3.1</a:t>
            </a:r>
            <a:pPr algn="ctr" indent="0" marL="0">
              <a:buNone/>
            </a:pPr>
            <a:r>
              <a:rPr lang="en-US" sz="1300" dirty="0">
                <a:solidFill>
                  <a:srgbClr val="B5326A"/>
                </a:solidFill>
                <a:latin typeface="Meiryo" pitchFamily="34" charset="0"/>
                <a:ea typeface="Meiryo" pitchFamily="34" charset="-122"/>
                <a:cs typeface="Meiryo" pitchFamily="34" charset="-120"/>
              </a:rPr>
              <a:t> %</a:t>
            </a:r>
            <a:endParaRPr lang="en-US" sz="3800" dirty="0"/>
          </a:p>
        </p:txBody>
      </p:sp>
      <p:sp>
        <p:nvSpPr>
          <p:cNvPr id="11" name="Text 9"/>
          <p:cNvSpPr txBox="1"/>
          <p:nvPr/>
        </p:nvSpPr>
        <p:spPr>
          <a:xfrm>
            <a:off x="5486400" y="1627632"/>
            <a:ext cx="1828800" cy="256032"/>
          </a:xfrm>
          <a:prstGeom prst="rect">
            <a:avLst/>
          </a:prstGeom>
          <a:noFill/>
          <a:ln/>
        </p:spPr>
        <p:txBody>
          <a:bodyPr wrap="square" lIns="0" tIns="0" rIns="0" bIns="0" rtlCol="0" anchor="ctr"/>
          <a:lstStyle/>
          <a:p>
            <a:pPr algn="ctr" indent="0" marL="0">
              <a:buNone/>
            </a:pPr>
            <a:r>
              <a:rPr lang="en-US" sz="1000" dirty="0">
                <a:solidFill>
                  <a:srgbClr val="6B7280"/>
                </a:solidFill>
                <a:latin typeface="Meiryo" pitchFamily="34" charset="0"/>
                <a:ea typeface="Meiryo" pitchFamily="34" charset="-122"/>
                <a:cs typeface="Meiryo" pitchFamily="34" charset="-120"/>
              </a:rPr>
              <a:t>変更前</a:t>
            </a:r>
            <a:endParaRPr lang="en-US" sz="1000" dirty="0"/>
          </a:p>
        </p:txBody>
      </p:sp>
      <p:sp>
        <p:nvSpPr>
          <p:cNvPr id="12" name="Text 10"/>
          <p:cNvSpPr txBox="1"/>
          <p:nvPr/>
        </p:nvSpPr>
        <p:spPr>
          <a:xfrm>
            <a:off x="8412480" y="1627632"/>
            <a:ext cx="2011680" cy="256032"/>
          </a:xfrm>
          <a:prstGeom prst="rect">
            <a:avLst/>
          </a:prstGeom>
          <a:noFill/>
          <a:ln/>
        </p:spPr>
        <p:txBody>
          <a:bodyPr wrap="square" lIns="0" tIns="0" rIns="0" bIns="0" rtlCol="0" anchor="ctr"/>
          <a:lstStyle/>
          <a:p>
            <a:pPr algn="ctr" indent="0" marL="0">
              <a:buNone/>
            </a:pPr>
            <a:r>
              <a:rPr lang="en-US" sz="1000" dirty="0">
                <a:solidFill>
                  <a:srgbClr val="B5326A"/>
                </a:solidFill>
                <a:latin typeface="Meiryo" pitchFamily="34" charset="0"/>
                <a:ea typeface="Meiryo" pitchFamily="34" charset="-122"/>
                <a:cs typeface="Meiryo" pitchFamily="34" charset="-120"/>
              </a:rPr>
              <a:t>変更後</a:t>
            </a:r>
            <a:endParaRPr lang="en-US" sz="1000" dirty="0"/>
          </a:p>
        </p:txBody>
      </p:sp>
      <p:sp>
        <p:nvSpPr>
          <p:cNvPr id="13" name="Shape 11"/>
          <p:cNvSpPr/>
          <p:nvPr/>
        </p:nvSpPr>
        <p:spPr>
          <a:xfrm>
            <a:off x="640080" y="3017520"/>
            <a:ext cx="10908792" cy="1188720"/>
          </a:xfrm>
          <a:prstGeom prst="roundRect">
            <a:avLst>
              <a:gd name="adj" fmla="val 4615"/>
            </a:avLst>
          </a:prstGeom>
          <a:solidFill>
            <a:srgbClr val="F2F4F8"/>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14" name="Text 12"/>
          <p:cNvSpPr txBox="1"/>
          <p:nvPr/>
        </p:nvSpPr>
        <p:spPr>
          <a:xfrm>
            <a:off x="1005840" y="3108960"/>
            <a:ext cx="4297680" cy="1005840"/>
          </a:xfrm>
          <a:prstGeom prst="rect">
            <a:avLst/>
          </a:prstGeom>
          <a:noFill/>
          <a:ln/>
        </p:spPr>
        <p:txBody>
          <a:bodyPr wrap="square" lIns="0" tIns="0" rIns="0" bIns="0" rtlCol="0" anchor="ctr"/>
          <a:lstStyle/>
          <a:p>
            <a:pPr indent="0" marL="0">
              <a:lnSpc>
                <a:spcPts val="1900"/>
              </a:lnSpc>
              <a:buNone/>
            </a:pPr>
            <a:r>
              <a:rPr lang="en-US" sz="1350" b="1" dirty="0">
                <a:solidFill>
                  <a:srgbClr val="0F1626"/>
                </a:solidFill>
                <a:latin typeface="Meiryo" pitchFamily="34" charset="0"/>
                <a:ea typeface="Meiryo" pitchFamily="34" charset="-122"/>
                <a:cs typeface="Meiryo" pitchFamily="34" charset="-120"/>
              </a:rPr>
              <a:t>依頼から実施までの日数（中央値）</a:t>
            </a:r>
            <a:endParaRPr lang="en-US" sz="1350" dirty="0"/>
          </a:p>
        </p:txBody>
      </p:sp>
      <p:sp>
        <p:nvSpPr>
          <p:cNvPr id="15" name="Text 13"/>
          <p:cNvSpPr txBox="1"/>
          <p:nvPr/>
        </p:nvSpPr>
        <p:spPr>
          <a:xfrm>
            <a:off x="5486400" y="3246120"/>
            <a:ext cx="1828800" cy="731520"/>
          </a:xfrm>
          <a:prstGeom prst="rect">
            <a:avLst/>
          </a:prstGeom>
          <a:noFill/>
          <a:ln/>
        </p:spPr>
        <p:txBody>
          <a:bodyPr wrap="square" lIns="0" tIns="0" rIns="0" bIns="0" rtlCol="0" anchor="ctr"/>
          <a:lstStyle/>
          <a:p>
            <a:pPr algn="ctr" indent="0" marL="0">
              <a:buNone/>
            </a:pPr>
            <a:r>
              <a:rPr lang="en-US" sz="3200" b="1" dirty="0">
                <a:solidFill>
                  <a:srgbClr val="6B7280"/>
                </a:solidFill>
                <a:latin typeface="Meiryo" pitchFamily="34" charset="0"/>
                <a:ea typeface="Meiryo" pitchFamily="34" charset="-122"/>
                <a:cs typeface="Meiryo" pitchFamily="34" charset="-120"/>
              </a:rPr>
              <a:t>24</a:t>
            </a:r>
            <a:pPr algn="ctr" indent="0" marL="0">
              <a:buNone/>
            </a:pPr>
            <a:r>
              <a:rPr lang="en-US" sz="1300" dirty="0">
                <a:solidFill>
                  <a:srgbClr val="6B7280"/>
                </a:solidFill>
                <a:latin typeface="Meiryo" pitchFamily="34" charset="0"/>
                <a:ea typeface="Meiryo" pitchFamily="34" charset="-122"/>
                <a:cs typeface="Meiryo" pitchFamily="34" charset="-120"/>
              </a:rPr>
              <a:t> 日</a:t>
            </a:r>
            <a:endParaRPr lang="en-US" sz="3200" dirty="0"/>
          </a:p>
        </p:txBody>
      </p:sp>
      <p:sp>
        <p:nvSpPr>
          <p:cNvPr id="16" name="Shape 14"/>
          <p:cNvSpPr/>
          <p:nvPr/>
        </p:nvSpPr>
        <p:spPr>
          <a:xfrm>
            <a:off x="7498080" y="3593592"/>
            <a:ext cx="685800" cy="36576"/>
          </a:xfrm>
          <a:prstGeom prst="rect">
            <a:avLst/>
          </a:prstGeom>
          <a:solidFill>
            <a:srgbClr val="B5326A"/>
          </a:solidFill>
          <a:ln w="22225">
            <a:solidFill>
              <a:srgbClr val="B5326A"/>
            </a:solidFill>
            <a:prstDash val="solid"/>
            <a:tailEnd type="triangle"/>
          </a:ln>
        </p:spPr>
      </p:sp>
      <p:sp>
        <p:nvSpPr>
          <p:cNvPr id="17" name="Text 15"/>
          <p:cNvSpPr txBox="1"/>
          <p:nvPr/>
        </p:nvSpPr>
        <p:spPr>
          <a:xfrm>
            <a:off x="8412480" y="3200400"/>
            <a:ext cx="2011680" cy="822960"/>
          </a:xfrm>
          <a:prstGeom prst="rect">
            <a:avLst/>
          </a:prstGeom>
          <a:noFill/>
          <a:ln/>
        </p:spPr>
        <p:txBody>
          <a:bodyPr wrap="square" lIns="0" tIns="0" rIns="0" bIns="0" rtlCol="0" anchor="ctr"/>
          <a:lstStyle/>
          <a:p>
            <a:pPr algn="ctr" indent="0" marL="0">
              <a:buNone/>
            </a:pPr>
            <a:r>
              <a:rPr lang="en-US" sz="3800" b="1" dirty="0">
                <a:solidFill>
                  <a:srgbClr val="B5326A"/>
                </a:solidFill>
                <a:latin typeface="Meiryo" pitchFamily="34" charset="0"/>
                <a:ea typeface="Meiryo" pitchFamily="34" charset="-122"/>
                <a:cs typeface="Meiryo" pitchFamily="34" charset="-120"/>
              </a:rPr>
              <a:t>9</a:t>
            </a:r>
            <a:pPr algn="ctr" indent="0" marL="0">
              <a:buNone/>
            </a:pPr>
            <a:r>
              <a:rPr lang="en-US" sz="1300" dirty="0">
                <a:solidFill>
                  <a:srgbClr val="B5326A"/>
                </a:solidFill>
                <a:latin typeface="Meiryo" pitchFamily="34" charset="0"/>
                <a:ea typeface="Meiryo" pitchFamily="34" charset="-122"/>
                <a:cs typeface="Meiryo" pitchFamily="34" charset="-120"/>
              </a:rPr>
              <a:t> 日</a:t>
            </a:r>
            <a:endParaRPr lang="en-US" sz="3800" dirty="0"/>
          </a:p>
        </p:txBody>
      </p:sp>
      <p:sp>
        <p:nvSpPr>
          <p:cNvPr id="18" name="Text 16"/>
          <p:cNvSpPr txBox="1"/>
          <p:nvPr/>
        </p:nvSpPr>
        <p:spPr>
          <a:xfrm>
            <a:off x="5486400" y="2999232"/>
            <a:ext cx="1828800" cy="256032"/>
          </a:xfrm>
          <a:prstGeom prst="rect">
            <a:avLst/>
          </a:prstGeom>
          <a:noFill/>
          <a:ln/>
        </p:spPr>
        <p:txBody>
          <a:bodyPr wrap="square" lIns="0" tIns="0" rIns="0" bIns="0" rtlCol="0" anchor="ctr"/>
          <a:lstStyle/>
          <a:p>
            <a:pPr algn="ctr" indent="0" marL="0">
              <a:buNone/>
            </a:pPr>
            <a:endParaRPr lang="en-US" sz="1000" dirty="0"/>
          </a:p>
        </p:txBody>
      </p:sp>
      <p:sp>
        <p:nvSpPr>
          <p:cNvPr id="19" name="Text 17"/>
          <p:cNvSpPr txBox="1"/>
          <p:nvPr/>
        </p:nvSpPr>
        <p:spPr>
          <a:xfrm>
            <a:off x="8412480" y="2999232"/>
            <a:ext cx="2011680" cy="256032"/>
          </a:xfrm>
          <a:prstGeom prst="rect">
            <a:avLst/>
          </a:prstGeom>
          <a:noFill/>
          <a:ln/>
        </p:spPr>
        <p:txBody>
          <a:bodyPr wrap="square" lIns="0" tIns="0" rIns="0" bIns="0" rtlCol="0" anchor="ctr"/>
          <a:lstStyle/>
          <a:p>
            <a:pPr algn="ctr" indent="0" marL="0">
              <a:buNone/>
            </a:pPr>
            <a:endParaRPr lang="en-US" sz="1000" dirty="0"/>
          </a:p>
        </p:txBody>
      </p:sp>
      <p:sp>
        <p:nvSpPr>
          <p:cNvPr id="20" name="Shape 18"/>
          <p:cNvSpPr/>
          <p:nvPr/>
        </p:nvSpPr>
        <p:spPr>
          <a:xfrm>
            <a:off x="640080" y="4389120"/>
            <a:ext cx="10908792" cy="1188720"/>
          </a:xfrm>
          <a:prstGeom prst="roundRect">
            <a:avLst>
              <a:gd name="adj" fmla="val 4615"/>
            </a:avLst>
          </a:prstGeom>
          <a:solidFill>
            <a:srgbClr val="F2F4F8"/>
          </a:solidFill>
          <a:ln w="12700">
            <a:solidFill>
              <a:srgbClr val="FFFFFF"/>
            </a:solidFill>
            <a:prstDash val="solid"/>
          </a:ln>
          <a:effectLst>
            <a:outerShdw sx="100000" sy="100000" kx="0" ky="0" algn="bl" rotWithShape="0" blurRad="101600" dist="25400" dir="5400000">
              <a:srgbClr val="9AA5B5">
                <a:alpha val="25000"/>
              </a:srgbClr>
            </a:outerShdw>
          </a:effectLst>
        </p:spPr>
      </p:sp>
      <p:sp>
        <p:nvSpPr>
          <p:cNvPr id="21" name="Text 19"/>
          <p:cNvSpPr txBox="1"/>
          <p:nvPr/>
        </p:nvSpPr>
        <p:spPr>
          <a:xfrm>
            <a:off x="1005840" y="4480560"/>
            <a:ext cx="4297680" cy="1005840"/>
          </a:xfrm>
          <a:prstGeom prst="rect">
            <a:avLst/>
          </a:prstGeom>
          <a:noFill/>
          <a:ln/>
        </p:spPr>
        <p:txBody>
          <a:bodyPr wrap="square" lIns="0" tIns="0" rIns="0" bIns="0" rtlCol="0" anchor="ctr"/>
          <a:lstStyle/>
          <a:p>
            <a:pPr indent="0" marL="0">
              <a:lnSpc>
                <a:spcPts val="1900"/>
              </a:lnSpc>
              <a:buNone/>
            </a:pPr>
            <a:r>
              <a:rPr lang="en-US" sz="1350" b="1" dirty="0">
                <a:solidFill>
                  <a:srgbClr val="0F1626"/>
                </a:solidFill>
                <a:latin typeface="Meiryo" pitchFamily="34" charset="0"/>
                <a:ea typeface="Meiryo" pitchFamily="34" charset="-122"/>
                <a:cs typeface="Meiryo" pitchFamily="34" charset="-120"/>
              </a:rPr>
              <a:t>未受検のまま脱落した例</a:t>
            </a:r>
            <a:endParaRPr lang="en-US" sz="1350" dirty="0"/>
          </a:p>
        </p:txBody>
      </p:sp>
      <p:sp>
        <p:nvSpPr>
          <p:cNvPr id="22" name="Text 20"/>
          <p:cNvSpPr txBox="1"/>
          <p:nvPr/>
        </p:nvSpPr>
        <p:spPr>
          <a:xfrm>
            <a:off x="5486400" y="4617720"/>
            <a:ext cx="1828800" cy="731520"/>
          </a:xfrm>
          <a:prstGeom prst="rect">
            <a:avLst/>
          </a:prstGeom>
          <a:noFill/>
          <a:ln/>
        </p:spPr>
        <p:txBody>
          <a:bodyPr wrap="square" lIns="0" tIns="0" rIns="0" bIns="0" rtlCol="0" anchor="ctr"/>
          <a:lstStyle/>
          <a:p>
            <a:pPr algn="ctr" indent="0" marL="0">
              <a:buNone/>
            </a:pPr>
            <a:r>
              <a:rPr lang="en-US" sz="3200" b="1" dirty="0">
                <a:solidFill>
                  <a:srgbClr val="6B7280"/>
                </a:solidFill>
                <a:latin typeface="Meiryo" pitchFamily="34" charset="0"/>
                <a:ea typeface="Meiryo" pitchFamily="34" charset="-122"/>
                <a:cs typeface="Meiryo" pitchFamily="34" charset="-120"/>
              </a:rPr>
              <a:t>5</a:t>
            </a:r>
            <a:pPr algn="ctr" indent="0" marL="0">
              <a:buNone/>
            </a:pPr>
            <a:r>
              <a:rPr lang="en-US" sz="1300" dirty="0">
                <a:solidFill>
                  <a:srgbClr val="6B7280"/>
                </a:solidFill>
                <a:latin typeface="Meiryo" pitchFamily="34" charset="0"/>
                <a:ea typeface="Meiryo" pitchFamily="34" charset="-122"/>
                <a:cs typeface="Meiryo" pitchFamily="34" charset="-120"/>
              </a:rPr>
              <a:t> 件</a:t>
            </a:r>
            <a:endParaRPr lang="en-US" sz="3200" dirty="0"/>
          </a:p>
        </p:txBody>
      </p:sp>
      <p:sp>
        <p:nvSpPr>
          <p:cNvPr id="23" name="Shape 21"/>
          <p:cNvSpPr/>
          <p:nvPr/>
        </p:nvSpPr>
        <p:spPr>
          <a:xfrm>
            <a:off x="7498080" y="4965192"/>
            <a:ext cx="685800" cy="36576"/>
          </a:xfrm>
          <a:prstGeom prst="rect">
            <a:avLst/>
          </a:prstGeom>
          <a:solidFill>
            <a:srgbClr val="B5326A"/>
          </a:solidFill>
          <a:ln w="22225">
            <a:solidFill>
              <a:srgbClr val="B5326A"/>
            </a:solidFill>
            <a:prstDash val="solid"/>
            <a:tailEnd type="triangle"/>
          </a:ln>
        </p:spPr>
      </p:sp>
      <p:sp>
        <p:nvSpPr>
          <p:cNvPr id="24" name="Text 22"/>
          <p:cNvSpPr txBox="1"/>
          <p:nvPr/>
        </p:nvSpPr>
        <p:spPr>
          <a:xfrm>
            <a:off x="8412480" y="4572000"/>
            <a:ext cx="2011680" cy="822960"/>
          </a:xfrm>
          <a:prstGeom prst="rect">
            <a:avLst/>
          </a:prstGeom>
          <a:noFill/>
          <a:ln/>
        </p:spPr>
        <p:txBody>
          <a:bodyPr wrap="square" lIns="0" tIns="0" rIns="0" bIns="0" rtlCol="0" anchor="ctr"/>
          <a:lstStyle/>
          <a:p>
            <a:pPr algn="ctr" indent="0" marL="0">
              <a:buNone/>
            </a:pPr>
            <a:r>
              <a:rPr lang="en-US" sz="3800" b="1" dirty="0">
                <a:solidFill>
                  <a:srgbClr val="B5326A"/>
                </a:solidFill>
                <a:latin typeface="Meiryo" pitchFamily="34" charset="0"/>
                <a:ea typeface="Meiryo" pitchFamily="34" charset="-122"/>
                <a:cs typeface="Meiryo" pitchFamily="34" charset="-120"/>
              </a:rPr>
              <a:t>1</a:t>
            </a:r>
            <a:pPr algn="ctr" indent="0" marL="0">
              <a:buNone/>
            </a:pPr>
            <a:r>
              <a:rPr lang="en-US" sz="1300" dirty="0">
                <a:solidFill>
                  <a:srgbClr val="B5326A"/>
                </a:solidFill>
                <a:latin typeface="Meiryo" pitchFamily="34" charset="0"/>
                <a:ea typeface="Meiryo" pitchFamily="34" charset="-122"/>
                <a:cs typeface="Meiryo" pitchFamily="34" charset="-120"/>
              </a:rPr>
              <a:t> 件</a:t>
            </a:r>
            <a:endParaRPr lang="en-US" sz="3800" dirty="0"/>
          </a:p>
        </p:txBody>
      </p:sp>
      <p:sp>
        <p:nvSpPr>
          <p:cNvPr id="25" name="Text 23"/>
          <p:cNvSpPr txBox="1"/>
          <p:nvPr/>
        </p:nvSpPr>
        <p:spPr>
          <a:xfrm>
            <a:off x="5486400" y="4370832"/>
            <a:ext cx="1828800" cy="256032"/>
          </a:xfrm>
          <a:prstGeom prst="rect">
            <a:avLst/>
          </a:prstGeom>
          <a:noFill/>
          <a:ln/>
        </p:spPr>
        <p:txBody>
          <a:bodyPr wrap="square" lIns="0" tIns="0" rIns="0" bIns="0" rtlCol="0" anchor="ctr"/>
          <a:lstStyle/>
          <a:p>
            <a:pPr algn="ctr" indent="0" marL="0">
              <a:buNone/>
            </a:pPr>
            <a:endParaRPr lang="en-US" sz="1000" dirty="0"/>
          </a:p>
        </p:txBody>
      </p:sp>
      <p:sp>
        <p:nvSpPr>
          <p:cNvPr id="26" name="Text 24"/>
          <p:cNvSpPr txBox="1"/>
          <p:nvPr/>
        </p:nvSpPr>
        <p:spPr>
          <a:xfrm>
            <a:off x="8412480" y="4370832"/>
            <a:ext cx="2011680" cy="256032"/>
          </a:xfrm>
          <a:prstGeom prst="rect">
            <a:avLst/>
          </a:prstGeom>
          <a:noFill/>
          <a:ln/>
        </p:spPr>
        <p:txBody>
          <a:bodyPr wrap="square" lIns="0" tIns="0" rIns="0" bIns="0" rtlCol="0" anchor="ctr"/>
          <a:lstStyle/>
          <a:p>
            <a:pPr algn="ctr" indent="0" marL="0">
              <a:buNone/>
            </a:pPr>
            <a:endParaRPr lang="en-US" sz="1000" dirty="0"/>
          </a:p>
        </p:txBody>
      </p:sp>
      <p:sp>
        <p:nvSpPr>
          <p:cNvPr id="27" name="Text 25"/>
          <p:cNvSpPr txBox="1"/>
          <p:nvPr/>
        </p:nvSpPr>
        <p:spPr>
          <a:xfrm>
            <a:off x="640080" y="6345936"/>
            <a:ext cx="8897112" cy="274320"/>
          </a:xfrm>
          <a:prstGeom prst="rect">
            <a:avLst/>
          </a:prstGeom>
          <a:noFill/>
          <a:ln/>
        </p:spPr>
        <p:txBody>
          <a:bodyPr wrap="square" lIns="0" tIns="0" rIns="0" bIns="0" rtlCol="0" anchor="ctr"/>
          <a:lstStyle/>
          <a:p>
            <a:pPr indent="0" marL="0">
              <a:buNone/>
            </a:pPr>
            <a:r>
              <a:rPr lang="en-US" sz="1000" dirty="0">
                <a:solidFill>
                  <a:srgbClr val="6B7280"/>
                </a:solidFill>
                <a:latin typeface="Meiryo" pitchFamily="34" charset="0"/>
                <a:ea typeface="Meiryo" pitchFamily="34" charset="-122"/>
                <a:cs typeface="Meiryo" pitchFamily="34" charset="-120"/>
              </a:rPr>
              <a:t>各6か月間の比較。単施設・対照群なしの前後比較である点に留意</a:t>
            </a:r>
            <a:endParaRPr lang="en-US" sz="1000" dirty="0"/>
          </a:p>
        </p:txBody>
      </p:sp>
      <p:sp>
        <p:nvSpPr>
          <p:cNvPr id="28" name="Shape 26"/>
          <p:cNvSpPr/>
          <p:nvPr/>
        </p:nvSpPr>
        <p:spPr>
          <a:xfrm>
            <a:off x="9674352" y="6327648"/>
            <a:ext cx="1417320" cy="274320"/>
          </a:xfrm>
          <a:prstGeom prst="roundRect">
            <a:avLst>
              <a:gd name="adj" fmla="val 46667"/>
            </a:avLst>
          </a:prstGeom>
          <a:solidFill>
            <a:srgbClr val="FDF3E3"/>
          </a:solidFill>
          <a:ln w="9525">
            <a:solidFill>
              <a:srgbClr val="C2700F"/>
            </a:solidFill>
            <a:prstDash val="solid"/>
          </a:ln>
        </p:spPr>
      </p:sp>
      <p:sp>
        <p:nvSpPr>
          <p:cNvPr id="29" name="Text 27"/>
          <p:cNvSpPr txBox="1"/>
          <p:nvPr/>
        </p:nvSpPr>
        <p:spPr>
          <a:xfrm>
            <a:off x="9674352" y="6327648"/>
            <a:ext cx="1417320" cy="274320"/>
          </a:xfrm>
          <a:prstGeom prst="rect">
            <a:avLst/>
          </a:prstGeom>
          <a:noFill/>
          <a:ln/>
        </p:spPr>
        <p:txBody>
          <a:bodyPr wrap="square" lIns="0" tIns="0" rIns="0" bIns="0" rtlCol="0" anchor="ctr"/>
          <a:lstStyle/>
          <a:p>
            <a:pPr algn="ctr" indent="0" marL="0">
              <a:buNone/>
            </a:pPr>
            <a:r>
              <a:rPr lang="en-US" sz="1000" b="1" dirty="0">
                <a:solidFill>
                  <a:srgbClr val="C2700F"/>
                </a:solidFill>
                <a:latin typeface="Meiryo" pitchFamily="34" charset="0"/>
                <a:ea typeface="Meiryo" pitchFamily="34" charset="-122"/>
                <a:cs typeface="Meiryo" pitchFamily="34" charset="-120"/>
              </a:rPr>
              <a:t>ダミー値</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626"/>
        </a:solidFill>
      </p:bgPr>
    </p:bg>
    <p:spTree>
      <p:nvGrpSpPr>
        <p:cNvPr id="1" name=""/>
        <p:cNvGrpSpPr/>
        <p:nvPr/>
      </p:nvGrpSpPr>
      <p:grpSpPr>
        <a:xfrm>
          <a:off x="0" y="0"/>
          <a:ext cx="0" cy="0"/>
          <a:chOff x="0" y="0"/>
          <a:chExt cx="0" cy="0"/>
        </a:xfrm>
      </p:grpSpPr>
      <p:sp>
        <p:nvSpPr>
          <p:cNvPr id="2" name="Shape 0"/>
          <p:cNvSpPr/>
          <p:nvPr/>
        </p:nvSpPr>
        <p:spPr>
          <a:xfrm>
            <a:off x="9235440" y="822960"/>
            <a:ext cx="3566160" cy="3566160"/>
          </a:xfrm>
          <a:prstGeom prst="ellipse">
            <a:avLst/>
          </a:prstGeom>
          <a:solidFill>
            <a:srgbClr val="1B9AAA">
              <a:alpha val="20000"/>
            </a:srgbClr>
          </a:solidFill>
          <a:ln w="12700">
            <a:solidFill>
              <a:srgbClr val="FFFFFF"/>
            </a:solidFill>
            <a:prstDash val="solid"/>
          </a:ln>
        </p:spPr>
      </p:sp>
      <p:sp>
        <p:nvSpPr>
          <p:cNvPr id="3" name="Text 1"/>
          <p:cNvSpPr txBox="1"/>
          <p:nvPr/>
        </p:nvSpPr>
        <p:spPr>
          <a:xfrm>
            <a:off x="640080" y="685800"/>
            <a:ext cx="5486400" cy="502920"/>
          </a:xfrm>
          <a:prstGeom prst="rect">
            <a:avLst/>
          </a:prstGeom>
          <a:noFill/>
          <a:ln/>
        </p:spPr>
        <p:txBody>
          <a:bodyPr wrap="square" lIns="0" tIns="0" rIns="0" bIns="0" rtlCol="0" anchor="ctr"/>
          <a:lstStyle/>
          <a:p>
            <a:pPr indent="0" marL="0">
              <a:buNone/>
            </a:pPr>
            <a:r>
              <a:rPr lang="en-US" sz="2800" b="1" dirty="0">
                <a:solidFill>
                  <a:srgbClr val="FFFFFF"/>
                </a:solidFill>
                <a:latin typeface="Meiryo" pitchFamily="34" charset="0"/>
                <a:ea typeface="Meiryo" pitchFamily="34" charset="-122"/>
                <a:cs typeface="Meiryo" pitchFamily="34" charset="-120"/>
              </a:rPr>
              <a:t>まとめ</a:t>
            </a:r>
            <a:endParaRPr lang="en-US" sz="2800" dirty="0"/>
          </a:p>
        </p:txBody>
      </p:sp>
      <p:sp>
        <p:nvSpPr>
          <p:cNvPr id="4" name="Shape 2"/>
          <p:cNvSpPr/>
          <p:nvPr/>
        </p:nvSpPr>
        <p:spPr>
          <a:xfrm>
            <a:off x="640080" y="1463040"/>
            <a:ext cx="10058400" cy="1097280"/>
          </a:xfrm>
          <a:prstGeom prst="roundRect">
            <a:avLst>
              <a:gd name="adj" fmla="val 5000"/>
            </a:avLst>
          </a:prstGeom>
          <a:solidFill>
            <a:srgbClr val="1C2437"/>
          </a:solidFill>
          <a:ln w="12700">
            <a:solidFill>
              <a:srgbClr val="FFFFFF"/>
            </a:solidFill>
            <a:prstDash val="solid"/>
          </a:ln>
        </p:spPr>
      </p:sp>
      <p:sp>
        <p:nvSpPr>
          <p:cNvPr id="5" name="Shape 3"/>
          <p:cNvSpPr/>
          <p:nvPr/>
        </p:nvSpPr>
        <p:spPr>
          <a:xfrm>
            <a:off x="914400" y="1764792"/>
            <a:ext cx="502920" cy="502920"/>
          </a:xfrm>
          <a:prstGeom prst="ellipse">
            <a:avLst/>
          </a:prstGeom>
          <a:solidFill>
            <a:srgbClr val="1B9AAA"/>
          </a:solidFill>
          <a:ln w="12700">
            <a:solidFill>
              <a:srgbClr val="FFFFFF"/>
            </a:solidFill>
            <a:prstDash val="solid"/>
          </a:ln>
        </p:spPr>
      </p:sp>
      <p:sp>
        <p:nvSpPr>
          <p:cNvPr id="6" name="Text 4"/>
          <p:cNvSpPr txBox="1"/>
          <p:nvPr/>
        </p:nvSpPr>
        <p:spPr>
          <a:xfrm>
            <a:off x="914400" y="1764792"/>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1</a:t>
            </a:r>
            <a:endParaRPr lang="en-US" sz="1400" dirty="0"/>
          </a:p>
        </p:txBody>
      </p:sp>
      <p:sp>
        <p:nvSpPr>
          <p:cNvPr id="7" name="Text 5"/>
          <p:cNvSpPr txBox="1"/>
          <p:nvPr/>
        </p:nvSpPr>
        <p:spPr>
          <a:xfrm>
            <a:off x="1600200" y="1600200"/>
            <a:ext cx="8778240" cy="411480"/>
          </a:xfrm>
          <a:prstGeom prst="rect">
            <a:avLst/>
          </a:prstGeom>
          <a:noFill/>
          <a:ln/>
        </p:spPr>
        <p:txBody>
          <a:bodyPr wrap="square" lIns="0" tIns="0" rIns="0" bIns="0" rtlCol="0" anchor="ctr"/>
          <a:lstStyle/>
          <a:p>
            <a:pPr indent="0" marL="0">
              <a:buNone/>
            </a:pPr>
            <a:r>
              <a:rPr lang="en-US" sz="1500" b="1" dirty="0">
                <a:solidFill>
                  <a:srgbClr val="FFFFFF"/>
                </a:solidFill>
                <a:latin typeface="Meiryo" pitchFamily="34" charset="0"/>
                <a:ea typeface="Meiryo" pitchFamily="34" charset="-122"/>
                <a:cs typeface="Meiryo" pitchFamily="34" charset="-120"/>
              </a:rPr>
              <a:t>吸引力・発熱のリスクは低い</a:t>
            </a:r>
            <a:endParaRPr lang="en-US" sz="1500" dirty="0"/>
          </a:p>
        </p:txBody>
      </p:sp>
      <p:sp>
        <p:nvSpPr>
          <p:cNvPr id="8" name="Text 6"/>
          <p:cNvSpPr txBox="1"/>
          <p:nvPr/>
        </p:nvSpPr>
        <p:spPr>
          <a:xfrm>
            <a:off x="1600200" y="2029968"/>
            <a:ext cx="8778240" cy="411480"/>
          </a:xfrm>
          <a:prstGeom prst="rect">
            <a:avLst/>
          </a:prstGeom>
          <a:noFill/>
          <a:ln/>
        </p:spPr>
        <p:txBody>
          <a:bodyPr wrap="square" lIns="0" tIns="0" rIns="0" bIns="0" rtlCol="0" anchor="ctr"/>
          <a:lstStyle/>
          <a:p>
            <a:pPr indent="0" marL="0">
              <a:buNone/>
            </a:pPr>
            <a:r>
              <a:rPr lang="en-US" sz="1150" dirty="0">
                <a:solidFill>
                  <a:srgbClr val="9FADC2"/>
                </a:solidFill>
                <a:latin typeface="Meiryo" pitchFamily="34" charset="0"/>
                <a:ea typeface="Meiryo" pitchFamily="34" charset="-122"/>
                <a:cs typeface="Meiryo" pitchFamily="34" charset="-120"/>
              </a:rPr>
              <a:t>偏向角は最大 26.2° で規格基準 45° を下回り、示温ラベルは 40℃ でも変色しなかった</a:t>
            </a:r>
            <a:endParaRPr lang="en-US" sz="1150" dirty="0"/>
          </a:p>
        </p:txBody>
      </p:sp>
      <p:sp>
        <p:nvSpPr>
          <p:cNvPr id="9" name="Shape 7"/>
          <p:cNvSpPr/>
          <p:nvPr/>
        </p:nvSpPr>
        <p:spPr>
          <a:xfrm>
            <a:off x="640080" y="2761488"/>
            <a:ext cx="10058400" cy="1097280"/>
          </a:xfrm>
          <a:prstGeom prst="roundRect">
            <a:avLst>
              <a:gd name="adj" fmla="val 5000"/>
            </a:avLst>
          </a:prstGeom>
          <a:solidFill>
            <a:srgbClr val="1C2437"/>
          </a:solidFill>
          <a:ln w="12700">
            <a:solidFill>
              <a:srgbClr val="FFFFFF"/>
            </a:solidFill>
            <a:prstDash val="solid"/>
          </a:ln>
        </p:spPr>
      </p:sp>
      <p:sp>
        <p:nvSpPr>
          <p:cNvPr id="10" name="Shape 8"/>
          <p:cNvSpPr/>
          <p:nvPr/>
        </p:nvSpPr>
        <p:spPr>
          <a:xfrm>
            <a:off x="914400" y="3063240"/>
            <a:ext cx="502920" cy="502920"/>
          </a:xfrm>
          <a:prstGeom prst="ellipse">
            <a:avLst/>
          </a:prstGeom>
          <a:solidFill>
            <a:srgbClr val="1B9AAA"/>
          </a:solidFill>
          <a:ln w="12700">
            <a:solidFill>
              <a:srgbClr val="FFFFFF"/>
            </a:solidFill>
            <a:prstDash val="solid"/>
          </a:ln>
        </p:spPr>
      </p:sp>
      <p:sp>
        <p:nvSpPr>
          <p:cNvPr id="11" name="Text 9"/>
          <p:cNvSpPr txBox="1"/>
          <p:nvPr/>
        </p:nvSpPr>
        <p:spPr>
          <a:xfrm>
            <a:off x="914400" y="306324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2</a:t>
            </a:r>
            <a:endParaRPr lang="en-US" sz="1400" dirty="0"/>
          </a:p>
        </p:txBody>
      </p:sp>
      <p:sp>
        <p:nvSpPr>
          <p:cNvPr id="12" name="Text 10"/>
          <p:cNvSpPr txBox="1"/>
          <p:nvPr/>
        </p:nvSpPr>
        <p:spPr>
          <a:xfrm>
            <a:off x="1600200" y="2898648"/>
            <a:ext cx="8778240" cy="411480"/>
          </a:xfrm>
          <a:prstGeom prst="rect">
            <a:avLst/>
          </a:prstGeom>
          <a:noFill/>
          <a:ln/>
        </p:spPr>
        <p:txBody>
          <a:bodyPr wrap="square" lIns="0" tIns="0" rIns="0" bIns="0" rtlCol="0" anchor="ctr"/>
          <a:lstStyle/>
          <a:p>
            <a:pPr indent="0" marL="0">
              <a:buNone/>
            </a:pPr>
            <a:r>
              <a:rPr lang="en-US" sz="1500" b="1" dirty="0">
                <a:solidFill>
                  <a:srgbClr val="FFFFFF"/>
                </a:solidFill>
                <a:latin typeface="Meiryo" pitchFamily="34" charset="0"/>
                <a:ea typeface="Meiryo" pitchFamily="34" charset="-122"/>
                <a:cs typeface="Meiryo" pitchFamily="34" charset="-120"/>
              </a:rPr>
              <a:t>実体は画像アーチファクトであり、距離に依存する</a:t>
            </a:r>
            <a:endParaRPr lang="en-US" sz="1500" dirty="0"/>
          </a:p>
        </p:txBody>
      </p:sp>
      <p:sp>
        <p:nvSpPr>
          <p:cNvPr id="13" name="Text 11"/>
          <p:cNvSpPr txBox="1"/>
          <p:nvPr/>
        </p:nvSpPr>
        <p:spPr>
          <a:xfrm>
            <a:off x="1600200" y="3328416"/>
            <a:ext cx="8778240" cy="411480"/>
          </a:xfrm>
          <a:prstGeom prst="rect">
            <a:avLst/>
          </a:prstGeom>
          <a:noFill/>
          <a:ln/>
        </p:spPr>
        <p:txBody>
          <a:bodyPr wrap="square" lIns="0" tIns="0" rIns="0" bIns="0" rtlCol="0" anchor="ctr"/>
          <a:lstStyle/>
          <a:p>
            <a:pPr indent="0" marL="0">
              <a:buNone/>
            </a:pPr>
            <a:r>
              <a:rPr lang="en-US" sz="1150" dirty="0">
                <a:solidFill>
                  <a:srgbClr val="9FADC2"/>
                </a:solidFill>
                <a:latin typeface="Meiryo" pitchFamily="34" charset="0"/>
                <a:ea typeface="Meiryo" pitchFamily="34" charset="-122"/>
                <a:cs typeface="Meiryo" pitchFamily="34" charset="-120"/>
              </a:rPr>
              <a:t>5 cm を超えると検出限界以下。手指・手関節と、頭部・体幹部は分けて考えるべき</a:t>
            </a:r>
            <a:endParaRPr lang="en-US" sz="1150" dirty="0"/>
          </a:p>
        </p:txBody>
      </p:sp>
      <p:sp>
        <p:nvSpPr>
          <p:cNvPr id="14" name="Shape 12"/>
          <p:cNvSpPr/>
          <p:nvPr/>
        </p:nvSpPr>
        <p:spPr>
          <a:xfrm>
            <a:off x="640080" y="4059936"/>
            <a:ext cx="10058400" cy="1097280"/>
          </a:xfrm>
          <a:prstGeom prst="roundRect">
            <a:avLst>
              <a:gd name="adj" fmla="val 5000"/>
            </a:avLst>
          </a:prstGeom>
          <a:solidFill>
            <a:srgbClr val="1C2437"/>
          </a:solidFill>
          <a:ln w="12700">
            <a:solidFill>
              <a:srgbClr val="FFFFFF"/>
            </a:solidFill>
            <a:prstDash val="solid"/>
          </a:ln>
        </p:spPr>
      </p:sp>
      <p:sp>
        <p:nvSpPr>
          <p:cNvPr id="15" name="Shape 13"/>
          <p:cNvSpPr/>
          <p:nvPr/>
        </p:nvSpPr>
        <p:spPr>
          <a:xfrm>
            <a:off x="914400" y="4361688"/>
            <a:ext cx="502920" cy="502920"/>
          </a:xfrm>
          <a:prstGeom prst="ellipse">
            <a:avLst/>
          </a:prstGeom>
          <a:solidFill>
            <a:srgbClr val="1B9AAA"/>
          </a:solidFill>
          <a:ln w="12700">
            <a:solidFill>
              <a:srgbClr val="FFFFFF"/>
            </a:solidFill>
            <a:prstDash val="solid"/>
          </a:ln>
        </p:spPr>
      </p:sp>
      <p:sp>
        <p:nvSpPr>
          <p:cNvPr id="16" name="Text 14"/>
          <p:cNvSpPr txBox="1"/>
          <p:nvPr/>
        </p:nvSpPr>
        <p:spPr>
          <a:xfrm>
            <a:off x="914400" y="436168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3</a:t>
            </a:r>
            <a:endParaRPr lang="en-US" sz="1400" dirty="0"/>
          </a:p>
        </p:txBody>
      </p:sp>
      <p:sp>
        <p:nvSpPr>
          <p:cNvPr id="17" name="Text 15"/>
          <p:cNvSpPr txBox="1"/>
          <p:nvPr/>
        </p:nvSpPr>
        <p:spPr>
          <a:xfrm>
            <a:off x="1600200" y="4197096"/>
            <a:ext cx="8778240" cy="411480"/>
          </a:xfrm>
          <a:prstGeom prst="rect">
            <a:avLst/>
          </a:prstGeom>
          <a:noFill/>
          <a:ln/>
        </p:spPr>
        <p:txBody>
          <a:bodyPr wrap="square" lIns="0" tIns="0" rIns="0" bIns="0" rtlCol="0" anchor="ctr"/>
          <a:lstStyle/>
          <a:p>
            <a:pPr indent="0" marL="0">
              <a:buNone/>
            </a:pPr>
            <a:r>
              <a:rPr lang="en-US" sz="1500" b="1" dirty="0">
                <a:solidFill>
                  <a:srgbClr val="FFFFFF"/>
                </a:solidFill>
                <a:latin typeface="Meiryo" pitchFamily="34" charset="0"/>
                <a:ea typeface="Meiryo" pitchFamily="34" charset="-122"/>
                <a:cs typeface="Meiryo" pitchFamily="34" charset="-120"/>
              </a:rPr>
              <a:t>全例延期は過剰であり、部位別運用に置き換えられる</a:t>
            </a:r>
            <a:endParaRPr lang="en-US" sz="1500" dirty="0"/>
          </a:p>
        </p:txBody>
      </p:sp>
      <p:sp>
        <p:nvSpPr>
          <p:cNvPr id="18" name="Text 16"/>
          <p:cNvSpPr txBox="1"/>
          <p:nvPr/>
        </p:nvSpPr>
        <p:spPr>
          <a:xfrm>
            <a:off x="1600200" y="4626864"/>
            <a:ext cx="8778240" cy="411480"/>
          </a:xfrm>
          <a:prstGeom prst="rect">
            <a:avLst/>
          </a:prstGeom>
          <a:noFill/>
          <a:ln/>
        </p:spPr>
        <p:txBody>
          <a:bodyPr wrap="square" lIns="0" tIns="0" rIns="0" bIns="0" rtlCol="0" anchor="ctr"/>
          <a:lstStyle/>
          <a:p>
            <a:pPr indent="0" marL="0">
              <a:buNone/>
            </a:pPr>
            <a:r>
              <a:rPr lang="en-US" sz="1150" dirty="0">
                <a:solidFill>
                  <a:srgbClr val="9FADC2"/>
                </a:solidFill>
                <a:latin typeface="Meiryo" pitchFamily="34" charset="0"/>
                <a:ea typeface="Meiryo" pitchFamily="34" charset="-122"/>
                <a:cs typeface="Meiryo" pitchFamily="34" charset="-120"/>
              </a:rPr>
              <a:t>問診ではなく簡易磁石テストで判定し、診断までの日数を 24 日から 9 日に短縮した</a:t>
            </a:r>
            <a:endParaRPr lang="en-US" sz="1150" dirty="0"/>
          </a:p>
        </p:txBody>
      </p:sp>
      <p:sp>
        <p:nvSpPr>
          <p:cNvPr id="19" name="Text 17"/>
          <p:cNvSpPr txBox="1"/>
          <p:nvPr/>
        </p:nvSpPr>
        <p:spPr>
          <a:xfrm>
            <a:off x="640080" y="5623560"/>
            <a:ext cx="7315200" cy="320040"/>
          </a:xfrm>
          <a:prstGeom prst="rect">
            <a:avLst/>
          </a:prstGeom>
          <a:noFill/>
          <a:ln/>
        </p:spPr>
        <p:txBody>
          <a:bodyPr wrap="square" lIns="0" tIns="0" rIns="0" bIns="0" rtlCol="0" anchor="ctr"/>
          <a:lstStyle/>
          <a:p>
            <a:pPr indent="0" marL="0">
              <a:buNone/>
            </a:pPr>
            <a:r>
              <a:rPr lang="en-US" sz="1150" dirty="0">
                <a:solidFill>
                  <a:srgbClr val="8E9AAE"/>
                </a:solidFill>
                <a:latin typeface="Meiryo" pitchFamily="34" charset="0"/>
                <a:ea typeface="Meiryo" pitchFamily="34" charset="-122"/>
                <a:cs typeface="Meiryo" pitchFamily="34" charset="-120"/>
              </a:rPr>
              <a:t>謝辞：撮影にご協力いただいた診療放射線技師の皆様に深謝いたします。</a:t>
            </a:r>
            <a:endParaRPr lang="en-US" sz="1150" dirty="0"/>
          </a:p>
        </p:txBody>
      </p:sp>
      <p:sp>
        <p:nvSpPr>
          <p:cNvPr id="20" name="Shape 18"/>
          <p:cNvSpPr/>
          <p:nvPr/>
        </p:nvSpPr>
        <p:spPr>
          <a:xfrm>
            <a:off x="640080" y="6035040"/>
            <a:ext cx="5120640" cy="365760"/>
          </a:xfrm>
          <a:prstGeom prst="roundRect">
            <a:avLst>
              <a:gd name="adj" fmla="val 50000"/>
            </a:avLst>
          </a:prstGeom>
          <a:solidFill>
            <a:srgbClr val="3A2A12"/>
          </a:solidFill>
          <a:ln w="12700">
            <a:solidFill>
              <a:srgbClr val="C2700F"/>
            </a:solidFill>
            <a:prstDash val="solid"/>
          </a:ln>
        </p:spPr>
      </p:sp>
      <p:sp>
        <p:nvSpPr>
          <p:cNvPr id="21" name="Text 19"/>
          <p:cNvSpPr txBox="1"/>
          <p:nvPr/>
        </p:nvSpPr>
        <p:spPr>
          <a:xfrm>
            <a:off x="640080" y="6035040"/>
            <a:ext cx="5120640" cy="365760"/>
          </a:xfrm>
          <a:prstGeom prst="rect">
            <a:avLst/>
          </a:prstGeom>
          <a:noFill/>
          <a:ln/>
        </p:spPr>
        <p:txBody>
          <a:bodyPr wrap="square" lIns="0" tIns="0" rIns="0" bIns="0" rtlCol="0" anchor="ctr"/>
          <a:lstStyle/>
          <a:p>
            <a:pPr algn="ctr" indent="0" marL="0">
              <a:buNone/>
            </a:pPr>
            <a:r>
              <a:rPr lang="en-US" sz="1050" b="1" dirty="0">
                <a:solidFill>
                  <a:srgbClr val="F0B860"/>
                </a:solidFill>
                <a:latin typeface="Meiryo" pitchFamily="34" charset="0"/>
                <a:ea typeface="Meiryo" pitchFamily="34" charset="-122"/>
                <a:cs typeface="Meiryo" pitchFamily="34" charset="-120"/>
              </a:rPr>
              <a:t>本スライドの数値・グラフ・画像はすべてダミーです</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マグネットネイル装着者のMRI検査</dc:title>
  <dc:subject>PptxGenJS Presentation</dc:subject>
  <dc:creator/>
  <cp:lastModifiedBy/>
  <cp:revision>1</cp:revision>
  <dcterms:created xsi:type="dcterms:W3CDTF">2026-09-16T03:57:56Z</dcterms:created>
  <dcterms:modified xsi:type="dcterms:W3CDTF">2026-09-16T03:57:56Z</dcterms:modified>
</cp:coreProperties>
</file>